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Oranienbaum" panose="020B0604020202020204" charset="0"/>
      <p:regular r:id="rId28"/>
    </p:embeddedFont>
    <p:embeddedFont>
      <p:font typeface="Jersey 15" panose="020B0604020202020204" charset="0"/>
      <p:regular r:id="rId29"/>
    </p:embeddedFont>
    <p:embeddedFont>
      <p:font typeface="Liter" panose="020B0604020202020204" charset="0"/>
      <p:regular r:id="rId30"/>
    </p:embeddedFont>
    <p:embeddedFont>
      <p:font typeface="微软雅黑" panose="020B0503020204020204" pitchFamily="34" charset="-122"/>
      <p:regular r:id="rId31"/>
      <p:bold r:id="rId3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858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scoffier.edu/18a34206b48723dcb29d3b9be877251173d13b64.jpe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2C5282">
                  <a:alpha val="80000"/>
                </a:srgbClr>
              </a:gs>
              <a:gs pos="100000">
                <a:srgbClr val="1A202C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3179" y="739140"/>
            <a:ext cx="4503420" cy="388620"/>
          </a:xfrm>
          <a:custGeom>
            <a:avLst/>
            <a:gdLst/>
            <a:ahLst/>
            <a:cxnLst/>
            <a:rect l="l" t="t" r="r" b="b"/>
            <a:pathLst>
              <a:path w="4503420" h="388620">
                <a:moveTo>
                  <a:pt x="38100" y="0"/>
                </a:moveTo>
                <a:lnTo>
                  <a:pt x="4465320" y="0"/>
                </a:lnTo>
                <a:cubicBezTo>
                  <a:pt x="4486362" y="0"/>
                  <a:pt x="4503420" y="17058"/>
                  <a:pt x="4503420" y="38100"/>
                </a:cubicBezTo>
                <a:lnTo>
                  <a:pt x="4503420" y="350520"/>
                </a:lnTo>
                <a:cubicBezTo>
                  <a:pt x="4503420" y="371562"/>
                  <a:pt x="4486362" y="388620"/>
                  <a:pt x="446532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>
              <a:alpha val="20000"/>
            </a:srgbClr>
          </a:solidFill>
          <a:ln w="10160">
            <a:solidFill>
              <a:srgbClr val="C6A8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99389" y="8191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12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EXPOSÉ D'INITIATION AUX BASES DE DONNÉES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48155" y="1436370"/>
            <a:ext cx="8696325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Conception d'une Base de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Données pour la Gestion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d'une Cuisine Professionnelle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23672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" name="Text 5"/>
          <p:cNvSpPr/>
          <p:nvPr/>
        </p:nvSpPr>
        <p:spPr>
          <a:xfrm>
            <a:off x="3097371" y="4579620"/>
            <a:ext cx="6000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de la méthode Merise, de l'algèbre relationnelle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de la normalisation des données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753100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EXPOSANTS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019800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SAKAM KAMGANG • SAMIRA AOUDOU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48400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NEGUIM MAXIM • MINYEMMECK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19043" y="567690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EXAMINATEUR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19043" y="594360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 smtClean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MONSIEUR MEMBOU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28568" y="628650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IAI-Cameroun • 2025-2026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DE LA PRÉSENTATION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Sommaire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38300"/>
            <a:ext cx="5543550" cy="1028700"/>
          </a:xfrm>
          <a:custGeom>
            <a:avLst/>
            <a:gdLst/>
            <a:ahLst/>
            <a:cxnLst/>
            <a:rect l="l" t="t" r="r" b="b"/>
            <a:pathLst>
              <a:path w="5543550" h="102870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952504"/>
                </a:lnTo>
                <a:cubicBezTo>
                  <a:pt x="5543550" y="994586"/>
                  <a:pt x="5509436" y="1028700"/>
                  <a:pt x="546735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924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523875" y="19240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7907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Introduction et Contexte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0955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de la transformation numérique, motivation et objectifs du projet de base de données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638300"/>
            <a:ext cx="5543550" cy="1028700"/>
          </a:xfrm>
          <a:custGeom>
            <a:avLst/>
            <a:gdLst/>
            <a:ahLst/>
            <a:cxnLst/>
            <a:rect l="l" t="t" r="r" b="b"/>
            <a:pathLst>
              <a:path w="5543550" h="102870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952504"/>
                </a:lnTo>
                <a:cubicBezTo>
                  <a:pt x="5543550" y="994586"/>
                  <a:pt x="5509436" y="1028700"/>
                  <a:pt x="546735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7450" y="16383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38900" y="1924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275" y="19240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0" y="17907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Analyse du Besoin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8500" y="20955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Acteurs du système, entités métier, besoins fonctionnels et règles de gestion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819400"/>
            <a:ext cx="5543550" cy="1028700"/>
          </a:xfrm>
          <a:custGeom>
            <a:avLst/>
            <a:gdLst/>
            <a:ahLst/>
            <a:cxnLst/>
            <a:rect l="l" t="t" r="r" b="b"/>
            <a:pathLst>
              <a:path w="5543550" h="102870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952504"/>
                </a:lnTo>
                <a:cubicBezTo>
                  <a:pt x="5543550" y="994586"/>
                  <a:pt x="5509436" y="1028700"/>
                  <a:pt x="546735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28194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310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0" name="Text 18"/>
          <p:cNvSpPr/>
          <p:nvPr/>
        </p:nvSpPr>
        <p:spPr>
          <a:xfrm>
            <a:off x="523875" y="31051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29718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Dictionnaire des Données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1100" y="32766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 exhaustive des entités, attributs et associations du système d'information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2819400"/>
            <a:ext cx="5543550" cy="1028700"/>
          </a:xfrm>
          <a:custGeom>
            <a:avLst/>
            <a:gdLst/>
            <a:ahLst/>
            <a:cxnLst/>
            <a:rect l="l" t="t" r="r" b="b"/>
            <a:pathLst>
              <a:path w="5543550" h="102870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952504"/>
                </a:lnTo>
                <a:cubicBezTo>
                  <a:pt x="5543550" y="994586"/>
                  <a:pt x="5509436" y="1028700"/>
                  <a:pt x="546735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7450" y="28194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8900" y="3105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6" name="Text 24"/>
          <p:cNvSpPr/>
          <p:nvPr/>
        </p:nvSpPr>
        <p:spPr>
          <a:xfrm>
            <a:off x="6391275" y="31051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8500" y="29718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Modélisation Conceptuelle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8500" y="32766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Matrices de dépendances fonctionnelles et Modèle Conceptuel de Données (MCD)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000500"/>
            <a:ext cx="5543550" cy="1028700"/>
          </a:xfrm>
          <a:custGeom>
            <a:avLst/>
            <a:gdLst/>
            <a:ahLst/>
            <a:cxnLst/>
            <a:rect l="l" t="t" r="r" b="b"/>
            <a:pathLst>
              <a:path w="5543550" h="102870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952504"/>
                </a:lnTo>
                <a:cubicBezTo>
                  <a:pt x="5543550" y="994586"/>
                  <a:pt x="5509436" y="1028700"/>
                  <a:pt x="546735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0050" y="40005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" y="4181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2" name="Text 30"/>
          <p:cNvSpPr/>
          <p:nvPr/>
        </p:nvSpPr>
        <p:spPr>
          <a:xfrm>
            <a:off x="523875" y="41814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1100" y="41529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Modèle Logique et Normalisation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1100" y="4457700"/>
            <a:ext cx="4686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Passage au MLD, processus de normalisation 1FN, 2FN, 3FN et BCNF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7450" y="4000500"/>
            <a:ext cx="5543550" cy="1028700"/>
          </a:xfrm>
          <a:custGeom>
            <a:avLst/>
            <a:gdLst/>
            <a:ahLst/>
            <a:cxnLst/>
            <a:rect l="l" t="t" r="r" b="b"/>
            <a:pathLst>
              <a:path w="5543550" h="102870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952504"/>
                </a:lnTo>
                <a:cubicBezTo>
                  <a:pt x="5543550" y="994586"/>
                  <a:pt x="5509436" y="1028700"/>
                  <a:pt x="546735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7450" y="40005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7" name="Shape 35"/>
          <p:cNvSpPr/>
          <p:nvPr/>
        </p:nvSpPr>
        <p:spPr>
          <a:xfrm>
            <a:off x="6438900" y="4286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8" name="Text 36"/>
          <p:cNvSpPr/>
          <p:nvPr/>
        </p:nvSpPr>
        <p:spPr>
          <a:xfrm>
            <a:off x="6391275" y="42862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41529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Évaluation des SGBD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48500" y="44577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comparative de 7 systèmes de gestion de bases de données et choix technologique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181600"/>
            <a:ext cx="5543550" cy="1028700"/>
          </a:xfrm>
          <a:custGeom>
            <a:avLst/>
            <a:gdLst/>
            <a:ahLst/>
            <a:cxnLst/>
            <a:rect l="l" t="t" r="r" b="b"/>
            <a:pathLst>
              <a:path w="5543550" h="102870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952504"/>
                </a:lnTo>
                <a:cubicBezTo>
                  <a:pt x="5543550" y="994586"/>
                  <a:pt x="5509436" y="1028700"/>
                  <a:pt x="546735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00050" y="51816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" y="546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44" name="Text 42"/>
          <p:cNvSpPr/>
          <p:nvPr/>
        </p:nvSpPr>
        <p:spPr>
          <a:xfrm>
            <a:off x="523875" y="54673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1100" y="53340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Implémentation SQL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81100" y="56388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 requêtes SQL dans 13 catégories : sélections, jointures, agrégations, requêtes métier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67450" y="5181600"/>
            <a:ext cx="5543550" cy="1028700"/>
          </a:xfrm>
          <a:custGeom>
            <a:avLst/>
            <a:gdLst/>
            <a:ahLst/>
            <a:cxnLst/>
            <a:rect l="l" t="t" r="r" b="b"/>
            <a:pathLst>
              <a:path w="5543550" h="1028700">
                <a:moveTo>
                  <a:pt x="38100" y="0"/>
                </a:moveTo>
                <a:lnTo>
                  <a:pt x="5467354" y="0"/>
                </a:lnTo>
                <a:cubicBezTo>
                  <a:pt x="5509436" y="0"/>
                  <a:pt x="5543550" y="34114"/>
                  <a:pt x="5543550" y="76196"/>
                </a:cubicBezTo>
                <a:lnTo>
                  <a:pt x="5543550" y="952504"/>
                </a:lnTo>
                <a:cubicBezTo>
                  <a:pt x="5543550" y="994586"/>
                  <a:pt x="5509436" y="1028700"/>
                  <a:pt x="546735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67450" y="51816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9" name="Shape 47"/>
          <p:cNvSpPr/>
          <p:nvPr/>
        </p:nvSpPr>
        <p:spPr>
          <a:xfrm>
            <a:off x="6438900" y="546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0" name="Text 48"/>
          <p:cNvSpPr/>
          <p:nvPr/>
        </p:nvSpPr>
        <p:spPr>
          <a:xfrm>
            <a:off x="6391275" y="54673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48500" y="53340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48500" y="56388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Synthèse des résultats, apports méthodologiques et perspectives d'évolution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level10.com/610bef685c71148c603fbcbc354b0759d074b43c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3333" r="333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2C528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05915"/>
            <a:ext cx="1445895" cy="388620"/>
          </a:xfrm>
          <a:custGeom>
            <a:avLst/>
            <a:gdLst/>
            <a:ahLst/>
            <a:cxnLst/>
            <a:rect l="l" t="t" r="r" b="b"/>
            <a:pathLst>
              <a:path w="1445895" h="388620">
                <a:moveTo>
                  <a:pt x="38100" y="0"/>
                </a:moveTo>
                <a:lnTo>
                  <a:pt x="1407795" y="0"/>
                </a:lnTo>
                <a:cubicBezTo>
                  <a:pt x="1428837" y="0"/>
                  <a:pt x="1445895" y="17058"/>
                  <a:pt x="1445895" y="38100"/>
                </a:cubicBezTo>
                <a:lnTo>
                  <a:pt x="1445895" y="350520"/>
                </a:lnTo>
                <a:cubicBezTo>
                  <a:pt x="1445895" y="371562"/>
                  <a:pt x="1428837" y="388620"/>
                  <a:pt x="1407795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>
              <a:alpha val="20000"/>
            </a:srgbClr>
          </a:solidFill>
          <a:ln w="10160">
            <a:solidFill>
              <a:srgbClr val="C6A8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685925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CHAPITRE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694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Introduction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et Contexte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004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1294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de la transformation numérique dans la restauration,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motivations et objectifs du projet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ET MOTIVATION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Pourquoi une Base de Données pour la Cuisine 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66850"/>
            <a:ext cx="6162675" cy="2590800"/>
          </a:xfrm>
          <a:custGeom>
            <a:avLst/>
            <a:gdLst/>
            <a:ahLst/>
            <a:cxnLst/>
            <a:rect l="l" t="t" r="r" b="b"/>
            <a:pathLst>
              <a:path w="6162675" h="2590800">
                <a:moveTo>
                  <a:pt x="38100" y="0"/>
                </a:moveTo>
                <a:lnTo>
                  <a:pt x="6124575" y="0"/>
                </a:lnTo>
                <a:cubicBezTo>
                  <a:pt x="6145603" y="0"/>
                  <a:pt x="6162675" y="17072"/>
                  <a:pt x="6162675" y="38100"/>
                </a:cubicBezTo>
                <a:lnTo>
                  <a:pt x="6162675" y="2514605"/>
                </a:lnTo>
                <a:cubicBezTo>
                  <a:pt x="6162675" y="2556686"/>
                  <a:pt x="6128561" y="2590800"/>
                  <a:pt x="6086480" y="2590800"/>
                </a:cubicBezTo>
                <a:lnTo>
                  <a:pt x="76195" y="2590800"/>
                </a:lnTo>
                <a:cubicBezTo>
                  <a:pt x="34142" y="2590800"/>
                  <a:pt x="0" y="2556658"/>
                  <a:pt x="0" y="25146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66850"/>
            <a:ext cx="6162675" cy="38100"/>
          </a:xfrm>
          <a:custGeom>
            <a:avLst/>
            <a:gdLst/>
            <a:ahLst/>
            <a:cxnLst/>
            <a:rect l="l" t="t" r="r" b="b"/>
            <a:pathLst>
              <a:path w="6162675" h="38100">
                <a:moveTo>
                  <a:pt x="38100" y="0"/>
                </a:moveTo>
                <a:lnTo>
                  <a:pt x="6124575" y="0"/>
                </a:lnTo>
                <a:cubicBezTo>
                  <a:pt x="6145603" y="0"/>
                  <a:pt x="6162675" y="17072"/>
                  <a:pt x="6162675" y="38100"/>
                </a:cubicBezTo>
                <a:lnTo>
                  <a:pt x="61626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600075" y="1714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30" y="6429"/>
                </a:moveTo>
                <a:cubicBezTo>
                  <a:pt x="28173" y="2768"/>
                  <a:pt x="25092" y="0"/>
                  <a:pt x="21431" y="0"/>
                </a:cubicBezTo>
                <a:cubicBezTo>
                  <a:pt x="17770" y="0"/>
                  <a:pt x="14689" y="2768"/>
                  <a:pt x="14288" y="6385"/>
                </a:cubicBezTo>
                <a:lnTo>
                  <a:pt x="7992" y="66839"/>
                </a:lnTo>
                <a:cubicBezTo>
                  <a:pt x="7412" y="69518"/>
                  <a:pt x="7144" y="72241"/>
                  <a:pt x="7144" y="74965"/>
                </a:cubicBezTo>
                <a:cubicBezTo>
                  <a:pt x="7144" y="95458"/>
                  <a:pt x="22815" y="112291"/>
                  <a:pt x="42863" y="114121"/>
                </a:cubicBezTo>
                <a:lnTo>
                  <a:pt x="42863" y="214313"/>
                </a:lnTo>
                <a:cubicBezTo>
                  <a:pt x="42863" y="222215"/>
                  <a:pt x="49247" y="228600"/>
                  <a:pt x="57150" y="228600"/>
                </a:cubicBezTo>
                <a:cubicBezTo>
                  <a:pt x="65053" y="228600"/>
                  <a:pt x="71438" y="222215"/>
                  <a:pt x="71438" y="214313"/>
                </a:cubicBezTo>
                <a:lnTo>
                  <a:pt x="71438" y="114121"/>
                </a:lnTo>
                <a:cubicBezTo>
                  <a:pt x="91485" y="112291"/>
                  <a:pt x="107156" y="95458"/>
                  <a:pt x="107156" y="74965"/>
                </a:cubicBezTo>
                <a:cubicBezTo>
                  <a:pt x="107156" y="72241"/>
                  <a:pt x="106888" y="69518"/>
                  <a:pt x="106308" y="66839"/>
                </a:cubicBezTo>
                <a:lnTo>
                  <a:pt x="99968" y="6385"/>
                </a:lnTo>
                <a:cubicBezTo>
                  <a:pt x="99611" y="2768"/>
                  <a:pt x="96530" y="0"/>
                  <a:pt x="92869" y="0"/>
                </a:cubicBezTo>
                <a:cubicBezTo>
                  <a:pt x="89208" y="0"/>
                  <a:pt x="86127" y="2768"/>
                  <a:pt x="85770" y="6429"/>
                </a:cubicBezTo>
                <a:lnTo>
                  <a:pt x="79697" y="66928"/>
                </a:lnTo>
                <a:cubicBezTo>
                  <a:pt x="79430" y="69473"/>
                  <a:pt x="77286" y="71438"/>
                  <a:pt x="74741" y="71438"/>
                </a:cubicBezTo>
                <a:cubicBezTo>
                  <a:pt x="72152" y="71438"/>
                  <a:pt x="70009" y="69473"/>
                  <a:pt x="69741" y="66883"/>
                </a:cubicBezTo>
                <a:lnTo>
                  <a:pt x="64249" y="6519"/>
                </a:lnTo>
                <a:cubicBezTo>
                  <a:pt x="63937" y="2813"/>
                  <a:pt x="60856" y="0"/>
                  <a:pt x="57150" y="0"/>
                </a:cubicBezTo>
                <a:cubicBezTo>
                  <a:pt x="53444" y="0"/>
                  <a:pt x="50363" y="2813"/>
                  <a:pt x="50051" y="6519"/>
                </a:cubicBezTo>
                <a:lnTo>
                  <a:pt x="44559" y="66883"/>
                </a:lnTo>
                <a:cubicBezTo>
                  <a:pt x="44336" y="69473"/>
                  <a:pt x="42148" y="71438"/>
                  <a:pt x="39559" y="71438"/>
                </a:cubicBezTo>
                <a:cubicBezTo>
                  <a:pt x="36969" y="71438"/>
                  <a:pt x="34826" y="69473"/>
                  <a:pt x="34603" y="66928"/>
                </a:cubicBezTo>
                <a:lnTo>
                  <a:pt x="28530" y="6429"/>
                </a:lnTo>
                <a:close/>
                <a:moveTo>
                  <a:pt x="200025" y="0"/>
                </a:moveTo>
                <a:cubicBezTo>
                  <a:pt x="192881" y="0"/>
                  <a:pt x="142875" y="14288"/>
                  <a:pt x="142875" y="78581"/>
                </a:cubicBezTo>
                <a:lnTo>
                  <a:pt x="142875" y="128588"/>
                </a:lnTo>
                <a:cubicBezTo>
                  <a:pt x="142875" y="144348"/>
                  <a:pt x="155689" y="157163"/>
                  <a:pt x="171450" y="157163"/>
                </a:cubicBezTo>
                <a:lnTo>
                  <a:pt x="185738" y="157163"/>
                </a:lnTo>
                <a:lnTo>
                  <a:pt x="185738" y="214313"/>
                </a:lnTo>
                <a:cubicBezTo>
                  <a:pt x="185738" y="222215"/>
                  <a:pt x="192122" y="228600"/>
                  <a:pt x="200025" y="228600"/>
                </a:cubicBezTo>
                <a:cubicBezTo>
                  <a:pt x="207928" y="228600"/>
                  <a:pt x="214313" y="222215"/>
                  <a:pt x="214313" y="214313"/>
                </a:cubicBezTo>
                <a:lnTo>
                  <a:pt x="214313" y="14288"/>
                </a:lnTo>
                <a:cubicBezTo>
                  <a:pt x="214313" y="6385"/>
                  <a:pt x="207928" y="0"/>
                  <a:pt x="200025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" y="1676400"/>
            <a:ext cx="2933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 Défi de la Restauration Moderne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57400"/>
            <a:ext cx="58578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 cuisine professionnelle gère quotidiennement un </a:t>
            </a: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 considérable d'informations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ingrédients, recettes, menus, stocks, fournisseurs, chefs. La gestion manuelle s'avère inefficace et source d'erreurs.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914650"/>
            <a:ext cx="2828925" cy="419100"/>
          </a:xfrm>
          <a:custGeom>
            <a:avLst/>
            <a:gdLst/>
            <a:ahLst/>
            <a:cxnLst/>
            <a:rect l="l" t="t" r="r" b="b"/>
            <a:pathLst>
              <a:path w="2828925" h="419100">
                <a:moveTo>
                  <a:pt x="38100" y="0"/>
                </a:moveTo>
                <a:lnTo>
                  <a:pt x="2790825" y="0"/>
                </a:lnTo>
                <a:cubicBezTo>
                  <a:pt x="2811867" y="0"/>
                  <a:pt x="2828925" y="17058"/>
                  <a:pt x="2828925" y="38100"/>
                </a:cubicBezTo>
                <a:lnTo>
                  <a:pt x="2828925" y="381000"/>
                </a:lnTo>
                <a:cubicBezTo>
                  <a:pt x="2828925" y="402042"/>
                  <a:pt x="2811867" y="419100"/>
                  <a:pt x="279082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0480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34868" y="-10924"/>
                </a:moveTo>
                <a:lnTo>
                  <a:pt x="131237" y="-7322"/>
                </a:lnTo>
                <a:cubicBezTo>
                  <a:pt x="121950" y="1965"/>
                  <a:pt x="121950" y="17056"/>
                  <a:pt x="131237" y="26343"/>
                </a:cubicBezTo>
                <a:cubicBezTo>
                  <a:pt x="135880" y="30986"/>
                  <a:pt x="140524" y="35629"/>
                  <a:pt x="145197" y="40303"/>
                </a:cubicBezTo>
                <a:cubicBezTo>
                  <a:pt x="154484" y="49590"/>
                  <a:pt x="169575" y="49590"/>
                  <a:pt x="178862" y="40303"/>
                </a:cubicBezTo>
                <a:lnTo>
                  <a:pt x="182463" y="36701"/>
                </a:lnTo>
                <a:cubicBezTo>
                  <a:pt x="184309" y="34856"/>
                  <a:pt x="184309" y="31819"/>
                  <a:pt x="182463" y="29974"/>
                </a:cubicBezTo>
                <a:lnTo>
                  <a:pt x="178862" y="26372"/>
                </a:lnTo>
                <a:cubicBezTo>
                  <a:pt x="169575" y="17085"/>
                  <a:pt x="154484" y="17085"/>
                  <a:pt x="145197" y="26372"/>
                </a:cubicBezTo>
                <a:cubicBezTo>
                  <a:pt x="154484" y="17085"/>
                  <a:pt x="154484" y="1994"/>
                  <a:pt x="145197" y="-7293"/>
                </a:cubicBezTo>
                <a:lnTo>
                  <a:pt x="141595" y="-10924"/>
                </a:lnTo>
                <a:cubicBezTo>
                  <a:pt x="139750" y="-12769"/>
                  <a:pt x="136714" y="-12769"/>
                  <a:pt x="134868" y="-10924"/>
                </a:cubicBezTo>
                <a:close/>
                <a:moveTo>
                  <a:pt x="98703" y="28575"/>
                </a:moveTo>
                <a:cubicBezTo>
                  <a:pt x="85249" y="28575"/>
                  <a:pt x="72777" y="34647"/>
                  <a:pt x="64472" y="44738"/>
                </a:cubicBezTo>
                <a:lnTo>
                  <a:pt x="81349" y="61615"/>
                </a:lnTo>
                <a:cubicBezTo>
                  <a:pt x="84147" y="64413"/>
                  <a:pt x="84147" y="68937"/>
                  <a:pt x="81349" y="71705"/>
                </a:cubicBezTo>
                <a:cubicBezTo>
                  <a:pt x="78551" y="74474"/>
                  <a:pt x="74027" y="74503"/>
                  <a:pt x="71259" y="71705"/>
                </a:cubicBezTo>
                <a:lnTo>
                  <a:pt x="57031" y="57507"/>
                </a:lnTo>
                <a:lnTo>
                  <a:pt x="20003" y="138946"/>
                </a:lnTo>
                <a:cubicBezTo>
                  <a:pt x="18365" y="142548"/>
                  <a:pt x="19139" y="146804"/>
                  <a:pt x="21937" y="149632"/>
                </a:cubicBezTo>
                <a:cubicBezTo>
                  <a:pt x="24735" y="152460"/>
                  <a:pt x="28992" y="153204"/>
                  <a:pt x="32623" y="151567"/>
                </a:cubicBezTo>
                <a:lnTo>
                  <a:pt x="74771" y="132398"/>
                </a:lnTo>
                <a:lnTo>
                  <a:pt x="61734" y="119360"/>
                </a:lnTo>
                <a:cubicBezTo>
                  <a:pt x="58936" y="116562"/>
                  <a:pt x="58936" y="112038"/>
                  <a:pt x="61734" y="109270"/>
                </a:cubicBezTo>
                <a:cubicBezTo>
                  <a:pt x="64532" y="106501"/>
                  <a:pt x="69056" y="106472"/>
                  <a:pt x="71824" y="109270"/>
                </a:cubicBezTo>
                <a:lnTo>
                  <a:pt x="88642" y="126087"/>
                </a:lnTo>
                <a:lnTo>
                  <a:pt x="117009" y="113199"/>
                </a:lnTo>
                <a:cubicBezTo>
                  <a:pt x="132814" y="106025"/>
                  <a:pt x="142964" y="90249"/>
                  <a:pt x="142964" y="72866"/>
                </a:cubicBezTo>
                <a:cubicBezTo>
                  <a:pt x="142964" y="48399"/>
                  <a:pt x="123140" y="28575"/>
                  <a:pt x="98673" y="2857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3028950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Ingrédients</a:t>
            </a: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avec caractéristiques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18535" y="2914650"/>
            <a:ext cx="2828925" cy="419100"/>
          </a:xfrm>
          <a:custGeom>
            <a:avLst/>
            <a:gdLst/>
            <a:ahLst/>
            <a:cxnLst/>
            <a:rect l="l" t="t" r="r" b="b"/>
            <a:pathLst>
              <a:path w="2828925" h="419100">
                <a:moveTo>
                  <a:pt x="38100" y="0"/>
                </a:moveTo>
                <a:lnTo>
                  <a:pt x="2790825" y="0"/>
                </a:lnTo>
                <a:cubicBezTo>
                  <a:pt x="2811867" y="0"/>
                  <a:pt x="2828925" y="17058"/>
                  <a:pt x="2828925" y="38100"/>
                </a:cubicBezTo>
                <a:lnTo>
                  <a:pt x="2828925" y="381000"/>
                </a:lnTo>
                <a:cubicBezTo>
                  <a:pt x="2828925" y="402042"/>
                  <a:pt x="2811867" y="419100"/>
                  <a:pt x="279082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1885" y="3048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42059"/>
                </a:moveTo>
                <a:lnTo>
                  <a:pt x="76200" y="134124"/>
                </a:lnTo>
                <a:lnTo>
                  <a:pt x="76349" y="134064"/>
                </a:lnTo>
                <a:cubicBezTo>
                  <a:pt x="92601" y="127308"/>
                  <a:pt x="110044" y="123825"/>
                  <a:pt x="127635" y="123825"/>
                </a:cubicBezTo>
                <a:lnTo>
                  <a:pt x="133350" y="123825"/>
                </a:lnTo>
                <a:lnTo>
                  <a:pt x="133350" y="28575"/>
                </a:lnTo>
                <a:lnTo>
                  <a:pt x="127635" y="28575"/>
                </a:lnTo>
                <a:cubicBezTo>
                  <a:pt x="115074" y="28575"/>
                  <a:pt x="102602" y="31075"/>
                  <a:pt x="90994" y="35897"/>
                </a:cubicBezTo>
                <a:cubicBezTo>
                  <a:pt x="85993" y="37981"/>
                  <a:pt x="81052" y="40035"/>
                  <a:pt x="76200" y="42059"/>
                </a:cubicBezTo>
                <a:close/>
                <a:moveTo>
                  <a:pt x="68729" y="18306"/>
                </a:moveTo>
                <a:lnTo>
                  <a:pt x="76200" y="21431"/>
                </a:lnTo>
                <a:lnTo>
                  <a:pt x="83671" y="18306"/>
                </a:lnTo>
                <a:cubicBezTo>
                  <a:pt x="97601" y="12502"/>
                  <a:pt x="112544" y="9525"/>
                  <a:pt x="127635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128588"/>
                </a:lnTo>
                <a:cubicBezTo>
                  <a:pt x="152400" y="136475"/>
                  <a:pt x="146000" y="142875"/>
                  <a:pt x="138113" y="142875"/>
                </a:cubicBezTo>
                <a:lnTo>
                  <a:pt x="127635" y="142875"/>
                </a:lnTo>
                <a:cubicBezTo>
                  <a:pt x="112544" y="142875"/>
                  <a:pt x="97601" y="145852"/>
                  <a:pt x="83671" y="151656"/>
                </a:cubicBezTo>
                <a:lnTo>
                  <a:pt x="79861" y="153233"/>
                </a:lnTo>
                <a:cubicBezTo>
                  <a:pt x="77510" y="154216"/>
                  <a:pt x="74890" y="154216"/>
                  <a:pt x="72539" y="153233"/>
                </a:cubicBezTo>
                <a:lnTo>
                  <a:pt x="68729" y="151656"/>
                </a:lnTo>
                <a:cubicBezTo>
                  <a:pt x="54799" y="145852"/>
                  <a:pt x="39856" y="142875"/>
                  <a:pt x="24765" y="142875"/>
                </a:cubicBezTo>
                <a:lnTo>
                  <a:pt x="14288" y="142875"/>
                </a:lnTo>
                <a:cubicBezTo>
                  <a:pt x="6400" y="142875"/>
                  <a:pt x="0" y="136475"/>
                  <a:pt x="0" y="128588"/>
                </a:cubicBezTo>
                <a:lnTo>
                  <a:pt x="0" y="23813"/>
                </a:lnTo>
                <a:cubicBezTo>
                  <a:pt x="0" y="15925"/>
                  <a:pt x="6400" y="9525"/>
                  <a:pt x="14288" y="9525"/>
                </a:cubicBezTo>
                <a:lnTo>
                  <a:pt x="24765" y="9525"/>
                </a:lnTo>
                <a:cubicBezTo>
                  <a:pt x="39856" y="9525"/>
                  <a:pt x="54799" y="12502"/>
                  <a:pt x="68729" y="18306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5" name="Text 13"/>
          <p:cNvSpPr/>
          <p:nvPr/>
        </p:nvSpPr>
        <p:spPr>
          <a:xfrm>
            <a:off x="3899535" y="302895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Recettes</a:t>
            </a: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fiches techniques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3448050"/>
            <a:ext cx="2828925" cy="419100"/>
          </a:xfrm>
          <a:custGeom>
            <a:avLst/>
            <a:gdLst/>
            <a:ahLst/>
            <a:cxnLst/>
            <a:rect l="l" t="t" r="r" b="b"/>
            <a:pathLst>
              <a:path w="2828925" h="419100">
                <a:moveTo>
                  <a:pt x="38100" y="0"/>
                </a:moveTo>
                <a:lnTo>
                  <a:pt x="2790825" y="0"/>
                </a:lnTo>
                <a:cubicBezTo>
                  <a:pt x="2811867" y="0"/>
                  <a:pt x="2828925" y="17058"/>
                  <a:pt x="2828925" y="38100"/>
                </a:cubicBezTo>
                <a:lnTo>
                  <a:pt x="2828925" y="381000"/>
                </a:lnTo>
                <a:cubicBezTo>
                  <a:pt x="2828925" y="402042"/>
                  <a:pt x="2811867" y="419100"/>
                  <a:pt x="279082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23900" y="3581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38100" y="76200"/>
                </a:move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ubicBezTo>
                  <a:pt x="33832" y="85725"/>
                  <a:pt x="38100" y="81457"/>
                  <a:pt x="38100" y="76200"/>
                </a:cubicBezTo>
                <a:close/>
                <a:moveTo>
                  <a:pt x="47625" y="76200"/>
                </a:moveTo>
                <a:cubicBezTo>
                  <a:pt x="47625" y="80159"/>
                  <a:pt x="50810" y="83344"/>
                  <a:pt x="54769" y="83344"/>
                </a:cubicBezTo>
                <a:lnTo>
                  <a:pt x="88106" y="83344"/>
                </a:lnTo>
                <a:cubicBezTo>
                  <a:pt x="92065" y="83344"/>
                  <a:pt x="95250" y="80159"/>
                  <a:pt x="95250" y="76200"/>
                </a:cubicBezTo>
                <a:cubicBezTo>
                  <a:pt x="95250" y="72241"/>
                  <a:pt x="92065" y="69056"/>
                  <a:pt x="88106" y="69056"/>
                </a:cubicBezTo>
                <a:lnTo>
                  <a:pt x="54769" y="69056"/>
                </a:lnTo>
                <a:cubicBezTo>
                  <a:pt x="50810" y="69056"/>
                  <a:pt x="47625" y="72241"/>
                  <a:pt x="47625" y="76200"/>
                </a:cubicBezTo>
                <a:close/>
                <a:moveTo>
                  <a:pt x="47625" y="114300"/>
                </a:moveTo>
                <a:cubicBezTo>
                  <a:pt x="47625" y="118259"/>
                  <a:pt x="50810" y="121444"/>
                  <a:pt x="54769" y="121444"/>
                </a:cubicBezTo>
                <a:lnTo>
                  <a:pt x="88106" y="121444"/>
                </a:lnTo>
                <a:cubicBezTo>
                  <a:pt x="92065" y="121444"/>
                  <a:pt x="95250" y="118259"/>
                  <a:pt x="95250" y="114300"/>
                </a:cubicBezTo>
                <a:cubicBezTo>
                  <a:pt x="95250" y="110341"/>
                  <a:pt x="92065" y="107156"/>
                  <a:pt x="88106" y="107156"/>
                </a:cubicBezTo>
                <a:lnTo>
                  <a:pt x="54769" y="107156"/>
                </a:lnTo>
                <a:cubicBezTo>
                  <a:pt x="50810" y="107156"/>
                  <a:pt x="47625" y="110341"/>
                  <a:pt x="47625" y="114300"/>
                </a:cubicBezTo>
                <a:close/>
                <a:moveTo>
                  <a:pt x="28575" y="123825"/>
                </a:moveTo>
                <a:cubicBezTo>
                  <a:pt x="33832" y="123825"/>
                  <a:pt x="38100" y="119557"/>
                  <a:pt x="38100" y="114300"/>
                </a:cubicBezTo>
                <a:cubicBezTo>
                  <a:pt x="38100" y="109043"/>
                  <a:pt x="33832" y="104775"/>
                  <a:pt x="28575" y="104775"/>
                </a:cubicBezTo>
                <a:cubicBezTo>
                  <a:pt x="23318" y="104775"/>
                  <a:pt x="19050" y="109043"/>
                  <a:pt x="19050" y="114300"/>
                </a:cubicBezTo>
                <a:cubicBezTo>
                  <a:pt x="19050" y="119557"/>
                  <a:pt x="23318" y="123825"/>
                  <a:pt x="28575" y="12382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356235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Menus</a:t>
            </a: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planification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18535" y="3448050"/>
            <a:ext cx="2828925" cy="419100"/>
          </a:xfrm>
          <a:custGeom>
            <a:avLst/>
            <a:gdLst/>
            <a:ahLst/>
            <a:cxnLst/>
            <a:rect l="l" t="t" r="r" b="b"/>
            <a:pathLst>
              <a:path w="2828925" h="419100">
                <a:moveTo>
                  <a:pt x="38100" y="0"/>
                </a:moveTo>
                <a:lnTo>
                  <a:pt x="2790825" y="0"/>
                </a:lnTo>
                <a:cubicBezTo>
                  <a:pt x="2811867" y="0"/>
                  <a:pt x="2828925" y="17058"/>
                  <a:pt x="2828925" y="38100"/>
                </a:cubicBezTo>
                <a:lnTo>
                  <a:pt x="2828925" y="381000"/>
                </a:lnTo>
                <a:cubicBezTo>
                  <a:pt x="2828925" y="402042"/>
                  <a:pt x="2811867" y="419100"/>
                  <a:pt x="279082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1885" y="3581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9050"/>
                </a:lnTo>
                <a:cubicBezTo>
                  <a:pt x="66675" y="21669"/>
                  <a:pt x="68818" y="23813"/>
                  <a:pt x="71438" y="23813"/>
                </a:cubicBezTo>
                <a:lnTo>
                  <a:pt x="80962" y="23813"/>
                </a:lnTo>
                <a:cubicBezTo>
                  <a:pt x="83582" y="23813"/>
                  <a:pt x="85725" y="21669"/>
                  <a:pt x="85725" y="19050"/>
                </a:cubicBezTo>
                <a:lnTo>
                  <a:pt x="85725" y="0"/>
                </a:lnTo>
                <a:lnTo>
                  <a:pt x="95250" y="0"/>
                </a:lnTo>
                <a:cubicBezTo>
                  <a:pt x="105757" y="0"/>
                  <a:pt x="114300" y="8543"/>
                  <a:pt x="114300" y="19050"/>
                </a:cubicBezTo>
                <a:lnTo>
                  <a:pt x="114300" y="57150"/>
                </a:lnTo>
                <a:cubicBezTo>
                  <a:pt x="114300" y="58787"/>
                  <a:pt x="114092" y="60394"/>
                  <a:pt x="113705" y="61912"/>
                </a:cubicBezTo>
                <a:lnTo>
                  <a:pt x="38695" y="61912"/>
                </a:lnTo>
                <a:cubicBezTo>
                  <a:pt x="38308" y="60394"/>
                  <a:pt x="38100" y="58787"/>
                  <a:pt x="38100" y="57150"/>
                </a:cubicBezTo>
                <a:lnTo>
                  <a:pt x="38100" y="19050"/>
                </a:lnTo>
                <a:cubicBezTo>
                  <a:pt x="38100" y="8543"/>
                  <a:pt x="46643" y="0"/>
                  <a:pt x="57150" y="0"/>
                </a:cubicBezTo>
                <a:lnTo>
                  <a:pt x="66675" y="0"/>
                </a:lnTo>
                <a:close/>
                <a:moveTo>
                  <a:pt x="95250" y="152400"/>
                </a:moveTo>
                <a:cubicBezTo>
                  <a:pt x="91916" y="152400"/>
                  <a:pt x="88761" y="151537"/>
                  <a:pt x="86023" y="150019"/>
                </a:cubicBezTo>
                <a:cubicBezTo>
                  <a:pt x="88850" y="145107"/>
                  <a:pt x="90488" y="139422"/>
                  <a:pt x="90488" y="133350"/>
                </a:cubicBezTo>
                <a:lnTo>
                  <a:pt x="90488" y="95250"/>
                </a:lnTo>
                <a:cubicBezTo>
                  <a:pt x="90488" y="89178"/>
                  <a:pt x="88850" y="83493"/>
                  <a:pt x="86023" y="78581"/>
                </a:cubicBezTo>
                <a:cubicBezTo>
                  <a:pt x="88761" y="77063"/>
                  <a:pt x="91886" y="76200"/>
                  <a:pt x="95250" y="76200"/>
                </a:cubicBezTo>
                <a:lnTo>
                  <a:pt x="104775" y="76200"/>
                </a:lnTo>
                <a:lnTo>
                  <a:pt x="104775" y="95250"/>
                </a:lnTo>
                <a:cubicBezTo>
                  <a:pt x="104775" y="97869"/>
                  <a:pt x="106918" y="100013"/>
                  <a:pt x="109537" y="100013"/>
                </a:cubicBezTo>
                <a:lnTo>
                  <a:pt x="119062" y="100013"/>
                </a:lnTo>
                <a:cubicBezTo>
                  <a:pt x="121682" y="100013"/>
                  <a:pt x="123825" y="97869"/>
                  <a:pt x="123825" y="95250"/>
                </a:cubicBezTo>
                <a:lnTo>
                  <a:pt x="123825" y="76200"/>
                </a:lnTo>
                <a:lnTo>
                  <a:pt x="133350" y="76200"/>
                </a:lnTo>
                <a:cubicBezTo>
                  <a:pt x="143857" y="76200"/>
                  <a:pt x="152400" y="84743"/>
                  <a:pt x="152400" y="95250"/>
                </a:cubicBezTo>
                <a:lnTo>
                  <a:pt x="152400" y="133350"/>
                </a:lnTo>
                <a:cubicBezTo>
                  <a:pt x="152400" y="143857"/>
                  <a:pt x="143857" y="152400"/>
                  <a:pt x="133350" y="152400"/>
                </a:cubicBezTo>
                <a:lnTo>
                  <a:pt x="95250" y="152400"/>
                </a:lnTo>
                <a:close/>
                <a:moveTo>
                  <a:pt x="0" y="95250"/>
                </a:moveTo>
                <a:cubicBezTo>
                  <a:pt x="0" y="84743"/>
                  <a:pt x="8543" y="76200"/>
                  <a:pt x="19050" y="76200"/>
                </a:cubicBezTo>
                <a:lnTo>
                  <a:pt x="28575" y="76200"/>
                </a:lnTo>
                <a:lnTo>
                  <a:pt x="28575" y="95250"/>
                </a:lnTo>
                <a:cubicBezTo>
                  <a:pt x="28575" y="97869"/>
                  <a:pt x="30718" y="100013"/>
                  <a:pt x="33338" y="100013"/>
                </a:cubicBezTo>
                <a:lnTo>
                  <a:pt x="42863" y="100013"/>
                </a:lnTo>
                <a:cubicBezTo>
                  <a:pt x="45482" y="100013"/>
                  <a:pt x="47625" y="97869"/>
                  <a:pt x="47625" y="95250"/>
                </a:cubicBezTo>
                <a:lnTo>
                  <a:pt x="47625" y="76200"/>
                </a:lnTo>
                <a:lnTo>
                  <a:pt x="57150" y="76200"/>
                </a:lnTo>
                <a:cubicBezTo>
                  <a:pt x="67657" y="76200"/>
                  <a:pt x="76200" y="84743"/>
                  <a:pt x="76200" y="95250"/>
                </a:cubicBezTo>
                <a:lnTo>
                  <a:pt x="76200" y="133350"/>
                </a:lnTo>
                <a:cubicBezTo>
                  <a:pt x="76200" y="143857"/>
                  <a:pt x="67657" y="152400"/>
                  <a:pt x="571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1" name="Text 19"/>
          <p:cNvSpPr/>
          <p:nvPr/>
        </p:nvSpPr>
        <p:spPr>
          <a:xfrm>
            <a:off x="3899535" y="356235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Stocks</a:t>
            </a: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traçabilité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4210050"/>
            <a:ext cx="6162675" cy="2095500"/>
          </a:xfrm>
          <a:custGeom>
            <a:avLst/>
            <a:gdLst/>
            <a:ahLst/>
            <a:cxnLst/>
            <a:rect l="l" t="t" r="r" b="b"/>
            <a:pathLst>
              <a:path w="6162675" h="2095500">
                <a:moveTo>
                  <a:pt x="76192" y="0"/>
                </a:moveTo>
                <a:lnTo>
                  <a:pt x="6086483" y="0"/>
                </a:lnTo>
                <a:cubicBezTo>
                  <a:pt x="6128563" y="0"/>
                  <a:pt x="6162675" y="34112"/>
                  <a:pt x="6162675" y="76192"/>
                </a:cubicBezTo>
                <a:lnTo>
                  <a:pt x="6162675" y="2019308"/>
                </a:lnTo>
                <a:cubicBezTo>
                  <a:pt x="6162675" y="2061388"/>
                  <a:pt x="6128563" y="2095500"/>
                  <a:pt x="6086483" y="2095500"/>
                </a:cubicBezTo>
                <a:lnTo>
                  <a:pt x="76192" y="2095500"/>
                </a:lnTo>
                <a:cubicBezTo>
                  <a:pt x="34112" y="2095500"/>
                  <a:pt x="0" y="2061388"/>
                  <a:pt x="0" y="2019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3" name="Shape 21"/>
          <p:cNvSpPr/>
          <p:nvPr/>
        </p:nvSpPr>
        <p:spPr>
          <a:xfrm>
            <a:off x="614363" y="4438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" y="4400550"/>
            <a:ext cx="334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Solution : Base de Données Relationnelle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4781550"/>
            <a:ext cx="5857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Automatiser les tâches, assurer la cohérence des données et faciliter l'extraction d'informations stratégiques grâce à une </a:t>
            </a: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conception méthodologique rigoureuse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" y="5391150"/>
            <a:ext cx="1847850" cy="723900"/>
          </a:xfrm>
          <a:custGeom>
            <a:avLst/>
            <a:gdLst/>
            <a:ahLst/>
            <a:cxnLst/>
            <a:rect l="l" t="t" r="r" b="b"/>
            <a:pathLst>
              <a:path w="1847850" h="723900">
                <a:moveTo>
                  <a:pt x="38099" y="0"/>
                </a:moveTo>
                <a:lnTo>
                  <a:pt x="1809751" y="0"/>
                </a:lnTo>
                <a:cubicBezTo>
                  <a:pt x="1830778" y="0"/>
                  <a:pt x="1847850" y="17072"/>
                  <a:pt x="1847850" y="38099"/>
                </a:cubicBezTo>
                <a:lnTo>
                  <a:pt x="1847850" y="685801"/>
                </a:lnTo>
                <a:cubicBezTo>
                  <a:pt x="1847850" y="706828"/>
                  <a:pt x="1830778" y="723900"/>
                  <a:pt x="18097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8650" y="550545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2463" y="581025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Entités principales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536190" y="5391150"/>
            <a:ext cx="1847850" cy="723900"/>
          </a:xfrm>
          <a:custGeom>
            <a:avLst/>
            <a:gdLst/>
            <a:ahLst/>
            <a:cxnLst/>
            <a:rect l="l" t="t" r="r" b="b"/>
            <a:pathLst>
              <a:path w="1847850" h="723900">
                <a:moveTo>
                  <a:pt x="38099" y="0"/>
                </a:moveTo>
                <a:lnTo>
                  <a:pt x="1809751" y="0"/>
                </a:lnTo>
                <a:cubicBezTo>
                  <a:pt x="1830778" y="0"/>
                  <a:pt x="1847850" y="17072"/>
                  <a:pt x="1847850" y="38099"/>
                </a:cubicBezTo>
                <a:lnTo>
                  <a:pt x="1847850" y="685801"/>
                </a:lnTo>
                <a:cubicBezTo>
                  <a:pt x="1847850" y="706828"/>
                  <a:pt x="1830778" y="723900"/>
                  <a:pt x="18097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593340" y="550545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17152" y="581025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00880" y="5391150"/>
            <a:ext cx="1847850" cy="723900"/>
          </a:xfrm>
          <a:custGeom>
            <a:avLst/>
            <a:gdLst/>
            <a:ahLst/>
            <a:cxnLst/>
            <a:rect l="l" t="t" r="r" b="b"/>
            <a:pathLst>
              <a:path w="1847850" h="723900">
                <a:moveTo>
                  <a:pt x="38099" y="0"/>
                </a:moveTo>
                <a:lnTo>
                  <a:pt x="1809751" y="0"/>
                </a:lnTo>
                <a:cubicBezTo>
                  <a:pt x="1830778" y="0"/>
                  <a:pt x="1847850" y="17072"/>
                  <a:pt x="1847850" y="38099"/>
                </a:cubicBezTo>
                <a:lnTo>
                  <a:pt x="1847850" y="685801"/>
                </a:lnTo>
                <a:cubicBezTo>
                  <a:pt x="1847850" y="706828"/>
                  <a:pt x="1830778" y="723900"/>
                  <a:pt x="180975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58030" y="5505450"/>
            <a:ext cx="1733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81842" y="581025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Requêtes SQL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70370" y="1466850"/>
            <a:ext cx="5038725" cy="3486150"/>
          </a:xfrm>
          <a:custGeom>
            <a:avLst/>
            <a:gdLst/>
            <a:ahLst/>
            <a:cxnLst/>
            <a:rect l="l" t="t" r="r" b="b"/>
            <a:pathLst>
              <a:path w="5038725" h="3486150">
                <a:moveTo>
                  <a:pt x="38100" y="0"/>
                </a:moveTo>
                <a:lnTo>
                  <a:pt x="5000625" y="0"/>
                </a:lnTo>
                <a:cubicBezTo>
                  <a:pt x="5021653" y="0"/>
                  <a:pt x="5038725" y="17072"/>
                  <a:pt x="5038725" y="38100"/>
                </a:cubicBezTo>
                <a:lnTo>
                  <a:pt x="5038725" y="3409943"/>
                </a:lnTo>
                <a:cubicBezTo>
                  <a:pt x="5038725" y="3452031"/>
                  <a:pt x="5004606" y="3486150"/>
                  <a:pt x="4962518" y="3486150"/>
                </a:cubicBezTo>
                <a:lnTo>
                  <a:pt x="76207" y="3486150"/>
                </a:lnTo>
                <a:cubicBezTo>
                  <a:pt x="34119" y="3486150"/>
                  <a:pt x="0" y="3452031"/>
                  <a:pt x="0" y="34099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70370" y="1466850"/>
            <a:ext cx="5038725" cy="38100"/>
          </a:xfrm>
          <a:custGeom>
            <a:avLst/>
            <a:gdLst/>
            <a:ahLst/>
            <a:cxnLst/>
            <a:rect l="l" t="t" r="r" b="b"/>
            <a:pathLst>
              <a:path w="5038725" h="38100">
                <a:moveTo>
                  <a:pt x="38100" y="0"/>
                </a:moveTo>
                <a:lnTo>
                  <a:pt x="5000625" y="0"/>
                </a:lnTo>
                <a:cubicBezTo>
                  <a:pt x="5021653" y="0"/>
                  <a:pt x="5038725" y="17072"/>
                  <a:pt x="5038725" y="38100"/>
                </a:cubicBezTo>
                <a:lnTo>
                  <a:pt x="50387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7" name="Shape 35"/>
          <p:cNvSpPr/>
          <p:nvPr/>
        </p:nvSpPr>
        <p:spPr>
          <a:xfrm>
            <a:off x="6989445" y="169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8" name="Text 36"/>
          <p:cNvSpPr/>
          <p:nvPr/>
        </p:nvSpPr>
        <p:spPr>
          <a:xfrm>
            <a:off x="7360920" y="16764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Objectifs du Projet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60870" y="21145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40" name="Text 38"/>
          <p:cNvSpPr/>
          <p:nvPr/>
        </p:nvSpPr>
        <p:spPr>
          <a:xfrm>
            <a:off x="6927532" y="21145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41870" y="2095500"/>
            <a:ext cx="43529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Modéliser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les entités du domaine culinaire de manière exhaustive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60870" y="26479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43" name="Text 41"/>
          <p:cNvSpPr/>
          <p:nvPr/>
        </p:nvSpPr>
        <p:spPr>
          <a:xfrm>
            <a:off x="6927532" y="26479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41870" y="2628900"/>
            <a:ext cx="3524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Identifier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formaliser les relations entre les entités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60870" y="3048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46" name="Text 44"/>
          <p:cNvSpPr/>
          <p:nvPr/>
        </p:nvSpPr>
        <p:spPr>
          <a:xfrm>
            <a:off x="6927532" y="30480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341870" y="3028950"/>
            <a:ext cx="43529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Appliquer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 méthode Merise pour la conception conceptuelle et logique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60870" y="3581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49" name="Text 47"/>
          <p:cNvSpPr/>
          <p:nvPr/>
        </p:nvSpPr>
        <p:spPr>
          <a:xfrm>
            <a:off x="6927532" y="35814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41870" y="3562350"/>
            <a:ext cx="3857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Utiliser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l'algèbre relationnelle pour exprimer les requêtes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960870" y="39814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52" name="Text 50"/>
          <p:cNvSpPr/>
          <p:nvPr/>
        </p:nvSpPr>
        <p:spPr>
          <a:xfrm>
            <a:off x="6927532" y="39814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341870" y="3962400"/>
            <a:ext cx="4333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Normaliser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 schéma relationnel pour éliminer les redondances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60870" y="43815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55" name="Text 53"/>
          <p:cNvSpPr/>
          <p:nvPr/>
        </p:nvSpPr>
        <p:spPr>
          <a:xfrm>
            <a:off x="6927532" y="43815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341870" y="4362450"/>
            <a:ext cx="4057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Produire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 code SQL complet de création et d'interrogation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774180" y="5113019"/>
            <a:ext cx="5036820" cy="1283970"/>
          </a:xfrm>
          <a:custGeom>
            <a:avLst/>
            <a:gdLst/>
            <a:ahLst/>
            <a:cxnLst/>
            <a:rect l="l" t="t" r="r" b="b"/>
            <a:pathLst>
              <a:path w="5036820" h="1283970">
                <a:moveTo>
                  <a:pt x="76204" y="0"/>
                </a:moveTo>
                <a:lnTo>
                  <a:pt x="4960616" y="0"/>
                </a:lnTo>
                <a:cubicBezTo>
                  <a:pt x="5002702" y="0"/>
                  <a:pt x="5036820" y="34118"/>
                  <a:pt x="5036820" y="76204"/>
                </a:cubicBezTo>
                <a:lnTo>
                  <a:pt x="5036820" y="1207766"/>
                </a:lnTo>
                <a:cubicBezTo>
                  <a:pt x="5036820" y="1249852"/>
                  <a:pt x="5002702" y="1283970"/>
                  <a:pt x="4960616" y="1283970"/>
                </a:cubicBezTo>
                <a:lnTo>
                  <a:pt x="76204" y="1283970"/>
                </a:lnTo>
                <a:cubicBezTo>
                  <a:pt x="34118" y="1283970"/>
                  <a:pt x="0" y="1249852"/>
                  <a:pt x="0" y="1207766"/>
                </a:cubicBezTo>
                <a:lnTo>
                  <a:pt x="0" y="76204"/>
                </a:lnTo>
                <a:cubicBezTo>
                  <a:pt x="0" y="34118"/>
                  <a:pt x="34118" y="0"/>
                  <a:pt x="76204" y="0"/>
                </a:cubicBezTo>
                <a:close/>
              </a:path>
            </a:pathLst>
          </a:custGeom>
          <a:solidFill>
            <a:srgbClr val="C6A84E">
              <a:alpha val="10196"/>
            </a:srgbClr>
          </a:solidFill>
          <a:ln w="10160">
            <a:solidFill>
              <a:srgbClr val="C6A84E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68490" y="532638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9" name="Text 57"/>
          <p:cNvSpPr/>
          <p:nvPr/>
        </p:nvSpPr>
        <p:spPr>
          <a:xfrm>
            <a:off x="7197090" y="526923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Méthodologie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30390" y="5612130"/>
            <a:ext cx="48006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Démarche fondée sur les principes de l'</a:t>
            </a: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algèbre relationnelle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de la </a:t>
            </a: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normalisation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 données, avec application rigoureuse de la méthode </a:t>
            </a:r>
            <a:r>
              <a:rPr lang="en-US" sz="12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Merise</a:t>
            </a: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62f9eae8081bba8b73f09f0e4e447c4284b79b17.jp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2C528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05915"/>
            <a:ext cx="1474470" cy="388620"/>
          </a:xfrm>
          <a:custGeom>
            <a:avLst/>
            <a:gdLst/>
            <a:ahLst/>
            <a:cxnLst/>
            <a:rect l="l" t="t" r="r" b="b"/>
            <a:pathLst>
              <a:path w="1474470" h="388620">
                <a:moveTo>
                  <a:pt x="38100" y="0"/>
                </a:moveTo>
                <a:lnTo>
                  <a:pt x="1436370" y="0"/>
                </a:lnTo>
                <a:cubicBezTo>
                  <a:pt x="1457412" y="0"/>
                  <a:pt x="1474470" y="17058"/>
                  <a:pt x="1474470" y="38100"/>
                </a:cubicBezTo>
                <a:lnTo>
                  <a:pt x="1474470" y="350520"/>
                </a:lnTo>
                <a:cubicBezTo>
                  <a:pt x="1474470" y="371562"/>
                  <a:pt x="1457412" y="388620"/>
                  <a:pt x="143637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>
              <a:alpha val="20000"/>
            </a:srgbClr>
          </a:solidFill>
          <a:ln w="10160">
            <a:solidFill>
              <a:srgbClr val="C6A8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68592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CHAPITRE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694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Analyse du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Besoin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004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1294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Acteurs du système, entités métier,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besoins fonctionnels et règles de gestion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ACTEURS ET ENTITÉS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Les Acteurs du Système et les Entités Métier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28750"/>
            <a:ext cx="5619750" cy="4381500"/>
          </a:xfrm>
          <a:custGeom>
            <a:avLst/>
            <a:gdLst/>
            <a:ahLst/>
            <a:cxnLst/>
            <a:rect l="l" t="t" r="r" b="b"/>
            <a:pathLst>
              <a:path w="5619750" h="43815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4305306"/>
                </a:lnTo>
                <a:cubicBezTo>
                  <a:pt x="5619750" y="4347387"/>
                  <a:pt x="5585637" y="4381500"/>
                  <a:pt x="5543556" y="4381500"/>
                </a:cubicBezTo>
                <a:lnTo>
                  <a:pt x="76194" y="4381500"/>
                </a:lnTo>
                <a:cubicBezTo>
                  <a:pt x="34142" y="4381500"/>
                  <a:pt x="0" y="4347358"/>
                  <a:pt x="0" y="430530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287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6383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885825" y="160020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Acteurs du Système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830" y="1981200"/>
            <a:ext cx="5307330" cy="866775"/>
          </a:xfrm>
          <a:custGeom>
            <a:avLst/>
            <a:gdLst/>
            <a:ahLst/>
            <a:cxnLst/>
            <a:rect l="l" t="t" r="r" b="b"/>
            <a:pathLst>
              <a:path w="5307330" h="866775">
                <a:moveTo>
                  <a:pt x="22860" y="0"/>
                </a:moveTo>
                <a:lnTo>
                  <a:pt x="5269227" y="0"/>
                </a:lnTo>
                <a:cubicBezTo>
                  <a:pt x="5290271" y="0"/>
                  <a:pt x="5307330" y="17059"/>
                  <a:pt x="5307330" y="38103"/>
                </a:cubicBezTo>
                <a:lnTo>
                  <a:pt x="5307330" y="828672"/>
                </a:lnTo>
                <a:cubicBezTo>
                  <a:pt x="5307330" y="849716"/>
                  <a:pt x="5290271" y="866775"/>
                  <a:pt x="5269227" y="866775"/>
                </a:cubicBezTo>
                <a:lnTo>
                  <a:pt x="22860" y="866775"/>
                </a:lnTo>
                <a:cubicBezTo>
                  <a:pt x="10235" y="866775"/>
                  <a:pt x="0" y="856540"/>
                  <a:pt x="0" y="843915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4830" y="1981200"/>
            <a:ext cx="22860" cy="866775"/>
          </a:xfrm>
          <a:custGeom>
            <a:avLst/>
            <a:gdLst/>
            <a:ahLst/>
            <a:cxnLst/>
            <a:rect l="l" t="t" r="r" b="b"/>
            <a:pathLst>
              <a:path w="22860" h="866775">
                <a:moveTo>
                  <a:pt x="22860" y="0"/>
                </a:moveTo>
                <a:lnTo>
                  <a:pt x="22860" y="0"/>
                </a:lnTo>
                <a:lnTo>
                  <a:pt x="22860" y="866775"/>
                </a:lnTo>
                <a:lnTo>
                  <a:pt x="22860" y="866775"/>
                </a:lnTo>
                <a:cubicBezTo>
                  <a:pt x="10235" y="866775"/>
                  <a:pt x="0" y="856540"/>
                  <a:pt x="0" y="843915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1" name="Shape 9"/>
          <p:cNvSpPr/>
          <p:nvPr/>
        </p:nvSpPr>
        <p:spPr>
          <a:xfrm>
            <a:off x="699135" y="2133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937260" y="20955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Chef de Cuisine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0560" y="2362200"/>
            <a:ext cx="5133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Définit les menus, supervise les équipes, contrôle la qualité. Accède aux recettes, stocks et fournisseurs.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4830" y="2919413"/>
            <a:ext cx="5307330" cy="866775"/>
          </a:xfrm>
          <a:custGeom>
            <a:avLst/>
            <a:gdLst/>
            <a:ahLst/>
            <a:cxnLst/>
            <a:rect l="l" t="t" r="r" b="b"/>
            <a:pathLst>
              <a:path w="5307330" h="866775">
                <a:moveTo>
                  <a:pt x="22860" y="0"/>
                </a:moveTo>
                <a:lnTo>
                  <a:pt x="5269227" y="0"/>
                </a:lnTo>
                <a:cubicBezTo>
                  <a:pt x="5290271" y="0"/>
                  <a:pt x="5307330" y="17059"/>
                  <a:pt x="5307330" y="38103"/>
                </a:cubicBezTo>
                <a:lnTo>
                  <a:pt x="5307330" y="828672"/>
                </a:lnTo>
                <a:cubicBezTo>
                  <a:pt x="5307330" y="849716"/>
                  <a:pt x="5290271" y="866775"/>
                  <a:pt x="5269227" y="866775"/>
                </a:cubicBezTo>
                <a:lnTo>
                  <a:pt x="22860" y="866775"/>
                </a:lnTo>
                <a:cubicBezTo>
                  <a:pt x="10235" y="866775"/>
                  <a:pt x="0" y="856540"/>
                  <a:pt x="0" y="843915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830" y="2919413"/>
            <a:ext cx="22860" cy="866775"/>
          </a:xfrm>
          <a:custGeom>
            <a:avLst/>
            <a:gdLst/>
            <a:ahLst/>
            <a:cxnLst/>
            <a:rect l="l" t="t" r="r" b="b"/>
            <a:pathLst>
              <a:path w="22860" h="866775">
                <a:moveTo>
                  <a:pt x="22860" y="0"/>
                </a:moveTo>
                <a:lnTo>
                  <a:pt x="22860" y="0"/>
                </a:lnTo>
                <a:lnTo>
                  <a:pt x="22860" y="866775"/>
                </a:lnTo>
                <a:lnTo>
                  <a:pt x="22860" y="866775"/>
                </a:lnTo>
                <a:cubicBezTo>
                  <a:pt x="10235" y="866775"/>
                  <a:pt x="0" y="856540"/>
                  <a:pt x="0" y="843915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135" y="30718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47774" y="-7858"/>
                </a:moveTo>
                <a:cubicBezTo>
                  <a:pt x="50542" y="-10180"/>
                  <a:pt x="54620" y="-10091"/>
                  <a:pt x="57269" y="-7590"/>
                </a:cubicBezTo>
                <a:cubicBezTo>
                  <a:pt x="60930" y="-4137"/>
                  <a:pt x="64204" y="-327"/>
                  <a:pt x="67360" y="3542"/>
                </a:cubicBezTo>
                <a:cubicBezTo>
                  <a:pt x="71378" y="8453"/>
                  <a:pt x="76200" y="14942"/>
                  <a:pt x="80843" y="22652"/>
                </a:cubicBezTo>
                <a:cubicBezTo>
                  <a:pt x="82391" y="20628"/>
                  <a:pt x="83820" y="18842"/>
                  <a:pt x="85070" y="17324"/>
                </a:cubicBezTo>
                <a:cubicBezTo>
                  <a:pt x="85398" y="16937"/>
                  <a:pt x="85725" y="16520"/>
                  <a:pt x="86052" y="16103"/>
                </a:cubicBezTo>
                <a:cubicBezTo>
                  <a:pt x="88404" y="13186"/>
                  <a:pt x="91321" y="9525"/>
                  <a:pt x="95220" y="9525"/>
                </a:cubicBezTo>
                <a:cubicBezTo>
                  <a:pt x="99209" y="9525"/>
                  <a:pt x="102007" y="13067"/>
                  <a:pt x="104388" y="16103"/>
                </a:cubicBezTo>
                <a:cubicBezTo>
                  <a:pt x="104775" y="16609"/>
                  <a:pt x="105162" y="17085"/>
                  <a:pt x="105549" y="17532"/>
                </a:cubicBezTo>
                <a:cubicBezTo>
                  <a:pt x="108615" y="21223"/>
                  <a:pt x="112693" y="26551"/>
                  <a:pt x="116771" y="33129"/>
                </a:cubicBezTo>
                <a:cubicBezTo>
                  <a:pt x="124867" y="46196"/>
                  <a:pt x="133320" y="64800"/>
                  <a:pt x="133320" y="85695"/>
                </a:cubicBezTo>
                <a:cubicBezTo>
                  <a:pt x="133320" y="122515"/>
                  <a:pt x="103465" y="152370"/>
                  <a:pt x="66645" y="152370"/>
                </a:cubicBezTo>
                <a:cubicBezTo>
                  <a:pt x="29825" y="152370"/>
                  <a:pt x="0" y="122545"/>
                  <a:pt x="0" y="85725"/>
                </a:cubicBezTo>
                <a:cubicBezTo>
                  <a:pt x="0" y="58609"/>
                  <a:pt x="12234" y="35123"/>
                  <a:pt x="23961" y="18752"/>
                </a:cubicBezTo>
                <a:cubicBezTo>
                  <a:pt x="29885" y="10507"/>
                  <a:pt x="35778" y="3899"/>
                  <a:pt x="40213" y="-625"/>
                </a:cubicBezTo>
                <a:cubicBezTo>
                  <a:pt x="42654" y="-3125"/>
                  <a:pt x="45125" y="-5596"/>
                  <a:pt x="47804" y="-7828"/>
                </a:cubicBezTo>
                <a:close/>
                <a:moveTo>
                  <a:pt x="67181" y="123825"/>
                </a:moveTo>
                <a:cubicBezTo>
                  <a:pt x="74712" y="123825"/>
                  <a:pt x="81379" y="121741"/>
                  <a:pt x="87660" y="117574"/>
                </a:cubicBezTo>
                <a:cubicBezTo>
                  <a:pt x="100191" y="108823"/>
                  <a:pt x="103555" y="91321"/>
                  <a:pt x="96024" y="77569"/>
                </a:cubicBezTo>
                <a:cubicBezTo>
                  <a:pt x="94684" y="74890"/>
                  <a:pt x="91261" y="74712"/>
                  <a:pt x="89327" y="76974"/>
                </a:cubicBezTo>
                <a:lnTo>
                  <a:pt x="81826" y="85695"/>
                </a:lnTo>
                <a:cubicBezTo>
                  <a:pt x="79861" y="87957"/>
                  <a:pt x="76319" y="87898"/>
                  <a:pt x="74474" y="85546"/>
                </a:cubicBezTo>
                <a:cubicBezTo>
                  <a:pt x="69324" y="78968"/>
                  <a:pt x="59859" y="66973"/>
                  <a:pt x="55037" y="60841"/>
                </a:cubicBezTo>
                <a:cubicBezTo>
                  <a:pt x="53429" y="58787"/>
                  <a:pt x="50512" y="58460"/>
                  <a:pt x="48637" y="60275"/>
                </a:cubicBezTo>
                <a:cubicBezTo>
                  <a:pt x="43190" y="65574"/>
                  <a:pt x="33308" y="77182"/>
                  <a:pt x="33308" y="91321"/>
                </a:cubicBezTo>
                <a:cubicBezTo>
                  <a:pt x="33308" y="111740"/>
                  <a:pt x="48369" y="123825"/>
                  <a:pt x="67151" y="12382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" y="3033713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Chefs de Partie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0560" y="3300413"/>
            <a:ext cx="5133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Spécialisés par domaine (sauces, grillades, pâtisserie). Consultent les recettes et signalent les besoins.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4830" y="3857625"/>
            <a:ext cx="5307330" cy="866775"/>
          </a:xfrm>
          <a:custGeom>
            <a:avLst/>
            <a:gdLst/>
            <a:ahLst/>
            <a:cxnLst/>
            <a:rect l="l" t="t" r="r" b="b"/>
            <a:pathLst>
              <a:path w="5307330" h="866775">
                <a:moveTo>
                  <a:pt x="22860" y="0"/>
                </a:moveTo>
                <a:lnTo>
                  <a:pt x="5269227" y="0"/>
                </a:lnTo>
                <a:cubicBezTo>
                  <a:pt x="5290271" y="0"/>
                  <a:pt x="5307330" y="17059"/>
                  <a:pt x="5307330" y="38103"/>
                </a:cubicBezTo>
                <a:lnTo>
                  <a:pt x="5307330" y="828672"/>
                </a:lnTo>
                <a:cubicBezTo>
                  <a:pt x="5307330" y="849716"/>
                  <a:pt x="5290271" y="866775"/>
                  <a:pt x="5269227" y="866775"/>
                </a:cubicBezTo>
                <a:lnTo>
                  <a:pt x="22860" y="866775"/>
                </a:lnTo>
                <a:cubicBezTo>
                  <a:pt x="10235" y="866775"/>
                  <a:pt x="0" y="856540"/>
                  <a:pt x="0" y="843915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4830" y="3857625"/>
            <a:ext cx="22860" cy="866775"/>
          </a:xfrm>
          <a:custGeom>
            <a:avLst/>
            <a:gdLst/>
            <a:ahLst/>
            <a:cxnLst/>
            <a:rect l="l" t="t" r="r" b="b"/>
            <a:pathLst>
              <a:path w="22860" h="866775">
                <a:moveTo>
                  <a:pt x="22860" y="0"/>
                </a:moveTo>
                <a:lnTo>
                  <a:pt x="22860" y="0"/>
                </a:lnTo>
                <a:lnTo>
                  <a:pt x="22860" y="866775"/>
                </a:lnTo>
                <a:lnTo>
                  <a:pt x="22860" y="866775"/>
                </a:lnTo>
                <a:cubicBezTo>
                  <a:pt x="10235" y="866775"/>
                  <a:pt x="0" y="856540"/>
                  <a:pt x="0" y="843915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1" name="Shape 19"/>
          <p:cNvSpPr/>
          <p:nvPr/>
        </p:nvSpPr>
        <p:spPr>
          <a:xfrm>
            <a:off x="670560" y="40100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144" y="-4762"/>
                </a:moveTo>
                <a:cubicBezTo>
                  <a:pt x="3185" y="-4762"/>
                  <a:pt x="0" y="-1578"/>
                  <a:pt x="0" y="2381"/>
                </a:cubicBezTo>
                <a:cubicBezTo>
                  <a:pt x="0" y="6340"/>
                  <a:pt x="3185" y="9525"/>
                  <a:pt x="7144" y="9525"/>
                </a:cubicBezTo>
                <a:lnTo>
                  <a:pt x="20628" y="9525"/>
                </a:lnTo>
                <a:cubicBezTo>
                  <a:pt x="21788" y="9525"/>
                  <a:pt x="22771" y="10358"/>
                  <a:pt x="22979" y="11490"/>
                </a:cubicBezTo>
                <a:lnTo>
                  <a:pt x="38487" y="96709"/>
                </a:lnTo>
                <a:cubicBezTo>
                  <a:pt x="40332" y="106888"/>
                  <a:pt x="49203" y="114300"/>
                  <a:pt x="59561" y="114300"/>
                </a:cubicBezTo>
                <a:lnTo>
                  <a:pt x="135731" y="114300"/>
                </a:lnTo>
                <a:cubicBezTo>
                  <a:pt x="139690" y="114300"/>
                  <a:pt x="142875" y="111115"/>
                  <a:pt x="142875" y="107156"/>
                </a:cubicBezTo>
                <a:cubicBezTo>
                  <a:pt x="142875" y="103197"/>
                  <a:pt x="139690" y="100013"/>
                  <a:pt x="135731" y="100013"/>
                </a:cubicBezTo>
                <a:lnTo>
                  <a:pt x="59561" y="100013"/>
                </a:lnTo>
                <a:cubicBezTo>
                  <a:pt x="56108" y="100013"/>
                  <a:pt x="53161" y="97542"/>
                  <a:pt x="52536" y="94149"/>
                </a:cubicBezTo>
                <a:lnTo>
                  <a:pt x="51018" y="85725"/>
                </a:lnTo>
                <a:lnTo>
                  <a:pt x="141387" y="85725"/>
                </a:lnTo>
                <a:cubicBezTo>
                  <a:pt x="150555" y="85725"/>
                  <a:pt x="158413" y="79206"/>
                  <a:pt x="160109" y="70187"/>
                </a:cubicBezTo>
                <a:lnTo>
                  <a:pt x="169337" y="20806"/>
                </a:lnTo>
                <a:cubicBezTo>
                  <a:pt x="170438" y="14942"/>
                  <a:pt x="165943" y="9525"/>
                  <a:pt x="159960" y="9525"/>
                </a:cubicBezTo>
                <a:lnTo>
                  <a:pt x="37118" y="9525"/>
                </a:lnTo>
                <a:lnTo>
                  <a:pt x="36999" y="8930"/>
                </a:lnTo>
                <a:cubicBezTo>
                  <a:pt x="35570" y="1012"/>
                  <a:pt x="28664" y="-4762"/>
                  <a:pt x="20598" y="-4762"/>
                </a:cubicBezTo>
                <a:lnTo>
                  <a:pt x="7144" y="-4762"/>
                </a:lnTo>
                <a:close/>
                <a:moveTo>
                  <a:pt x="61912" y="152400"/>
                </a:moveTo>
                <a:cubicBezTo>
                  <a:pt x="69798" y="152400"/>
                  <a:pt x="76200" y="145998"/>
                  <a:pt x="76200" y="138113"/>
                </a:cubicBezTo>
                <a:cubicBezTo>
                  <a:pt x="76200" y="130227"/>
                  <a:pt x="69798" y="123825"/>
                  <a:pt x="61912" y="123825"/>
                </a:cubicBezTo>
                <a:cubicBezTo>
                  <a:pt x="54027" y="123825"/>
                  <a:pt x="47625" y="130227"/>
                  <a:pt x="47625" y="138113"/>
                </a:cubicBezTo>
                <a:cubicBezTo>
                  <a:pt x="47625" y="145998"/>
                  <a:pt x="54027" y="152400"/>
                  <a:pt x="61912" y="152400"/>
                </a:cubicBezTo>
                <a:close/>
                <a:moveTo>
                  <a:pt x="128588" y="152400"/>
                </a:moveTo>
                <a:cubicBezTo>
                  <a:pt x="136473" y="152400"/>
                  <a:pt x="142875" y="145998"/>
                  <a:pt x="142875" y="138113"/>
                </a:cubicBezTo>
                <a:cubicBezTo>
                  <a:pt x="142875" y="130227"/>
                  <a:pt x="136473" y="123825"/>
                  <a:pt x="128588" y="123825"/>
                </a:cubicBezTo>
                <a:cubicBezTo>
                  <a:pt x="120702" y="123825"/>
                  <a:pt x="114300" y="130227"/>
                  <a:pt x="114300" y="138113"/>
                </a:cubicBezTo>
                <a:cubicBezTo>
                  <a:pt x="114300" y="145998"/>
                  <a:pt x="120702" y="152400"/>
                  <a:pt x="128588" y="15240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2" name="Text 20"/>
          <p:cNvSpPr/>
          <p:nvPr/>
        </p:nvSpPr>
        <p:spPr>
          <a:xfrm>
            <a:off x="937260" y="397192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Responsable des Achats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0560" y="4238625"/>
            <a:ext cx="5133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Gère les fournisseurs, passe les commandes, négocie les prix. Besoin d'historique détaillé.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4830" y="4795838"/>
            <a:ext cx="5307330" cy="866775"/>
          </a:xfrm>
          <a:custGeom>
            <a:avLst/>
            <a:gdLst/>
            <a:ahLst/>
            <a:cxnLst/>
            <a:rect l="l" t="t" r="r" b="b"/>
            <a:pathLst>
              <a:path w="5307330" h="866775">
                <a:moveTo>
                  <a:pt x="22860" y="0"/>
                </a:moveTo>
                <a:lnTo>
                  <a:pt x="5269227" y="0"/>
                </a:lnTo>
                <a:cubicBezTo>
                  <a:pt x="5290271" y="0"/>
                  <a:pt x="5307330" y="17059"/>
                  <a:pt x="5307330" y="38103"/>
                </a:cubicBezTo>
                <a:lnTo>
                  <a:pt x="5307330" y="828672"/>
                </a:lnTo>
                <a:cubicBezTo>
                  <a:pt x="5307330" y="849716"/>
                  <a:pt x="5290271" y="866775"/>
                  <a:pt x="5269227" y="866775"/>
                </a:cubicBezTo>
                <a:lnTo>
                  <a:pt x="22860" y="866775"/>
                </a:lnTo>
                <a:cubicBezTo>
                  <a:pt x="10235" y="866775"/>
                  <a:pt x="0" y="856540"/>
                  <a:pt x="0" y="843915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44830" y="4795838"/>
            <a:ext cx="22860" cy="866775"/>
          </a:xfrm>
          <a:custGeom>
            <a:avLst/>
            <a:gdLst/>
            <a:ahLst/>
            <a:cxnLst/>
            <a:rect l="l" t="t" r="r" b="b"/>
            <a:pathLst>
              <a:path w="22860" h="866775">
                <a:moveTo>
                  <a:pt x="22860" y="0"/>
                </a:moveTo>
                <a:lnTo>
                  <a:pt x="22860" y="0"/>
                </a:lnTo>
                <a:lnTo>
                  <a:pt x="22860" y="866775"/>
                </a:lnTo>
                <a:lnTo>
                  <a:pt x="22860" y="866775"/>
                </a:lnTo>
                <a:cubicBezTo>
                  <a:pt x="10235" y="866775"/>
                  <a:pt x="0" y="856540"/>
                  <a:pt x="0" y="843915"/>
                </a:cubicBezTo>
                <a:lnTo>
                  <a:pt x="0" y="22860"/>
                </a:lnTo>
                <a:cubicBezTo>
                  <a:pt x="0" y="10243"/>
                  <a:pt x="10243" y="0"/>
                  <a:pt x="2286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6" name="Shape 24"/>
          <p:cNvSpPr/>
          <p:nvPr/>
        </p:nvSpPr>
        <p:spPr>
          <a:xfrm>
            <a:off x="680085" y="49482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42297"/>
                </a:move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71438"/>
                </a:lnTo>
                <a:cubicBezTo>
                  <a:pt x="19050" y="66169"/>
                  <a:pt x="23306" y="61912"/>
                  <a:pt x="28575" y="61912"/>
                </a:cubicBezTo>
                <a:lnTo>
                  <a:pt x="142875" y="61912"/>
                </a:lnTo>
                <a:cubicBezTo>
                  <a:pt x="148144" y="61912"/>
                  <a:pt x="152400" y="66169"/>
                  <a:pt x="152400" y="71438"/>
                </a:cubicBezTo>
                <a:lnTo>
                  <a:pt x="152400" y="142875"/>
                </a:lnTo>
                <a:cubicBezTo>
                  <a:pt x="152400" y="148144"/>
                  <a:pt x="156656" y="152400"/>
                  <a:pt x="161925" y="152400"/>
                </a:cubicBezTo>
                <a:cubicBezTo>
                  <a:pt x="167194" y="152400"/>
                  <a:pt x="171450" y="148144"/>
                  <a:pt x="171450" y="142875"/>
                </a:cubicBezTo>
                <a:lnTo>
                  <a:pt x="171450" y="42297"/>
                </a:lnTo>
                <a:cubicBezTo>
                  <a:pt x="171450" y="34111"/>
                  <a:pt x="166211" y="26819"/>
                  <a:pt x="158413" y="24229"/>
                </a:cubicBezTo>
                <a:lnTo>
                  <a:pt x="90249" y="1518"/>
                </a:lnTo>
                <a:cubicBezTo>
                  <a:pt x="87303" y="536"/>
                  <a:pt x="84147" y="536"/>
                  <a:pt x="81201" y="1518"/>
                </a:cubicBezTo>
                <a:lnTo>
                  <a:pt x="13037" y="24229"/>
                </a:lnTo>
                <a:cubicBezTo>
                  <a:pt x="5239" y="26819"/>
                  <a:pt x="0" y="34111"/>
                  <a:pt x="0" y="42297"/>
                </a:cubicBezTo>
                <a:close/>
                <a:moveTo>
                  <a:pt x="138113" y="76200"/>
                </a:moveTo>
                <a:lnTo>
                  <a:pt x="33338" y="76200"/>
                </a:lnTo>
                <a:lnTo>
                  <a:pt x="33338" y="95250"/>
                </a:lnTo>
                <a:lnTo>
                  <a:pt x="138113" y="95250"/>
                </a:lnTo>
                <a:lnTo>
                  <a:pt x="138113" y="76200"/>
                </a:lnTo>
                <a:close/>
                <a:moveTo>
                  <a:pt x="33338" y="123825"/>
                </a:moveTo>
                <a:lnTo>
                  <a:pt x="138113" y="123825"/>
                </a:lnTo>
                <a:lnTo>
                  <a:pt x="138113" y="104775"/>
                </a:lnTo>
                <a:lnTo>
                  <a:pt x="33338" y="104775"/>
                </a:lnTo>
                <a:lnTo>
                  <a:pt x="33338" y="123825"/>
                </a:lnTo>
                <a:close/>
                <a:moveTo>
                  <a:pt x="138113" y="133350"/>
                </a:moveTo>
                <a:lnTo>
                  <a:pt x="33338" y="133350"/>
                </a:lnTo>
                <a:lnTo>
                  <a:pt x="33338" y="152400"/>
                </a:lnTo>
                <a:lnTo>
                  <a:pt x="138113" y="152400"/>
                </a:lnTo>
                <a:lnTo>
                  <a:pt x="138113" y="133350"/>
                </a:ln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7" name="Text 25"/>
          <p:cNvSpPr/>
          <p:nvPr/>
        </p:nvSpPr>
        <p:spPr>
          <a:xfrm>
            <a:off x="937260" y="4910138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Gestionnaire de Stocks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0560" y="5176838"/>
            <a:ext cx="5133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Suivi des inventaires, contrôle des dates de péremption (DLC/DLUO), optimisation des niveaux.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1428750"/>
            <a:ext cx="5619750" cy="5029200"/>
          </a:xfrm>
          <a:custGeom>
            <a:avLst/>
            <a:gdLst/>
            <a:ahLst/>
            <a:cxnLst/>
            <a:rect l="l" t="t" r="r" b="b"/>
            <a:pathLst>
              <a:path w="5619750" h="50292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4953008"/>
                </a:lnTo>
                <a:cubicBezTo>
                  <a:pt x="5619750" y="4995088"/>
                  <a:pt x="5585638" y="5029200"/>
                  <a:pt x="5543558" y="5029200"/>
                </a:cubicBezTo>
                <a:lnTo>
                  <a:pt x="76192" y="5029200"/>
                </a:lnTo>
                <a:cubicBezTo>
                  <a:pt x="34112" y="5029200"/>
                  <a:pt x="0" y="4995088"/>
                  <a:pt x="0" y="495300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1250" y="14287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1" name="Shape 29"/>
          <p:cNvSpPr/>
          <p:nvPr/>
        </p:nvSpPr>
        <p:spPr>
          <a:xfrm>
            <a:off x="6367463" y="1638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2" name="Text 30"/>
          <p:cNvSpPr/>
          <p:nvPr/>
        </p:nvSpPr>
        <p:spPr>
          <a:xfrm>
            <a:off x="6696075" y="1600200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Entités Métier Identifiées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43650" y="1981200"/>
            <a:ext cx="5314950" cy="866775"/>
          </a:xfrm>
          <a:custGeom>
            <a:avLst/>
            <a:gdLst/>
            <a:ahLst/>
            <a:cxnLst/>
            <a:rect l="l" t="t" r="r" b="b"/>
            <a:pathLst>
              <a:path w="5314950" h="866775">
                <a:moveTo>
                  <a:pt x="38103" y="0"/>
                </a:moveTo>
                <a:lnTo>
                  <a:pt x="5276847" y="0"/>
                </a:lnTo>
                <a:cubicBezTo>
                  <a:pt x="5297891" y="0"/>
                  <a:pt x="5314950" y="17059"/>
                  <a:pt x="5314950" y="38103"/>
                </a:cubicBezTo>
                <a:lnTo>
                  <a:pt x="5314950" y="828672"/>
                </a:lnTo>
                <a:cubicBezTo>
                  <a:pt x="5314950" y="849716"/>
                  <a:pt x="5297891" y="866775"/>
                  <a:pt x="5276847" y="866775"/>
                </a:cubicBezTo>
                <a:lnTo>
                  <a:pt x="38103" y="866775"/>
                </a:lnTo>
                <a:cubicBezTo>
                  <a:pt x="17059" y="866775"/>
                  <a:pt x="0" y="849716"/>
                  <a:pt x="0" y="828672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4" name="Shape 32"/>
          <p:cNvSpPr/>
          <p:nvPr/>
        </p:nvSpPr>
        <p:spPr>
          <a:xfrm>
            <a:off x="6457950" y="209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5" name="Shape 33"/>
          <p:cNvSpPr/>
          <p:nvPr/>
        </p:nvSpPr>
        <p:spPr>
          <a:xfrm>
            <a:off x="6567488" y="22193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18010" y="-9558"/>
                </a:moveTo>
                <a:lnTo>
                  <a:pt x="114832" y="-6407"/>
                </a:lnTo>
                <a:cubicBezTo>
                  <a:pt x="106706" y="1719"/>
                  <a:pt x="106706" y="14924"/>
                  <a:pt x="114832" y="23050"/>
                </a:cubicBezTo>
                <a:cubicBezTo>
                  <a:pt x="118895" y="27113"/>
                  <a:pt x="122958" y="31176"/>
                  <a:pt x="127047" y="35265"/>
                </a:cubicBezTo>
                <a:cubicBezTo>
                  <a:pt x="135173" y="43391"/>
                  <a:pt x="148378" y="43391"/>
                  <a:pt x="156504" y="35265"/>
                </a:cubicBezTo>
                <a:lnTo>
                  <a:pt x="159655" y="32113"/>
                </a:lnTo>
                <a:cubicBezTo>
                  <a:pt x="161270" y="30499"/>
                  <a:pt x="161270" y="27842"/>
                  <a:pt x="159655" y="26227"/>
                </a:cubicBezTo>
                <a:lnTo>
                  <a:pt x="156504" y="23076"/>
                </a:lnTo>
                <a:cubicBezTo>
                  <a:pt x="148378" y="14950"/>
                  <a:pt x="135173" y="14950"/>
                  <a:pt x="127047" y="23076"/>
                </a:cubicBezTo>
                <a:cubicBezTo>
                  <a:pt x="135173" y="14950"/>
                  <a:pt x="135173" y="1745"/>
                  <a:pt x="127047" y="-6381"/>
                </a:cubicBezTo>
                <a:lnTo>
                  <a:pt x="123896" y="-9558"/>
                </a:lnTo>
                <a:cubicBezTo>
                  <a:pt x="122281" y="-11173"/>
                  <a:pt x="119624" y="-11173"/>
                  <a:pt x="118010" y="-9558"/>
                </a:cubicBezTo>
                <a:close/>
                <a:moveTo>
                  <a:pt x="86365" y="25003"/>
                </a:moveTo>
                <a:cubicBezTo>
                  <a:pt x="74593" y="25003"/>
                  <a:pt x="63680" y="30316"/>
                  <a:pt x="56413" y="39146"/>
                </a:cubicBezTo>
                <a:lnTo>
                  <a:pt x="71181" y="53913"/>
                </a:lnTo>
                <a:cubicBezTo>
                  <a:pt x="73629" y="56361"/>
                  <a:pt x="73629" y="60320"/>
                  <a:pt x="71181" y="62742"/>
                </a:cubicBezTo>
                <a:cubicBezTo>
                  <a:pt x="68733" y="65164"/>
                  <a:pt x="64774" y="65190"/>
                  <a:pt x="62352" y="62742"/>
                </a:cubicBezTo>
                <a:lnTo>
                  <a:pt x="49902" y="50319"/>
                </a:lnTo>
                <a:lnTo>
                  <a:pt x="17502" y="121578"/>
                </a:lnTo>
                <a:cubicBezTo>
                  <a:pt x="16070" y="124729"/>
                  <a:pt x="16747" y="128454"/>
                  <a:pt x="19195" y="130928"/>
                </a:cubicBezTo>
                <a:cubicBezTo>
                  <a:pt x="21643" y="133402"/>
                  <a:pt x="25368" y="134053"/>
                  <a:pt x="28545" y="132621"/>
                </a:cubicBezTo>
                <a:lnTo>
                  <a:pt x="65425" y="115848"/>
                </a:lnTo>
                <a:lnTo>
                  <a:pt x="54017" y="104440"/>
                </a:lnTo>
                <a:cubicBezTo>
                  <a:pt x="51569" y="101992"/>
                  <a:pt x="51569" y="98033"/>
                  <a:pt x="54017" y="95611"/>
                </a:cubicBezTo>
                <a:cubicBezTo>
                  <a:pt x="56465" y="93189"/>
                  <a:pt x="60424" y="93163"/>
                  <a:pt x="62846" y="95611"/>
                </a:cubicBezTo>
                <a:lnTo>
                  <a:pt x="77562" y="110326"/>
                </a:lnTo>
                <a:lnTo>
                  <a:pt x="102383" y="99049"/>
                </a:lnTo>
                <a:cubicBezTo>
                  <a:pt x="116212" y="92772"/>
                  <a:pt x="125094" y="78968"/>
                  <a:pt x="125094" y="63758"/>
                </a:cubicBezTo>
                <a:cubicBezTo>
                  <a:pt x="125094" y="42349"/>
                  <a:pt x="107748" y="25003"/>
                  <a:pt x="86339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953250" y="2095500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Ingrédients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53250" y="2362200"/>
            <a:ext cx="4657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Matières premières : nom, catégorie, unité, prix unitaire, quantité stock, seuil minimum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3650" y="2919413"/>
            <a:ext cx="5314950" cy="866775"/>
          </a:xfrm>
          <a:custGeom>
            <a:avLst/>
            <a:gdLst/>
            <a:ahLst/>
            <a:cxnLst/>
            <a:rect l="l" t="t" r="r" b="b"/>
            <a:pathLst>
              <a:path w="5314950" h="866775">
                <a:moveTo>
                  <a:pt x="38103" y="0"/>
                </a:moveTo>
                <a:lnTo>
                  <a:pt x="5276847" y="0"/>
                </a:lnTo>
                <a:cubicBezTo>
                  <a:pt x="5297891" y="0"/>
                  <a:pt x="5314950" y="17059"/>
                  <a:pt x="5314950" y="38103"/>
                </a:cubicBezTo>
                <a:lnTo>
                  <a:pt x="5314950" y="828672"/>
                </a:lnTo>
                <a:cubicBezTo>
                  <a:pt x="5314950" y="849716"/>
                  <a:pt x="5297891" y="866775"/>
                  <a:pt x="5276847" y="866775"/>
                </a:cubicBezTo>
                <a:lnTo>
                  <a:pt x="38103" y="866775"/>
                </a:lnTo>
                <a:cubicBezTo>
                  <a:pt x="17059" y="866775"/>
                  <a:pt x="0" y="849716"/>
                  <a:pt x="0" y="828672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457950" y="30337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4156" y="315753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36801"/>
                </a:moveTo>
                <a:lnTo>
                  <a:pt x="66675" y="117358"/>
                </a:lnTo>
                <a:lnTo>
                  <a:pt x="66805" y="117306"/>
                </a:lnTo>
                <a:cubicBezTo>
                  <a:pt x="81026" y="111394"/>
                  <a:pt x="96288" y="108347"/>
                  <a:pt x="111681" y="108347"/>
                </a:cubicBezTo>
                <a:lnTo>
                  <a:pt x="116681" y="108347"/>
                </a:lnTo>
                <a:lnTo>
                  <a:pt x="116681" y="25003"/>
                </a:lnTo>
                <a:lnTo>
                  <a:pt x="111681" y="25003"/>
                </a:lnTo>
                <a:cubicBezTo>
                  <a:pt x="100690" y="25003"/>
                  <a:pt x="89777" y="27191"/>
                  <a:pt x="79619" y="31410"/>
                </a:cubicBezTo>
                <a:cubicBezTo>
                  <a:pt x="75244" y="33233"/>
                  <a:pt x="70920" y="35030"/>
                  <a:pt x="66675" y="36801"/>
                </a:cubicBezTo>
                <a:close/>
                <a:moveTo>
                  <a:pt x="60138" y="16018"/>
                </a:moveTo>
                <a:lnTo>
                  <a:pt x="66675" y="18752"/>
                </a:lnTo>
                <a:lnTo>
                  <a:pt x="73212" y="16018"/>
                </a:lnTo>
                <a:cubicBezTo>
                  <a:pt x="85401" y="10939"/>
                  <a:pt x="98476" y="8334"/>
                  <a:pt x="111681" y="8334"/>
                </a:cubicBezTo>
                <a:lnTo>
                  <a:pt x="120848" y="8334"/>
                </a:lnTo>
                <a:cubicBezTo>
                  <a:pt x="127750" y="8334"/>
                  <a:pt x="133350" y="13934"/>
                  <a:pt x="133350" y="20836"/>
                </a:cubicBezTo>
                <a:lnTo>
                  <a:pt x="133350" y="112514"/>
                </a:lnTo>
                <a:cubicBezTo>
                  <a:pt x="133350" y="119416"/>
                  <a:pt x="127750" y="125016"/>
                  <a:pt x="120848" y="125016"/>
                </a:cubicBezTo>
                <a:lnTo>
                  <a:pt x="111681" y="125016"/>
                </a:lnTo>
                <a:cubicBezTo>
                  <a:pt x="98476" y="125016"/>
                  <a:pt x="85401" y="127620"/>
                  <a:pt x="73212" y="132699"/>
                </a:cubicBezTo>
                <a:lnTo>
                  <a:pt x="69879" y="134079"/>
                </a:lnTo>
                <a:cubicBezTo>
                  <a:pt x="67821" y="134939"/>
                  <a:pt x="65529" y="134939"/>
                  <a:pt x="63471" y="134079"/>
                </a:cubicBezTo>
                <a:lnTo>
                  <a:pt x="60138" y="132699"/>
                </a:lnTo>
                <a:cubicBezTo>
                  <a:pt x="47949" y="127620"/>
                  <a:pt x="34874" y="125016"/>
                  <a:pt x="21669" y="125016"/>
                </a:cubicBezTo>
                <a:lnTo>
                  <a:pt x="12502" y="125016"/>
                </a:lnTo>
                <a:cubicBezTo>
                  <a:pt x="5600" y="125016"/>
                  <a:pt x="0" y="119416"/>
                  <a:pt x="0" y="112514"/>
                </a:cubicBezTo>
                <a:lnTo>
                  <a:pt x="0" y="20836"/>
                </a:lnTo>
                <a:cubicBezTo>
                  <a:pt x="0" y="13934"/>
                  <a:pt x="5600" y="8334"/>
                  <a:pt x="12502" y="8334"/>
                </a:cubicBezTo>
                <a:lnTo>
                  <a:pt x="21669" y="8334"/>
                </a:lnTo>
                <a:cubicBezTo>
                  <a:pt x="34874" y="8334"/>
                  <a:pt x="47949" y="10939"/>
                  <a:pt x="60138" y="160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953250" y="3033713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Recettes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53250" y="3300413"/>
            <a:ext cx="4657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Modes opératoires : nom, catégorie, temps préparation, nombre couverts, difficulté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43650" y="3857625"/>
            <a:ext cx="5314950" cy="676275"/>
          </a:xfrm>
          <a:custGeom>
            <a:avLst/>
            <a:gdLst/>
            <a:ahLst/>
            <a:cxnLst/>
            <a:rect l="l" t="t" r="r" b="b"/>
            <a:pathLst>
              <a:path w="5314950" h="676275">
                <a:moveTo>
                  <a:pt x="38101" y="0"/>
                </a:moveTo>
                <a:lnTo>
                  <a:pt x="5276849" y="0"/>
                </a:lnTo>
                <a:cubicBezTo>
                  <a:pt x="5297891" y="0"/>
                  <a:pt x="5314950" y="17059"/>
                  <a:pt x="5314950" y="38101"/>
                </a:cubicBezTo>
                <a:lnTo>
                  <a:pt x="5314950" y="638174"/>
                </a:lnTo>
                <a:cubicBezTo>
                  <a:pt x="5314950" y="659216"/>
                  <a:pt x="5297891" y="676275"/>
                  <a:pt x="5276849" y="676275"/>
                </a:cubicBezTo>
                <a:lnTo>
                  <a:pt x="38101" y="676275"/>
                </a:lnTo>
                <a:cubicBezTo>
                  <a:pt x="17059" y="676275"/>
                  <a:pt x="0" y="659216"/>
                  <a:pt x="0" y="63817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4" name="Shape 42"/>
          <p:cNvSpPr/>
          <p:nvPr/>
        </p:nvSpPr>
        <p:spPr>
          <a:xfrm>
            <a:off x="6457950" y="3971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5" name="Shape 43"/>
          <p:cNvSpPr/>
          <p:nvPr/>
        </p:nvSpPr>
        <p:spPr>
          <a:xfrm>
            <a:off x="6600825" y="40957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81104" y="8334"/>
                </a:moveTo>
                <a:lnTo>
                  <a:pt x="83344" y="8334"/>
                </a:lnTo>
                <a:cubicBezTo>
                  <a:pt x="92538" y="8334"/>
                  <a:pt x="100013" y="15809"/>
                  <a:pt x="100013" y="2500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8909" y="8334"/>
                </a:lnTo>
                <a:cubicBezTo>
                  <a:pt x="21774" y="3360"/>
                  <a:pt x="27165" y="0"/>
                  <a:pt x="33337" y="0"/>
                </a:cubicBezTo>
                <a:lnTo>
                  <a:pt x="66675" y="0"/>
                </a:lnTo>
                <a:cubicBezTo>
                  <a:pt x="72848" y="0"/>
                  <a:pt x="78239" y="3360"/>
                  <a:pt x="81104" y="8334"/>
                </a:cubicBezTo>
                <a:close/>
                <a:moveTo>
                  <a:pt x="64591" y="29170"/>
                </a:moveTo>
                <a:cubicBezTo>
                  <a:pt x="68055" y="29170"/>
                  <a:pt x="70842" y="26384"/>
                  <a:pt x="70842" y="22920"/>
                </a:cubicBezTo>
                <a:cubicBezTo>
                  <a:pt x="70842" y="19456"/>
                  <a:pt x="68055" y="16669"/>
                  <a:pt x="64591" y="16669"/>
                </a:cubicBezTo>
                <a:lnTo>
                  <a:pt x="35421" y="16669"/>
                </a:lnTo>
                <a:cubicBezTo>
                  <a:pt x="31957" y="16669"/>
                  <a:pt x="29170" y="19456"/>
                  <a:pt x="29170" y="22920"/>
                </a:cubicBezTo>
                <a:cubicBezTo>
                  <a:pt x="29170" y="26384"/>
                  <a:pt x="31957" y="29170"/>
                  <a:pt x="35421" y="29170"/>
                </a:cubicBezTo>
                <a:lnTo>
                  <a:pt x="64591" y="29170"/>
                </a:lnTo>
                <a:close/>
                <a:moveTo>
                  <a:pt x="33337" y="66675"/>
                </a:moveTo>
                <a:cubicBezTo>
                  <a:pt x="33337" y="62075"/>
                  <a:pt x="29603" y="58341"/>
                  <a:pt x="25003" y="58341"/>
                </a:cubicBezTo>
                <a:cubicBezTo>
                  <a:pt x="20403" y="58341"/>
                  <a:pt x="16669" y="62075"/>
                  <a:pt x="16669" y="66675"/>
                </a:cubicBezTo>
                <a:cubicBezTo>
                  <a:pt x="16669" y="71275"/>
                  <a:pt x="20403" y="75009"/>
                  <a:pt x="25003" y="75009"/>
                </a:cubicBezTo>
                <a:cubicBezTo>
                  <a:pt x="29603" y="75009"/>
                  <a:pt x="33337" y="71275"/>
                  <a:pt x="33337" y="66675"/>
                </a:cubicBezTo>
                <a:close/>
                <a:moveTo>
                  <a:pt x="41672" y="66675"/>
                </a:moveTo>
                <a:cubicBezTo>
                  <a:pt x="41672" y="70139"/>
                  <a:pt x="44459" y="72926"/>
                  <a:pt x="47923" y="72926"/>
                </a:cubicBezTo>
                <a:lnTo>
                  <a:pt x="77093" y="72926"/>
                </a:lnTo>
                <a:cubicBezTo>
                  <a:pt x="80557" y="72926"/>
                  <a:pt x="83344" y="70139"/>
                  <a:pt x="83344" y="66675"/>
                </a:cubicBezTo>
                <a:cubicBezTo>
                  <a:pt x="83344" y="63211"/>
                  <a:pt x="80557" y="60424"/>
                  <a:pt x="77093" y="60424"/>
                </a:cubicBezTo>
                <a:lnTo>
                  <a:pt x="47923" y="60424"/>
                </a:lnTo>
                <a:cubicBezTo>
                  <a:pt x="44459" y="60424"/>
                  <a:pt x="41672" y="63211"/>
                  <a:pt x="41672" y="66675"/>
                </a:cubicBezTo>
                <a:close/>
                <a:moveTo>
                  <a:pt x="41672" y="100013"/>
                </a:moveTo>
                <a:cubicBezTo>
                  <a:pt x="41672" y="103476"/>
                  <a:pt x="44459" y="106263"/>
                  <a:pt x="47923" y="106263"/>
                </a:cubicBezTo>
                <a:lnTo>
                  <a:pt x="77093" y="106263"/>
                </a:lnTo>
                <a:cubicBezTo>
                  <a:pt x="80557" y="106263"/>
                  <a:pt x="83344" y="103476"/>
                  <a:pt x="83344" y="100013"/>
                </a:cubicBezTo>
                <a:cubicBezTo>
                  <a:pt x="83344" y="96549"/>
                  <a:pt x="80557" y="93762"/>
                  <a:pt x="77093" y="93762"/>
                </a:cubicBezTo>
                <a:lnTo>
                  <a:pt x="47923" y="93762"/>
                </a:lnTo>
                <a:cubicBezTo>
                  <a:pt x="44459" y="93762"/>
                  <a:pt x="41672" y="96549"/>
                  <a:pt x="41672" y="100013"/>
                </a:cubicBezTo>
                <a:close/>
                <a:moveTo>
                  <a:pt x="25003" y="108347"/>
                </a:moveTo>
                <a:cubicBezTo>
                  <a:pt x="29603" y="108347"/>
                  <a:pt x="33337" y="104612"/>
                  <a:pt x="33337" y="100013"/>
                </a:cubicBezTo>
                <a:cubicBezTo>
                  <a:pt x="33337" y="95413"/>
                  <a:pt x="29603" y="91678"/>
                  <a:pt x="25003" y="91678"/>
                </a:cubicBezTo>
                <a:cubicBezTo>
                  <a:pt x="20403" y="91678"/>
                  <a:pt x="16669" y="95413"/>
                  <a:pt x="16669" y="100013"/>
                </a:cubicBezTo>
                <a:cubicBezTo>
                  <a:pt x="16669" y="104612"/>
                  <a:pt x="20403" y="108347"/>
                  <a:pt x="25003" y="1083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953250" y="3971925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53250" y="4238625"/>
            <a:ext cx="4657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Ensembles de recettes : nom, date, type (déjeuner/dîner/buffet), prix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43650" y="4612481"/>
            <a:ext cx="5314950" cy="676275"/>
          </a:xfrm>
          <a:custGeom>
            <a:avLst/>
            <a:gdLst/>
            <a:ahLst/>
            <a:cxnLst/>
            <a:rect l="l" t="t" r="r" b="b"/>
            <a:pathLst>
              <a:path w="5314950" h="676275">
                <a:moveTo>
                  <a:pt x="38101" y="0"/>
                </a:moveTo>
                <a:lnTo>
                  <a:pt x="5276849" y="0"/>
                </a:lnTo>
                <a:cubicBezTo>
                  <a:pt x="5297891" y="0"/>
                  <a:pt x="5314950" y="17059"/>
                  <a:pt x="5314950" y="38101"/>
                </a:cubicBezTo>
                <a:lnTo>
                  <a:pt x="5314950" y="638174"/>
                </a:lnTo>
                <a:cubicBezTo>
                  <a:pt x="5314950" y="659216"/>
                  <a:pt x="5297891" y="676275"/>
                  <a:pt x="5276849" y="676275"/>
                </a:cubicBezTo>
                <a:lnTo>
                  <a:pt x="38101" y="676275"/>
                </a:lnTo>
                <a:cubicBezTo>
                  <a:pt x="17059" y="676275"/>
                  <a:pt x="0" y="659216"/>
                  <a:pt x="0" y="63817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9" name="Shape 47"/>
          <p:cNvSpPr/>
          <p:nvPr/>
        </p:nvSpPr>
        <p:spPr>
          <a:xfrm>
            <a:off x="6457950" y="47267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50" name="Shape 48"/>
          <p:cNvSpPr/>
          <p:nvPr/>
        </p:nvSpPr>
        <p:spPr>
          <a:xfrm>
            <a:off x="6584156" y="485060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953250" y="4726781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Chefs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53250" y="4993481"/>
            <a:ext cx="4657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Professionnels : nom, prénom, spécialité, niveau compétence, date embauche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43650" y="5367338"/>
            <a:ext cx="5314950" cy="676275"/>
          </a:xfrm>
          <a:custGeom>
            <a:avLst/>
            <a:gdLst/>
            <a:ahLst/>
            <a:cxnLst/>
            <a:rect l="l" t="t" r="r" b="b"/>
            <a:pathLst>
              <a:path w="5314950" h="676275">
                <a:moveTo>
                  <a:pt x="38101" y="0"/>
                </a:moveTo>
                <a:lnTo>
                  <a:pt x="5276849" y="0"/>
                </a:lnTo>
                <a:cubicBezTo>
                  <a:pt x="5297891" y="0"/>
                  <a:pt x="5314950" y="17059"/>
                  <a:pt x="5314950" y="38101"/>
                </a:cubicBezTo>
                <a:lnTo>
                  <a:pt x="5314950" y="638174"/>
                </a:lnTo>
                <a:cubicBezTo>
                  <a:pt x="5314950" y="659216"/>
                  <a:pt x="5297891" y="676275"/>
                  <a:pt x="5276849" y="676275"/>
                </a:cubicBezTo>
                <a:lnTo>
                  <a:pt x="38101" y="676275"/>
                </a:lnTo>
                <a:cubicBezTo>
                  <a:pt x="17059" y="676275"/>
                  <a:pt x="0" y="659216"/>
                  <a:pt x="0" y="63817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4" name="Shape 52"/>
          <p:cNvSpPr/>
          <p:nvPr/>
        </p:nvSpPr>
        <p:spPr>
          <a:xfrm>
            <a:off x="6457950" y="54816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5" name="Shape 53"/>
          <p:cNvSpPr/>
          <p:nvPr/>
        </p:nvSpPr>
        <p:spPr>
          <a:xfrm>
            <a:off x="6575822" y="5605463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0" y="25003"/>
                </a:moveTo>
                <a:cubicBezTo>
                  <a:pt x="0" y="15809"/>
                  <a:pt x="7475" y="8334"/>
                  <a:pt x="16669" y="8334"/>
                </a:cubicBezTo>
                <a:lnTo>
                  <a:pt x="91678" y="8334"/>
                </a:lnTo>
                <a:cubicBezTo>
                  <a:pt x="100872" y="8334"/>
                  <a:pt x="108347" y="15809"/>
                  <a:pt x="108347" y="25003"/>
                </a:cubicBezTo>
                <a:lnTo>
                  <a:pt x="108347" y="33337"/>
                </a:lnTo>
                <a:lnTo>
                  <a:pt x="121552" y="33337"/>
                </a:lnTo>
                <a:cubicBezTo>
                  <a:pt x="125979" y="33337"/>
                  <a:pt x="130225" y="35083"/>
                  <a:pt x="133350" y="38208"/>
                </a:cubicBezTo>
                <a:lnTo>
                  <a:pt x="145148" y="50006"/>
                </a:lnTo>
                <a:cubicBezTo>
                  <a:pt x="148274" y="53132"/>
                  <a:pt x="150019" y="57377"/>
                  <a:pt x="150019" y="61805"/>
                </a:cubicBezTo>
                <a:lnTo>
                  <a:pt x="150019" y="100013"/>
                </a:lnTo>
                <a:cubicBezTo>
                  <a:pt x="150019" y="109206"/>
                  <a:pt x="142544" y="116681"/>
                  <a:pt x="133350" y="116681"/>
                </a:cubicBezTo>
                <a:lnTo>
                  <a:pt x="132491" y="116681"/>
                </a:lnTo>
                <a:cubicBezTo>
                  <a:pt x="129782" y="126292"/>
                  <a:pt x="120927" y="133350"/>
                  <a:pt x="110430" y="133350"/>
                </a:cubicBezTo>
                <a:cubicBezTo>
                  <a:pt x="99934" y="133350"/>
                  <a:pt x="91105" y="126292"/>
                  <a:pt x="88370" y="116681"/>
                </a:cubicBezTo>
                <a:lnTo>
                  <a:pt x="61648" y="116681"/>
                </a:lnTo>
                <a:cubicBezTo>
                  <a:pt x="58940" y="126292"/>
                  <a:pt x="50084" y="133350"/>
                  <a:pt x="39588" y="133350"/>
                </a:cubicBezTo>
                <a:cubicBezTo>
                  <a:pt x="29092" y="133350"/>
                  <a:pt x="20263" y="126292"/>
                  <a:pt x="17528" y="116681"/>
                </a:cubicBezTo>
                <a:lnTo>
                  <a:pt x="16669" y="116681"/>
                </a:lnTo>
                <a:cubicBezTo>
                  <a:pt x="7475" y="116681"/>
                  <a:pt x="0" y="109206"/>
                  <a:pt x="0" y="100013"/>
                </a:cubicBezTo>
                <a:lnTo>
                  <a:pt x="0" y="25003"/>
                </a:lnTo>
                <a:close/>
                <a:moveTo>
                  <a:pt x="133350" y="75009"/>
                </a:moveTo>
                <a:lnTo>
                  <a:pt x="133350" y="61805"/>
                </a:lnTo>
                <a:lnTo>
                  <a:pt x="121552" y="50006"/>
                </a:lnTo>
                <a:lnTo>
                  <a:pt x="108347" y="50006"/>
                </a:lnTo>
                <a:lnTo>
                  <a:pt x="108347" y="75009"/>
                </a:lnTo>
                <a:lnTo>
                  <a:pt x="133350" y="75009"/>
                </a:lnTo>
                <a:close/>
                <a:moveTo>
                  <a:pt x="50006" y="110430"/>
                </a:moveTo>
                <a:cubicBezTo>
                  <a:pt x="50006" y="104681"/>
                  <a:pt x="45338" y="100013"/>
                  <a:pt x="39588" y="100013"/>
                </a:cubicBezTo>
                <a:cubicBezTo>
                  <a:pt x="33838" y="100013"/>
                  <a:pt x="29170" y="104681"/>
                  <a:pt x="29170" y="110430"/>
                </a:cubicBezTo>
                <a:cubicBezTo>
                  <a:pt x="29170" y="116180"/>
                  <a:pt x="33838" y="120848"/>
                  <a:pt x="39588" y="120848"/>
                </a:cubicBezTo>
                <a:cubicBezTo>
                  <a:pt x="45338" y="120848"/>
                  <a:pt x="50006" y="116180"/>
                  <a:pt x="50006" y="110430"/>
                </a:cubicBezTo>
                <a:close/>
                <a:moveTo>
                  <a:pt x="110430" y="120848"/>
                </a:moveTo>
                <a:cubicBezTo>
                  <a:pt x="116180" y="120848"/>
                  <a:pt x="120848" y="116180"/>
                  <a:pt x="120848" y="110430"/>
                </a:cubicBezTo>
                <a:cubicBezTo>
                  <a:pt x="120848" y="104681"/>
                  <a:pt x="116180" y="100013"/>
                  <a:pt x="110430" y="100013"/>
                </a:cubicBezTo>
                <a:cubicBezTo>
                  <a:pt x="104681" y="100013"/>
                  <a:pt x="100013" y="104681"/>
                  <a:pt x="100013" y="110430"/>
                </a:cubicBezTo>
                <a:cubicBezTo>
                  <a:pt x="100013" y="116180"/>
                  <a:pt x="104681" y="120848"/>
                  <a:pt x="110430" y="1208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953250" y="5481638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Fournisseurs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53250" y="5748338"/>
            <a:ext cx="4657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Entreprises : raison sociale, adresse, téléphone, email, spécialité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BESOINS ET RÈGLES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Besoins Fonctionnels et Règles de Gestion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90625"/>
            <a:ext cx="5699125" cy="3667125"/>
          </a:xfrm>
          <a:custGeom>
            <a:avLst/>
            <a:gdLst/>
            <a:ahLst/>
            <a:cxnLst/>
            <a:rect l="l" t="t" r="r" b="b"/>
            <a:pathLst>
              <a:path w="5699125" h="3667125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603610"/>
                </a:lnTo>
                <a:cubicBezTo>
                  <a:pt x="5699125" y="3638689"/>
                  <a:pt x="5670689" y="3667125"/>
                  <a:pt x="5635610" y="3667125"/>
                </a:cubicBezTo>
                <a:lnTo>
                  <a:pt x="63515" y="3667125"/>
                </a:lnTo>
                <a:cubicBezTo>
                  <a:pt x="28436" y="3667125"/>
                  <a:pt x="0" y="3638689"/>
                  <a:pt x="0" y="360361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19062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464344" y="1365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738188" y="1333500"/>
            <a:ext cx="134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Besoins Fonctionnels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" y="1651000"/>
            <a:ext cx="5445125" cy="563563"/>
          </a:xfrm>
          <a:custGeom>
            <a:avLst/>
            <a:gdLst/>
            <a:ahLst/>
            <a:cxnLst/>
            <a:rect l="l" t="t" r="r" b="b"/>
            <a:pathLst>
              <a:path w="5445125" h="563563">
                <a:moveTo>
                  <a:pt x="31751" y="0"/>
                </a:moveTo>
                <a:lnTo>
                  <a:pt x="5413374" y="0"/>
                </a:lnTo>
                <a:cubicBezTo>
                  <a:pt x="5430910" y="0"/>
                  <a:pt x="5445125" y="14215"/>
                  <a:pt x="5445125" y="31751"/>
                </a:cubicBezTo>
                <a:lnTo>
                  <a:pt x="5445125" y="531811"/>
                </a:lnTo>
                <a:cubicBezTo>
                  <a:pt x="5445125" y="549347"/>
                  <a:pt x="5430910" y="563563"/>
                  <a:pt x="54133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539750" y="1746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511969" y="174625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000" y="1746250"/>
            <a:ext cx="281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Ingrédients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" y="1968500"/>
            <a:ext cx="2809875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CRUD complet, recherche par catégorie/fournisseur/prix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500" y="2280047"/>
            <a:ext cx="5445125" cy="563563"/>
          </a:xfrm>
          <a:custGeom>
            <a:avLst/>
            <a:gdLst/>
            <a:ahLst/>
            <a:cxnLst/>
            <a:rect l="l" t="t" r="r" b="b"/>
            <a:pathLst>
              <a:path w="5445125" h="563563">
                <a:moveTo>
                  <a:pt x="31751" y="0"/>
                </a:moveTo>
                <a:lnTo>
                  <a:pt x="5413374" y="0"/>
                </a:lnTo>
                <a:cubicBezTo>
                  <a:pt x="5430910" y="0"/>
                  <a:pt x="5445125" y="14215"/>
                  <a:pt x="5445125" y="31751"/>
                </a:cubicBezTo>
                <a:lnTo>
                  <a:pt x="5445125" y="531811"/>
                </a:lnTo>
                <a:cubicBezTo>
                  <a:pt x="5445125" y="549347"/>
                  <a:pt x="5430910" y="563563"/>
                  <a:pt x="54133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750" y="237529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511969" y="2375297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9000" y="2375297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Recettes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9000" y="2597547"/>
            <a:ext cx="3230563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Fiches techniques, ingrédients et quantités, calcul coût de revient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4500" y="2909094"/>
            <a:ext cx="5445125" cy="563563"/>
          </a:xfrm>
          <a:custGeom>
            <a:avLst/>
            <a:gdLst/>
            <a:ahLst/>
            <a:cxnLst/>
            <a:rect l="l" t="t" r="r" b="b"/>
            <a:pathLst>
              <a:path w="5445125" h="563563">
                <a:moveTo>
                  <a:pt x="31751" y="0"/>
                </a:moveTo>
                <a:lnTo>
                  <a:pt x="5413374" y="0"/>
                </a:lnTo>
                <a:cubicBezTo>
                  <a:pt x="5430910" y="0"/>
                  <a:pt x="5445125" y="14215"/>
                  <a:pt x="5445125" y="31751"/>
                </a:cubicBezTo>
                <a:lnTo>
                  <a:pt x="5445125" y="531811"/>
                </a:lnTo>
                <a:cubicBezTo>
                  <a:pt x="5445125" y="549347"/>
                  <a:pt x="5430910" y="563563"/>
                  <a:pt x="54133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750" y="300434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511969" y="3004344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000" y="3004344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Menus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9000" y="3226594"/>
            <a:ext cx="31829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Composition par sélection de recettes, planification des services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4500" y="3538141"/>
            <a:ext cx="5445125" cy="563563"/>
          </a:xfrm>
          <a:custGeom>
            <a:avLst/>
            <a:gdLst/>
            <a:ahLst/>
            <a:cxnLst/>
            <a:rect l="l" t="t" r="r" b="b"/>
            <a:pathLst>
              <a:path w="5445125" h="563563">
                <a:moveTo>
                  <a:pt x="31751" y="0"/>
                </a:moveTo>
                <a:lnTo>
                  <a:pt x="5413374" y="0"/>
                </a:lnTo>
                <a:cubicBezTo>
                  <a:pt x="5430910" y="0"/>
                  <a:pt x="5445125" y="14215"/>
                  <a:pt x="5445125" y="31751"/>
                </a:cubicBezTo>
                <a:lnTo>
                  <a:pt x="5445125" y="531811"/>
                </a:lnTo>
                <a:cubicBezTo>
                  <a:pt x="5445125" y="549347"/>
                  <a:pt x="5430910" y="563563"/>
                  <a:pt x="54133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39750" y="363339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6" name="Text 24"/>
          <p:cNvSpPr/>
          <p:nvPr/>
        </p:nvSpPr>
        <p:spPr>
          <a:xfrm>
            <a:off x="511969" y="363339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9000" y="3633391"/>
            <a:ext cx="293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Stocks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9000" y="3855641"/>
            <a:ext cx="29289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Suivi niveaux, entrées/sorties, alertes réapprovisionnement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500" y="4167188"/>
            <a:ext cx="5445125" cy="563563"/>
          </a:xfrm>
          <a:custGeom>
            <a:avLst/>
            <a:gdLst/>
            <a:ahLst/>
            <a:cxnLst/>
            <a:rect l="l" t="t" r="r" b="b"/>
            <a:pathLst>
              <a:path w="5445125" h="563563">
                <a:moveTo>
                  <a:pt x="31751" y="0"/>
                </a:moveTo>
                <a:lnTo>
                  <a:pt x="5413374" y="0"/>
                </a:lnTo>
                <a:cubicBezTo>
                  <a:pt x="5430910" y="0"/>
                  <a:pt x="5445125" y="14215"/>
                  <a:pt x="5445125" y="31751"/>
                </a:cubicBezTo>
                <a:lnTo>
                  <a:pt x="5445125" y="531811"/>
                </a:lnTo>
                <a:cubicBezTo>
                  <a:pt x="5445125" y="549347"/>
                  <a:pt x="5430910" y="563563"/>
                  <a:pt x="5413374" y="563562"/>
                </a:cubicBezTo>
                <a:lnTo>
                  <a:pt x="31751" y="563563"/>
                </a:lnTo>
                <a:cubicBezTo>
                  <a:pt x="14215" y="563562"/>
                  <a:pt x="0" y="549347"/>
                  <a:pt x="0" y="531811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539750" y="42624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1" name="Text 29"/>
          <p:cNvSpPr/>
          <p:nvPr/>
        </p:nvSpPr>
        <p:spPr>
          <a:xfrm>
            <a:off x="511969" y="4262438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9000" y="4262438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Fournisseurs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9000" y="4484688"/>
            <a:ext cx="2587625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Référentiel fournisseurs, historique des commandes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7500" y="4986734"/>
            <a:ext cx="5699125" cy="2190750"/>
          </a:xfrm>
          <a:custGeom>
            <a:avLst/>
            <a:gdLst/>
            <a:ahLst/>
            <a:cxnLst/>
            <a:rect l="l" t="t" r="r" b="b"/>
            <a:pathLst>
              <a:path w="5699125" h="2190750">
                <a:moveTo>
                  <a:pt x="63510" y="0"/>
                </a:moveTo>
                <a:lnTo>
                  <a:pt x="5635615" y="0"/>
                </a:lnTo>
                <a:cubicBezTo>
                  <a:pt x="5670691" y="0"/>
                  <a:pt x="5699125" y="28434"/>
                  <a:pt x="5699125" y="63510"/>
                </a:cubicBezTo>
                <a:lnTo>
                  <a:pt x="5699125" y="2127240"/>
                </a:lnTo>
                <a:cubicBezTo>
                  <a:pt x="5699125" y="2162316"/>
                  <a:pt x="5670691" y="2190750"/>
                  <a:pt x="5635615" y="2190750"/>
                </a:cubicBezTo>
                <a:lnTo>
                  <a:pt x="63510" y="2190750"/>
                </a:lnTo>
                <a:cubicBezTo>
                  <a:pt x="28434" y="2190750"/>
                  <a:pt x="0" y="2162316"/>
                  <a:pt x="0" y="2127240"/>
                </a:cubicBezTo>
                <a:lnTo>
                  <a:pt x="0" y="63510"/>
                </a:lnTo>
                <a:cubicBezTo>
                  <a:pt x="0" y="28434"/>
                  <a:pt x="28434" y="0"/>
                  <a:pt x="6351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5" name="Shape 33"/>
          <p:cNvSpPr/>
          <p:nvPr/>
        </p:nvSpPr>
        <p:spPr>
          <a:xfrm>
            <a:off x="464344" y="514548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6" name="Text 34"/>
          <p:cNvSpPr/>
          <p:nvPr/>
        </p:nvSpPr>
        <p:spPr>
          <a:xfrm>
            <a:off x="738188" y="5113734"/>
            <a:ext cx="199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Contraintes Non-Fonctionnelles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4500" y="5431234"/>
            <a:ext cx="2674938" cy="762000"/>
          </a:xfrm>
          <a:custGeom>
            <a:avLst/>
            <a:gdLst/>
            <a:ahLst/>
            <a:cxnLst/>
            <a:rect l="l" t="t" r="r" b="b"/>
            <a:pathLst>
              <a:path w="2674938" h="762000">
                <a:moveTo>
                  <a:pt x="31753" y="0"/>
                </a:moveTo>
                <a:lnTo>
                  <a:pt x="2643185" y="0"/>
                </a:lnTo>
                <a:cubicBezTo>
                  <a:pt x="2660721" y="0"/>
                  <a:pt x="2674938" y="14216"/>
                  <a:pt x="2674938" y="31753"/>
                </a:cubicBezTo>
                <a:lnTo>
                  <a:pt x="2674938" y="730247"/>
                </a:lnTo>
                <a:cubicBezTo>
                  <a:pt x="2674938" y="747784"/>
                  <a:pt x="2660721" y="762000"/>
                  <a:pt x="26431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686719" y="55264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9" name="Text 37"/>
          <p:cNvSpPr/>
          <p:nvPr/>
        </p:nvSpPr>
        <p:spPr>
          <a:xfrm>
            <a:off x="511969" y="5780484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5938" y="5970984"/>
            <a:ext cx="2532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Requêtes &lt; 2 secondes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14688" y="5431234"/>
            <a:ext cx="2674938" cy="762000"/>
          </a:xfrm>
          <a:custGeom>
            <a:avLst/>
            <a:gdLst/>
            <a:ahLst/>
            <a:cxnLst/>
            <a:rect l="l" t="t" r="r" b="b"/>
            <a:pathLst>
              <a:path w="2674938" h="762000">
                <a:moveTo>
                  <a:pt x="31753" y="0"/>
                </a:moveTo>
                <a:lnTo>
                  <a:pt x="2643185" y="0"/>
                </a:lnTo>
                <a:cubicBezTo>
                  <a:pt x="2660721" y="0"/>
                  <a:pt x="2674938" y="14216"/>
                  <a:pt x="2674938" y="31753"/>
                </a:cubicBezTo>
                <a:lnTo>
                  <a:pt x="2674938" y="730247"/>
                </a:lnTo>
                <a:cubicBezTo>
                  <a:pt x="2674938" y="747784"/>
                  <a:pt x="2660721" y="762000"/>
                  <a:pt x="26431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456906" y="55264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3" name="Text 41"/>
          <p:cNvSpPr/>
          <p:nvPr/>
        </p:nvSpPr>
        <p:spPr>
          <a:xfrm>
            <a:off x="3282156" y="5780484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Disponibilité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286125" y="5970984"/>
            <a:ext cx="2532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12h/jour, 6j/7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4500" y="6288484"/>
            <a:ext cx="2674938" cy="762000"/>
          </a:xfrm>
          <a:custGeom>
            <a:avLst/>
            <a:gdLst/>
            <a:ahLst/>
            <a:cxnLst/>
            <a:rect l="l" t="t" r="r" b="b"/>
            <a:pathLst>
              <a:path w="2674938" h="762000">
                <a:moveTo>
                  <a:pt x="31753" y="0"/>
                </a:moveTo>
                <a:lnTo>
                  <a:pt x="2643185" y="0"/>
                </a:lnTo>
                <a:cubicBezTo>
                  <a:pt x="2660721" y="0"/>
                  <a:pt x="2674938" y="14216"/>
                  <a:pt x="2674938" y="31753"/>
                </a:cubicBezTo>
                <a:lnTo>
                  <a:pt x="2674938" y="730247"/>
                </a:lnTo>
                <a:cubicBezTo>
                  <a:pt x="2674938" y="747784"/>
                  <a:pt x="2660721" y="762000"/>
                  <a:pt x="26431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710531" y="638373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7" name="Text 45"/>
          <p:cNvSpPr/>
          <p:nvPr/>
        </p:nvSpPr>
        <p:spPr>
          <a:xfrm>
            <a:off x="511969" y="6637734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5938" y="6828234"/>
            <a:ext cx="2532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Authentification requise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14688" y="6288484"/>
            <a:ext cx="2674938" cy="762000"/>
          </a:xfrm>
          <a:custGeom>
            <a:avLst/>
            <a:gdLst/>
            <a:ahLst/>
            <a:cxnLst/>
            <a:rect l="l" t="t" r="r" b="b"/>
            <a:pathLst>
              <a:path w="2674938" h="762000">
                <a:moveTo>
                  <a:pt x="31753" y="0"/>
                </a:moveTo>
                <a:lnTo>
                  <a:pt x="2643185" y="0"/>
                </a:lnTo>
                <a:cubicBezTo>
                  <a:pt x="2660721" y="0"/>
                  <a:pt x="2674938" y="14216"/>
                  <a:pt x="2674938" y="31753"/>
                </a:cubicBezTo>
                <a:lnTo>
                  <a:pt x="2674938" y="730247"/>
                </a:lnTo>
                <a:cubicBezTo>
                  <a:pt x="2674938" y="747784"/>
                  <a:pt x="2660721" y="762000"/>
                  <a:pt x="2643185" y="762000"/>
                </a:cubicBezTo>
                <a:lnTo>
                  <a:pt x="31753" y="762000"/>
                </a:lnTo>
                <a:cubicBezTo>
                  <a:pt x="14216" y="762000"/>
                  <a:pt x="0" y="747784"/>
                  <a:pt x="0" y="730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4468813" y="638373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1" name="Text 49"/>
          <p:cNvSpPr/>
          <p:nvPr/>
        </p:nvSpPr>
        <p:spPr>
          <a:xfrm>
            <a:off x="3282156" y="6637734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Évolutivité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286125" y="6828234"/>
            <a:ext cx="2532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Nouvelles fonctionnalités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5375" y="1190625"/>
            <a:ext cx="5699125" cy="5984875"/>
          </a:xfrm>
          <a:custGeom>
            <a:avLst/>
            <a:gdLst/>
            <a:ahLst/>
            <a:cxnLst/>
            <a:rect l="l" t="t" r="r" b="b"/>
            <a:pathLst>
              <a:path w="5699125" h="5984875">
                <a:moveTo>
                  <a:pt x="31750" y="0"/>
                </a:moveTo>
                <a:lnTo>
                  <a:pt x="5667375" y="0"/>
                </a:lnTo>
                <a:cubicBezTo>
                  <a:pt x="5684910" y="0"/>
                  <a:pt x="5699125" y="14215"/>
                  <a:pt x="5699125" y="31750"/>
                </a:cubicBezTo>
                <a:lnTo>
                  <a:pt x="5699125" y="5921387"/>
                </a:lnTo>
                <a:cubicBezTo>
                  <a:pt x="5699125" y="5956450"/>
                  <a:pt x="5670700" y="5984875"/>
                  <a:pt x="5635637" y="5984875"/>
                </a:cubicBezTo>
                <a:lnTo>
                  <a:pt x="63488" y="5984875"/>
                </a:lnTo>
                <a:cubicBezTo>
                  <a:pt x="28425" y="5984875"/>
                  <a:pt x="0" y="5956450"/>
                  <a:pt x="0" y="5921387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75375" y="119062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5" name="Shape 53"/>
          <p:cNvSpPr/>
          <p:nvPr/>
        </p:nvSpPr>
        <p:spPr>
          <a:xfrm>
            <a:off x="6312297" y="13652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2586" y="47563"/>
                </a:moveTo>
                <a:lnTo>
                  <a:pt x="46788" y="41765"/>
                </a:lnTo>
                <a:cubicBezTo>
                  <a:pt x="42912" y="37889"/>
                  <a:pt x="42912" y="31595"/>
                  <a:pt x="46788" y="27719"/>
                </a:cubicBezTo>
                <a:lnTo>
                  <a:pt x="82352" y="-7875"/>
                </a:lnTo>
                <a:cubicBezTo>
                  <a:pt x="86227" y="-11751"/>
                  <a:pt x="92521" y="-11751"/>
                  <a:pt x="96397" y="-7875"/>
                </a:cubicBezTo>
                <a:lnTo>
                  <a:pt x="102195" y="-2046"/>
                </a:lnTo>
                <a:cubicBezTo>
                  <a:pt x="106071" y="1829"/>
                  <a:pt x="106071" y="8124"/>
                  <a:pt x="102195" y="11999"/>
                </a:cubicBezTo>
                <a:lnTo>
                  <a:pt x="66632" y="47563"/>
                </a:lnTo>
                <a:cubicBezTo>
                  <a:pt x="62756" y="51439"/>
                  <a:pt x="56462" y="51439"/>
                  <a:pt x="52586" y="47563"/>
                </a:cubicBezTo>
                <a:close/>
                <a:moveTo>
                  <a:pt x="85576" y="65639"/>
                </a:moveTo>
                <a:lnTo>
                  <a:pt x="75840" y="55904"/>
                </a:lnTo>
                <a:lnTo>
                  <a:pt x="110567" y="21177"/>
                </a:lnTo>
                <a:lnTo>
                  <a:pt x="147588" y="58198"/>
                </a:lnTo>
                <a:lnTo>
                  <a:pt x="112861" y="92925"/>
                </a:lnTo>
                <a:lnTo>
                  <a:pt x="103125" y="83189"/>
                </a:lnTo>
                <a:lnTo>
                  <a:pt x="31192" y="155122"/>
                </a:lnTo>
                <a:cubicBezTo>
                  <a:pt x="26355" y="159959"/>
                  <a:pt x="18510" y="159959"/>
                  <a:pt x="13643" y="155122"/>
                </a:cubicBezTo>
                <a:cubicBezTo>
                  <a:pt x="8775" y="150285"/>
                  <a:pt x="8806" y="142441"/>
                  <a:pt x="13643" y="137573"/>
                </a:cubicBezTo>
                <a:lnTo>
                  <a:pt x="85576" y="65639"/>
                </a:lnTo>
                <a:close/>
                <a:moveTo>
                  <a:pt x="121202" y="116148"/>
                </a:moveTo>
                <a:cubicBezTo>
                  <a:pt x="117326" y="112272"/>
                  <a:pt x="117326" y="105978"/>
                  <a:pt x="121202" y="102102"/>
                </a:cubicBezTo>
                <a:lnTo>
                  <a:pt x="156766" y="66539"/>
                </a:lnTo>
                <a:cubicBezTo>
                  <a:pt x="160641" y="62663"/>
                  <a:pt x="166936" y="62663"/>
                  <a:pt x="170811" y="66539"/>
                </a:cubicBezTo>
                <a:lnTo>
                  <a:pt x="176609" y="72337"/>
                </a:lnTo>
                <a:cubicBezTo>
                  <a:pt x="180485" y="76212"/>
                  <a:pt x="180485" y="82507"/>
                  <a:pt x="176609" y="86382"/>
                </a:cubicBezTo>
                <a:lnTo>
                  <a:pt x="141046" y="121977"/>
                </a:lnTo>
                <a:cubicBezTo>
                  <a:pt x="137170" y="125853"/>
                  <a:pt x="130876" y="125853"/>
                  <a:pt x="127000" y="121977"/>
                </a:cubicBezTo>
                <a:lnTo>
                  <a:pt x="121202" y="116179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6" name="Text 54"/>
          <p:cNvSpPr/>
          <p:nvPr/>
        </p:nvSpPr>
        <p:spPr>
          <a:xfrm>
            <a:off x="6596063" y="1333500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Règles de Gestion (RG)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18250" y="1682750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8" name="Shape 56"/>
          <p:cNvSpPr/>
          <p:nvPr/>
        </p:nvSpPr>
        <p:spPr>
          <a:xfrm>
            <a:off x="6318250" y="168275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59" name="Shape 57"/>
          <p:cNvSpPr/>
          <p:nvPr/>
        </p:nvSpPr>
        <p:spPr>
          <a:xfrm>
            <a:off x="6461125" y="1809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60" name="Text 58"/>
          <p:cNvSpPr/>
          <p:nvPr/>
        </p:nvSpPr>
        <p:spPr>
          <a:xfrm>
            <a:off x="6433344" y="1809750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73875" y="1809750"/>
            <a:ext cx="4492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Chaque ingrédient</a:t>
            </a:r>
            <a:r>
              <a:rPr lang="en-US" sz="10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possède un code unique et appartient à une seule catégorie.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18250" y="2349500"/>
            <a:ext cx="5429250" cy="666750"/>
          </a:xfrm>
          <a:custGeom>
            <a:avLst/>
            <a:gdLst/>
            <a:ahLst/>
            <a:cxnLst/>
            <a:rect l="l" t="t" r="r" b="b"/>
            <a:pathLst>
              <a:path w="5429250" h="666750">
                <a:moveTo>
                  <a:pt x="31750" y="0"/>
                </a:moveTo>
                <a:lnTo>
                  <a:pt x="5397499" y="0"/>
                </a:lnTo>
                <a:cubicBezTo>
                  <a:pt x="5415035" y="0"/>
                  <a:pt x="5429250" y="14215"/>
                  <a:pt x="5429250" y="31751"/>
                </a:cubicBezTo>
                <a:lnTo>
                  <a:pt x="5429250" y="634999"/>
                </a:lnTo>
                <a:cubicBezTo>
                  <a:pt x="5429250" y="652535"/>
                  <a:pt x="5415035" y="666750"/>
                  <a:pt x="5397499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3" name="Shape 61"/>
          <p:cNvSpPr/>
          <p:nvPr/>
        </p:nvSpPr>
        <p:spPr>
          <a:xfrm>
            <a:off x="6318250" y="234950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64" name="Shape 62"/>
          <p:cNvSpPr/>
          <p:nvPr/>
        </p:nvSpPr>
        <p:spPr>
          <a:xfrm>
            <a:off x="6461125" y="2476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65" name="Text 63"/>
          <p:cNvSpPr/>
          <p:nvPr/>
        </p:nvSpPr>
        <p:spPr>
          <a:xfrm>
            <a:off x="6433344" y="2476500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73875" y="2476500"/>
            <a:ext cx="4810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 recette</a:t>
            </a:r>
            <a:r>
              <a:rPr lang="en-US" sz="10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est composée d'au moins un ingrédient et peut être utilisée dans plusieurs menus.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18250" y="3111500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8" name="Shape 66"/>
          <p:cNvSpPr/>
          <p:nvPr/>
        </p:nvSpPr>
        <p:spPr>
          <a:xfrm>
            <a:off x="6318250" y="311150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9" name="Shape 67"/>
          <p:cNvSpPr/>
          <p:nvPr/>
        </p:nvSpPr>
        <p:spPr>
          <a:xfrm>
            <a:off x="6461125" y="3238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0" name="Text 68"/>
          <p:cNvSpPr/>
          <p:nvPr/>
        </p:nvSpPr>
        <p:spPr>
          <a:xfrm>
            <a:off x="6433344" y="3238500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RG3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873875" y="3238500"/>
            <a:ext cx="4270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 menu</a:t>
            </a:r>
            <a:r>
              <a:rPr lang="en-US" sz="10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contient au moins une recette et est associé à une date de service.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18250" y="3778250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3" name="Shape 71"/>
          <p:cNvSpPr/>
          <p:nvPr/>
        </p:nvSpPr>
        <p:spPr>
          <a:xfrm>
            <a:off x="6318250" y="377825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4" name="Shape 72"/>
          <p:cNvSpPr/>
          <p:nvPr/>
        </p:nvSpPr>
        <p:spPr>
          <a:xfrm>
            <a:off x="6461125" y="3905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5" name="Text 73"/>
          <p:cNvSpPr/>
          <p:nvPr/>
        </p:nvSpPr>
        <p:spPr>
          <a:xfrm>
            <a:off x="6433344" y="3905250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RG4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873875" y="3905250"/>
            <a:ext cx="40163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 chef</a:t>
            </a:r>
            <a:r>
              <a:rPr lang="en-US" sz="10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peut être responsable de plusieurs recettes selon sa spécialité.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318250" y="4445000"/>
            <a:ext cx="5429250" cy="666750"/>
          </a:xfrm>
          <a:custGeom>
            <a:avLst/>
            <a:gdLst/>
            <a:ahLst/>
            <a:cxnLst/>
            <a:rect l="l" t="t" r="r" b="b"/>
            <a:pathLst>
              <a:path w="5429250" h="666750">
                <a:moveTo>
                  <a:pt x="31750" y="0"/>
                </a:moveTo>
                <a:lnTo>
                  <a:pt x="5397499" y="0"/>
                </a:lnTo>
                <a:cubicBezTo>
                  <a:pt x="5415035" y="0"/>
                  <a:pt x="5429250" y="14215"/>
                  <a:pt x="5429250" y="31751"/>
                </a:cubicBezTo>
                <a:lnTo>
                  <a:pt x="5429250" y="634999"/>
                </a:lnTo>
                <a:cubicBezTo>
                  <a:pt x="5429250" y="652535"/>
                  <a:pt x="5415035" y="666750"/>
                  <a:pt x="5397499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8" name="Shape 76"/>
          <p:cNvSpPr/>
          <p:nvPr/>
        </p:nvSpPr>
        <p:spPr>
          <a:xfrm>
            <a:off x="6318250" y="4445000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79" name="Shape 77"/>
          <p:cNvSpPr/>
          <p:nvPr/>
        </p:nvSpPr>
        <p:spPr>
          <a:xfrm>
            <a:off x="6461125" y="4572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0" name="Text 78"/>
          <p:cNvSpPr/>
          <p:nvPr/>
        </p:nvSpPr>
        <p:spPr>
          <a:xfrm>
            <a:off x="6433344" y="4572000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RG5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873875" y="4572000"/>
            <a:ext cx="4810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 fournisseur</a:t>
            </a:r>
            <a:r>
              <a:rPr lang="en-US" sz="10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peut fournir plusieurs ingrédients, mais chaque ingrédient a un fournisseur principal.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318250" y="5207000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3" name="Shape 81"/>
          <p:cNvSpPr/>
          <p:nvPr/>
        </p:nvSpPr>
        <p:spPr>
          <a:xfrm>
            <a:off x="6318250" y="520700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84" name="Shape 82"/>
          <p:cNvSpPr/>
          <p:nvPr/>
        </p:nvSpPr>
        <p:spPr>
          <a:xfrm>
            <a:off x="6461125" y="5334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85" name="Text 83"/>
          <p:cNvSpPr/>
          <p:nvPr/>
        </p:nvSpPr>
        <p:spPr>
          <a:xfrm>
            <a:off x="6433344" y="5334000"/>
            <a:ext cx="37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RG6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873875" y="5334000"/>
            <a:ext cx="3563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quantité en stock</a:t>
            </a:r>
            <a:r>
              <a:rPr lang="en-US" sz="10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d'un ingrédient ne peut pas être négative.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-images.visual-paradigm.com/2ebffade99a6dedbd0795ff6a004928fa795c36e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015" b="201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2C528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05917"/>
            <a:ext cx="1474470" cy="388620"/>
          </a:xfrm>
          <a:custGeom>
            <a:avLst/>
            <a:gdLst/>
            <a:ahLst/>
            <a:cxnLst/>
            <a:rect l="l" t="t" r="r" b="b"/>
            <a:pathLst>
              <a:path w="1474470" h="388620">
                <a:moveTo>
                  <a:pt x="38100" y="0"/>
                </a:moveTo>
                <a:lnTo>
                  <a:pt x="1436370" y="0"/>
                </a:lnTo>
                <a:cubicBezTo>
                  <a:pt x="1457412" y="0"/>
                  <a:pt x="1474470" y="17058"/>
                  <a:pt x="1474470" y="38100"/>
                </a:cubicBezTo>
                <a:lnTo>
                  <a:pt x="1474470" y="350520"/>
                </a:lnTo>
                <a:cubicBezTo>
                  <a:pt x="1474470" y="371562"/>
                  <a:pt x="1457412" y="388620"/>
                  <a:pt x="143637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>
              <a:alpha val="20000"/>
            </a:srgbClr>
          </a:solidFill>
          <a:ln w="10160">
            <a:solidFill>
              <a:srgbClr val="C6A8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68592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CHAPITRE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694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Dictionnaire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des Données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004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1294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 exhaustive des entités,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attributs et associations du système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DES DONNÉES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Dictionnaire des Données : Entités et Associations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58875"/>
            <a:ext cx="3770313" cy="2278063"/>
          </a:xfrm>
          <a:custGeom>
            <a:avLst/>
            <a:gdLst/>
            <a:ahLst/>
            <a:cxnLst/>
            <a:rect l="l" t="t" r="r" b="b"/>
            <a:pathLst>
              <a:path w="3770313" h="2278063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4215"/>
                  <a:pt x="3770313" y="31750"/>
                </a:cubicBezTo>
                <a:lnTo>
                  <a:pt x="3770313" y="2214573"/>
                </a:lnTo>
                <a:cubicBezTo>
                  <a:pt x="3770313" y="2249637"/>
                  <a:pt x="3741887" y="2278063"/>
                  <a:pt x="3706823" y="2278063"/>
                </a:cubicBezTo>
                <a:lnTo>
                  <a:pt x="63490" y="2278063"/>
                </a:lnTo>
                <a:cubicBezTo>
                  <a:pt x="28425" y="2278063"/>
                  <a:pt x="0" y="2249637"/>
                  <a:pt x="0" y="221457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158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412750" y="1301750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112390" y="-9103"/>
                </a:moveTo>
                <a:lnTo>
                  <a:pt x="109364" y="-6102"/>
                </a:lnTo>
                <a:cubicBezTo>
                  <a:pt x="101625" y="1637"/>
                  <a:pt x="101625" y="14213"/>
                  <a:pt x="109364" y="21952"/>
                </a:cubicBezTo>
                <a:cubicBezTo>
                  <a:pt x="113233" y="25822"/>
                  <a:pt x="117103" y="29691"/>
                  <a:pt x="120997" y="33586"/>
                </a:cubicBezTo>
                <a:cubicBezTo>
                  <a:pt x="128736" y="41325"/>
                  <a:pt x="141312" y="41325"/>
                  <a:pt x="149051" y="33586"/>
                </a:cubicBezTo>
                <a:lnTo>
                  <a:pt x="152053" y="30584"/>
                </a:lnTo>
                <a:cubicBezTo>
                  <a:pt x="153591" y="29046"/>
                  <a:pt x="153591" y="26516"/>
                  <a:pt x="152053" y="24978"/>
                </a:cubicBezTo>
                <a:lnTo>
                  <a:pt x="149051" y="21977"/>
                </a:lnTo>
                <a:cubicBezTo>
                  <a:pt x="141312" y="14238"/>
                  <a:pt x="128736" y="14238"/>
                  <a:pt x="120997" y="21977"/>
                </a:cubicBezTo>
                <a:cubicBezTo>
                  <a:pt x="128736" y="14238"/>
                  <a:pt x="128736" y="1662"/>
                  <a:pt x="120997" y="-6077"/>
                </a:cubicBezTo>
                <a:lnTo>
                  <a:pt x="117996" y="-9103"/>
                </a:lnTo>
                <a:cubicBezTo>
                  <a:pt x="116458" y="-10641"/>
                  <a:pt x="113928" y="-10641"/>
                  <a:pt x="112390" y="-9103"/>
                </a:cubicBezTo>
                <a:close/>
                <a:moveTo>
                  <a:pt x="82252" y="23812"/>
                </a:moveTo>
                <a:cubicBezTo>
                  <a:pt x="71041" y="23812"/>
                  <a:pt x="60647" y="28873"/>
                  <a:pt x="53727" y="37281"/>
                </a:cubicBezTo>
                <a:lnTo>
                  <a:pt x="67791" y="51346"/>
                </a:lnTo>
                <a:cubicBezTo>
                  <a:pt x="70123" y="53677"/>
                  <a:pt x="70123" y="57448"/>
                  <a:pt x="67791" y="59754"/>
                </a:cubicBezTo>
                <a:cubicBezTo>
                  <a:pt x="65460" y="62061"/>
                  <a:pt x="61689" y="62086"/>
                  <a:pt x="59382" y="59754"/>
                </a:cubicBezTo>
                <a:lnTo>
                  <a:pt x="47526" y="47923"/>
                </a:lnTo>
                <a:lnTo>
                  <a:pt x="16669" y="115788"/>
                </a:lnTo>
                <a:cubicBezTo>
                  <a:pt x="15304" y="118790"/>
                  <a:pt x="15949" y="122337"/>
                  <a:pt x="18281" y="124693"/>
                </a:cubicBezTo>
                <a:cubicBezTo>
                  <a:pt x="20613" y="127050"/>
                  <a:pt x="24160" y="127670"/>
                  <a:pt x="27186" y="126305"/>
                </a:cubicBezTo>
                <a:lnTo>
                  <a:pt x="62309" y="110331"/>
                </a:lnTo>
                <a:lnTo>
                  <a:pt x="51445" y="99467"/>
                </a:lnTo>
                <a:cubicBezTo>
                  <a:pt x="49113" y="97135"/>
                  <a:pt x="49113" y="93365"/>
                  <a:pt x="51445" y="91058"/>
                </a:cubicBezTo>
                <a:cubicBezTo>
                  <a:pt x="53777" y="88751"/>
                  <a:pt x="57547" y="88726"/>
                  <a:pt x="59854" y="91058"/>
                </a:cubicBezTo>
                <a:lnTo>
                  <a:pt x="73868" y="105073"/>
                </a:lnTo>
                <a:lnTo>
                  <a:pt x="97507" y="94332"/>
                </a:lnTo>
                <a:cubicBezTo>
                  <a:pt x="110679" y="88354"/>
                  <a:pt x="119137" y="75208"/>
                  <a:pt x="119137" y="60722"/>
                </a:cubicBezTo>
                <a:cubicBezTo>
                  <a:pt x="119137" y="40332"/>
                  <a:pt x="102617" y="23812"/>
                  <a:pt x="82228" y="23812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" y="1270000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INGREDIENT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2750" y="1524000"/>
          <a:ext cx="3579813" cy="1817688"/>
        </p:xfrm>
        <a:graphic>
          <a:graphicData uri="http://schemas.openxmlformats.org/drawingml/2006/table">
            <a:tbl>
              <a:tblPr/>
              <a:tblGrid>
                <a:gridCol w="1484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211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11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CODE_ING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(5)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211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NOM_ING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(50)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211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CAT_ING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(30)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211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UNITE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(10)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211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PRIX_UNIT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(10,2)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211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QTE_STOCK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(10,2)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211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SEUIL_MIN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(10,2)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7"/>
          <p:cNvSpPr/>
          <p:nvPr/>
        </p:nvSpPr>
        <p:spPr>
          <a:xfrm>
            <a:off x="4212167" y="1158875"/>
            <a:ext cx="3770313" cy="2278063"/>
          </a:xfrm>
          <a:custGeom>
            <a:avLst/>
            <a:gdLst/>
            <a:ahLst/>
            <a:cxnLst/>
            <a:rect l="l" t="t" r="r" b="b"/>
            <a:pathLst>
              <a:path w="3770313" h="2278063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4215"/>
                  <a:pt x="3770313" y="31750"/>
                </a:cubicBezTo>
                <a:lnTo>
                  <a:pt x="3770313" y="2214573"/>
                </a:lnTo>
                <a:cubicBezTo>
                  <a:pt x="3770313" y="2249637"/>
                  <a:pt x="3741887" y="2278063"/>
                  <a:pt x="3706823" y="2278063"/>
                </a:cubicBezTo>
                <a:lnTo>
                  <a:pt x="63490" y="2278063"/>
                </a:lnTo>
                <a:cubicBezTo>
                  <a:pt x="28425" y="2278063"/>
                  <a:pt x="0" y="2249637"/>
                  <a:pt x="0" y="221457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12167" y="1158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2" name="Shape 9"/>
          <p:cNvSpPr/>
          <p:nvPr/>
        </p:nvSpPr>
        <p:spPr>
          <a:xfrm>
            <a:off x="4323292" y="1301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35049"/>
                </a:moveTo>
                <a:lnTo>
                  <a:pt x="63500" y="111770"/>
                </a:lnTo>
                <a:lnTo>
                  <a:pt x="63624" y="111720"/>
                </a:lnTo>
                <a:cubicBezTo>
                  <a:pt x="77167" y="106090"/>
                  <a:pt x="91703" y="103188"/>
                  <a:pt x="106363" y="103188"/>
                </a:cubicBezTo>
                <a:lnTo>
                  <a:pt x="111125" y="103188"/>
                </a:lnTo>
                <a:lnTo>
                  <a:pt x="111125" y="23812"/>
                </a:lnTo>
                <a:lnTo>
                  <a:pt x="106363" y="23812"/>
                </a:lnTo>
                <a:cubicBezTo>
                  <a:pt x="95895" y="23812"/>
                  <a:pt x="85502" y="25896"/>
                  <a:pt x="75828" y="29914"/>
                </a:cubicBezTo>
                <a:cubicBezTo>
                  <a:pt x="71661" y="31651"/>
                  <a:pt x="67543" y="33362"/>
                  <a:pt x="63500" y="35049"/>
                </a:cubicBezTo>
                <a:close/>
                <a:moveTo>
                  <a:pt x="57274" y="15255"/>
                </a:moveTo>
                <a:lnTo>
                  <a:pt x="63500" y="17859"/>
                </a:lnTo>
                <a:lnTo>
                  <a:pt x="69726" y="15255"/>
                </a:lnTo>
                <a:cubicBezTo>
                  <a:pt x="81335" y="10418"/>
                  <a:pt x="93787" y="7938"/>
                  <a:pt x="106363" y="7938"/>
                </a:cubicBezTo>
                <a:lnTo>
                  <a:pt x="115094" y="7938"/>
                </a:lnTo>
                <a:cubicBezTo>
                  <a:pt x="121667" y="7938"/>
                  <a:pt x="127000" y="13271"/>
                  <a:pt x="127000" y="19844"/>
                </a:cubicBezTo>
                <a:lnTo>
                  <a:pt x="127000" y="107156"/>
                </a:lnTo>
                <a:cubicBezTo>
                  <a:pt x="127000" y="113729"/>
                  <a:pt x="121667" y="119063"/>
                  <a:pt x="115094" y="119063"/>
                </a:cubicBezTo>
                <a:lnTo>
                  <a:pt x="106363" y="119063"/>
                </a:lnTo>
                <a:cubicBezTo>
                  <a:pt x="93787" y="119063"/>
                  <a:pt x="81335" y="121543"/>
                  <a:pt x="69726" y="126380"/>
                </a:cubicBezTo>
                <a:lnTo>
                  <a:pt x="66551" y="127695"/>
                </a:lnTo>
                <a:cubicBezTo>
                  <a:pt x="64591" y="128513"/>
                  <a:pt x="62409" y="128513"/>
                  <a:pt x="60449" y="127695"/>
                </a:cubicBezTo>
                <a:lnTo>
                  <a:pt x="57274" y="126380"/>
                </a:lnTo>
                <a:cubicBezTo>
                  <a:pt x="45665" y="121543"/>
                  <a:pt x="33213" y="119063"/>
                  <a:pt x="20638" y="119063"/>
                </a:cubicBezTo>
                <a:lnTo>
                  <a:pt x="11906" y="119063"/>
                </a:lnTo>
                <a:cubicBezTo>
                  <a:pt x="5333" y="119063"/>
                  <a:pt x="0" y="113729"/>
                  <a:pt x="0" y="107156"/>
                </a:cubicBezTo>
                <a:lnTo>
                  <a:pt x="0" y="19844"/>
                </a:lnTo>
                <a:cubicBezTo>
                  <a:pt x="0" y="13271"/>
                  <a:pt x="5333" y="7938"/>
                  <a:pt x="11906" y="7938"/>
                </a:cubicBezTo>
                <a:lnTo>
                  <a:pt x="20638" y="7938"/>
                </a:lnTo>
                <a:cubicBezTo>
                  <a:pt x="33213" y="7938"/>
                  <a:pt x="45665" y="10418"/>
                  <a:pt x="57274" y="1525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3" name="Text 10"/>
          <p:cNvSpPr/>
          <p:nvPr/>
        </p:nvSpPr>
        <p:spPr>
          <a:xfrm>
            <a:off x="4529667" y="1270000"/>
            <a:ext cx="53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RECETTE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07417" y="1524000"/>
          <a:ext cx="3579813" cy="1587500"/>
        </p:xfrm>
        <a:graphic>
          <a:graphicData uri="http://schemas.openxmlformats.org/drawingml/2006/table">
            <a:tbl>
              <a:tblPr/>
              <a:tblGrid>
                <a:gridCol w="169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786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6A8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6A8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CODE_REC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(5)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NOM_REC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(50)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CAT_REC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(30)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TEMPS_PREP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(3)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NB_COUVERTS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(3)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DIFFICULTE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(10)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8106833" y="1158875"/>
            <a:ext cx="3770313" cy="2278063"/>
          </a:xfrm>
          <a:custGeom>
            <a:avLst/>
            <a:gdLst/>
            <a:ahLst/>
            <a:cxnLst/>
            <a:rect l="l" t="t" r="r" b="b"/>
            <a:pathLst>
              <a:path w="3770313" h="2278063">
                <a:moveTo>
                  <a:pt x="31750" y="0"/>
                </a:moveTo>
                <a:lnTo>
                  <a:pt x="3738563" y="0"/>
                </a:lnTo>
                <a:cubicBezTo>
                  <a:pt x="3756098" y="0"/>
                  <a:pt x="3770313" y="14215"/>
                  <a:pt x="3770313" y="31750"/>
                </a:cubicBezTo>
                <a:lnTo>
                  <a:pt x="3770313" y="2214573"/>
                </a:lnTo>
                <a:cubicBezTo>
                  <a:pt x="3770313" y="2249637"/>
                  <a:pt x="3741887" y="2278063"/>
                  <a:pt x="3706823" y="2278063"/>
                </a:cubicBezTo>
                <a:lnTo>
                  <a:pt x="63490" y="2278063"/>
                </a:lnTo>
                <a:cubicBezTo>
                  <a:pt x="28425" y="2278063"/>
                  <a:pt x="0" y="2249637"/>
                  <a:pt x="0" y="221457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06833" y="1158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31750" y="0"/>
                </a:moveTo>
                <a:lnTo>
                  <a:pt x="3738563" y="0"/>
                </a:lnTo>
                <a:cubicBezTo>
                  <a:pt x="3756086" y="0"/>
                  <a:pt x="3770313" y="14227"/>
                  <a:pt x="3770313" y="31750"/>
                </a:cubicBezTo>
                <a:lnTo>
                  <a:pt x="3770313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33834" y="1301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31750" y="63500"/>
                </a:move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ubicBezTo>
                  <a:pt x="28193" y="71438"/>
                  <a:pt x="31750" y="67881"/>
                  <a:pt x="31750" y="63500"/>
                </a:cubicBezTo>
                <a:close/>
                <a:moveTo>
                  <a:pt x="39688" y="63500"/>
                </a:moveTo>
                <a:cubicBezTo>
                  <a:pt x="39688" y="66799"/>
                  <a:pt x="42342" y="69453"/>
                  <a:pt x="45641" y="69453"/>
                </a:cubicBezTo>
                <a:lnTo>
                  <a:pt x="73422" y="69453"/>
                </a:lnTo>
                <a:cubicBezTo>
                  <a:pt x="76721" y="69453"/>
                  <a:pt x="79375" y="66799"/>
                  <a:pt x="79375" y="63500"/>
                </a:cubicBezTo>
                <a:cubicBezTo>
                  <a:pt x="79375" y="60201"/>
                  <a:pt x="76721" y="57547"/>
                  <a:pt x="73422" y="57547"/>
                </a:cubicBezTo>
                <a:lnTo>
                  <a:pt x="45641" y="57547"/>
                </a:lnTo>
                <a:cubicBezTo>
                  <a:pt x="42342" y="57547"/>
                  <a:pt x="39688" y="60201"/>
                  <a:pt x="39688" y="63500"/>
                </a:cubicBezTo>
                <a:close/>
                <a:moveTo>
                  <a:pt x="39688" y="95250"/>
                </a:moveTo>
                <a:cubicBezTo>
                  <a:pt x="39688" y="98549"/>
                  <a:pt x="42342" y="101203"/>
                  <a:pt x="45641" y="101203"/>
                </a:cubicBezTo>
                <a:lnTo>
                  <a:pt x="73422" y="101203"/>
                </a:lnTo>
                <a:cubicBezTo>
                  <a:pt x="76721" y="101203"/>
                  <a:pt x="79375" y="98549"/>
                  <a:pt x="79375" y="95250"/>
                </a:cubicBezTo>
                <a:cubicBezTo>
                  <a:pt x="79375" y="91951"/>
                  <a:pt x="76721" y="89297"/>
                  <a:pt x="73422" y="89297"/>
                </a:cubicBezTo>
                <a:lnTo>
                  <a:pt x="45641" y="89297"/>
                </a:lnTo>
                <a:cubicBezTo>
                  <a:pt x="42342" y="89297"/>
                  <a:pt x="39688" y="91951"/>
                  <a:pt x="39688" y="95250"/>
                </a:cubicBezTo>
                <a:close/>
                <a:moveTo>
                  <a:pt x="23812" y="103188"/>
                </a:moveTo>
                <a:cubicBezTo>
                  <a:pt x="28193" y="103188"/>
                  <a:pt x="31750" y="99631"/>
                  <a:pt x="31750" y="95250"/>
                </a:cubicBezTo>
                <a:cubicBezTo>
                  <a:pt x="31750" y="90869"/>
                  <a:pt x="28193" y="87313"/>
                  <a:pt x="23812" y="87313"/>
                </a:cubicBezTo>
                <a:cubicBezTo>
                  <a:pt x="19432" y="87313"/>
                  <a:pt x="15875" y="90869"/>
                  <a:pt x="15875" y="95250"/>
                </a:cubicBezTo>
                <a:cubicBezTo>
                  <a:pt x="15875" y="99631"/>
                  <a:pt x="19432" y="103188"/>
                  <a:pt x="23812" y="103188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8" name="Text 14"/>
          <p:cNvSpPr/>
          <p:nvPr/>
        </p:nvSpPr>
        <p:spPr>
          <a:xfrm>
            <a:off x="8424334" y="1270000"/>
            <a:ext cx="38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MENU</a:t>
            </a:r>
            <a:endParaRPr lang="en-US" sz="16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02084" y="1524000"/>
          <a:ext cx="3579813" cy="1357313"/>
        </p:xfrm>
        <a:graphic>
          <a:graphicData uri="http://schemas.openxmlformats.org/drawingml/2006/table">
            <a:tbl>
              <a:tblPr/>
              <a:tblGrid>
                <a:gridCol w="1531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19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55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CODE_MENU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(5)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NOM_MENU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(50)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DATE_MENU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 (10)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TYPE_MENU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(20)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PRIX_MENU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(10,2)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5"/>
          <p:cNvSpPr/>
          <p:nvPr/>
        </p:nvSpPr>
        <p:spPr>
          <a:xfrm>
            <a:off x="317500" y="3578223"/>
            <a:ext cx="5715000" cy="2047875"/>
          </a:xfrm>
          <a:custGeom>
            <a:avLst/>
            <a:gdLst/>
            <a:ahLst/>
            <a:cxnLst/>
            <a:rect l="l" t="t" r="r" b="b"/>
            <a:pathLst>
              <a:path w="5715000" h="204787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1984370"/>
                </a:lnTo>
                <a:cubicBezTo>
                  <a:pt x="5715000" y="2019443"/>
                  <a:pt x="5686568" y="2047875"/>
                  <a:pt x="5651495" y="2047875"/>
                </a:cubicBezTo>
                <a:lnTo>
                  <a:pt x="63505" y="2047875"/>
                </a:lnTo>
                <a:cubicBezTo>
                  <a:pt x="28432" y="2047875"/>
                  <a:pt x="0" y="2019443"/>
                  <a:pt x="0" y="198437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17500" y="3578223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2" name="Shape 17"/>
          <p:cNvSpPr/>
          <p:nvPr/>
        </p:nvSpPr>
        <p:spPr>
          <a:xfrm>
            <a:off x="428625" y="372109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3" name="Text 18"/>
          <p:cNvSpPr/>
          <p:nvPr/>
        </p:nvSpPr>
        <p:spPr>
          <a:xfrm>
            <a:off x="635000" y="3689348"/>
            <a:ext cx="34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CHEF</a:t>
            </a:r>
            <a:endParaRPr lang="en-US" sz="160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2750" y="3943348"/>
          <a:ext cx="5524500" cy="1587500"/>
        </p:xfrm>
        <a:graphic>
          <a:graphicData uri="http://schemas.openxmlformats.org/drawingml/2006/table">
            <a:tbl>
              <a:tblPr/>
              <a:tblGrid>
                <a:gridCol w="262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786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CODE_CHEF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(5)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NOM_CHEF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(30)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PRENOM_CHEF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(30)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SPECIALITE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(30)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NIVEAU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(15)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DATE_EMB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 (10)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hape 19"/>
          <p:cNvSpPr/>
          <p:nvPr/>
        </p:nvSpPr>
        <p:spPr>
          <a:xfrm>
            <a:off x="6159500" y="3578223"/>
            <a:ext cx="5715000" cy="2047875"/>
          </a:xfrm>
          <a:custGeom>
            <a:avLst/>
            <a:gdLst/>
            <a:ahLst/>
            <a:cxnLst/>
            <a:rect l="l" t="t" r="r" b="b"/>
            <a:pathLst>
              <a:path w="5715000" h="204787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1984370"/>
                </a:lnTo>
                <a:cubicBezTo>
                  <a:pt x="5715000" y="2019443"/>
                  <a:pt x="5686568" y="2047875"/>
                  <a:pt x="5651495" y="2047875"/>
                </a:cubicBezTo>
                <a:lnTo>
                  <a:pt x="63505" y="2047875"/>
                </a:lnTo>
                <a:cubicBezTo>
                  <a:pt x="28432" y="2047875"/>
                  <a:pt x="0" y="2019443"/>
                  <a:pt x="0" y="198437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159500" y="3578223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7" name="Shape 21"/>
          <p:cNvSpPr/>
          <p:nvPr/>
        </p:nvSpPr>
        <p:spPr>
          <a:xfrm>
            <a:off x="6262688" y="372109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0" y="23812"/>
                </a:moveTo>
                <a:cubicBezTo>
                  <a:pt x="0" y="15056"/>
                  <a:pt x="7119" y="7938"/>
                  <a:pt x="15875" y="7938"/>
                </a:cubicBezTo>
                <a:lnTo>
                  <a:pt x="87313" y="7938"/>
                </a:lnTo>
                <a:cubicBezTo>
                  <a:pt x="96069" y="7938"/>
                  <a:pt x="103188" y="15056"/>
                  <a:pt x="103188" y="23812"/>
                </a:cubicBezTo>
                <a:lnTo>
                  <a:pt x="103188" y="31750"/>
                </a:lnTo>
                <a:lnTo>
                  <a:pt x="115763" y="31750"/>
                </a:lnTo>
                <a:cubicBezTo>
                  <a:pt x="119980" y="31750"/>
                  <a:pt x="124023" y="33412"/>
                  <a:pt x="127000" y="36388"/>
                </a:cubicBezTo>
                <a:lnTo>
                  <a:pt x="138237" y="47625"/>
                </a:lnTo>
                <a:cubicBezTo>
                  <a:pt x="141213" y="50602"/>
                  <a:pt x="142875" y="54645"/>
                  <a:pt x="142875" y="58862"/>
                </a:cubicBezTo>
                <a:lnTo>
                  <a:pt x="142875" y="95250"/>
                </a:lnTo>
                <a:cubicBezTo>
                  <a:pt x="142875" y="104006"/>
                  <a:pt x="135756" y="111125"/>
                  <a:pt x="127000" y="111125"/>
                </a:cubicBezTo>
                <a:lnTo>
                  <a:pt x="126181" y="111125"/>
                </a:lnTo>
                <a:cubicBezTo>
                  <a:pt x="123602" y="120278"/>
                  <a:pt x="115168" y="127000"/>
                  <a:pt x="105172" y="127000"/>
                </a:cubicBezTo>
                <a:cubicBezTo>
                  <a:pt x="95176" y="127000"/>
                  <a:pt x="86767" y="120278"/>
                  <a:pt x="84162" y="111125"/>
                </a:cubicBezTo>
                <a:lnTo>
                  <a:pt x="58713" y="111125"/>
                </a:lnTo>
                <a:cubicBezTo>
                  <a:pt x="56133" y="120278"/>
                  <a:pt x="47699" y="127000"/>
                  <a:pt x="37703" y="127000"/>
                </a:cubicBezTo>
                <a:cubicBezTo>
                  <a:pt x="27707" y="127000"/>
                  <a:pt x="19298" y="120278"/>
                  <a:pt x="16694" y="111125"/>
                </a:cubicBezTo>
                <a:lnTo>
                  <a:pt x="15875" y="111125"/>
                </a:lnTo>
                <a:cubicBezTo>
                  <a:pt x="7119" y="111125"/>
                  <a:pt x="0" y="104006"/>
                  <a:pt x="0" y="95250"/>
                </a:cubicBezTo>
                <a:lnTo>
                  <a:pt x="0" y="23812"/>
                </a:lnTo>
                <a:close/>
                <a:moveTo>
                  <a:pt x="127000" y="71438"/>
                </a:moveTo>
                <a:lnTo>
                  <a:pt x="127000" y="58862"/>
                </a:lnTo>
                <a:lnTo>
                  <a:pt x="115763" y="47625"/>
                </a:lnTo>
                <a:lnTo>
                  <a:pt x="103188" y="47625"/>
                </a:lnTo>
                <a:lnTo>
                  <a:pt x="103188" y="71438"/>
                </a:lnTo>
                <a:lnTo>
                  <a:pt x="127000" y="71438"/>
                </a:lnTo>
                <a:close/>
                <a:moveTo>
                  <a:pt x="47625" y="105172"/>
                </a:moveTo>
                <a:cubicBezTo>
                  <a:pt x="47625" y="99696"/>
                  <a:pt x="43179" y="95250"/>
                  <a:pt x="37703" y="95250"/>
                </a:cubicBezTo>
                <a:cubicBezTo>
                  <a:pt x="32227" y="95250"/>
                  <a:pt x="27781" y="99696"/>
                  <a:pt x="27781" y="105172"/>
                </a:cubicBezTo>
                <a:cubicBezTo>
                  <a:pt x="27781" y="110648"/>
                  <a:pt x="32227" y="115094"/>
                  <a:pt x="37703" y="115094"/>
                </a:cubicBezTo>
                <a:cubicBezTo>
                  <a:pt x="43179" y="115094"/>
                  <a:pt x="47625" y="110648"/>
                  <a:pt x="47625" y="105172"/>
                </a:cubicBezTo>
                <a:close/>
                <a:moveTo>
                  <a:pt x="105172" y="115094"/>
                </a:moveTo>
                <a:cubicBezTo>
                  <a:pt x="110648" y="115094"/>
                  <a:pt x="115094" y="110648"/>
                  <a:pt x="115094" y="105172"/>
                </a:cubicBezTo>
                <a:cubicBezTo>
                  <a:pt x="115094" y="99696"/>
                  <a:pt x="110648" y="95250"/>
                  <a:pt x="105172" y="95250"/>
                </a:cubicBezTo>
                <a:cubicBezTo>
                  <a:pt x="99696" y="95250"/>
                  <a:pt x="95250" y="99696"/>
                  <a:pt x="95250" y="105172"/>
                </a:cubicBezTo>
                <a:cubicBezTo>
                  <a:pt x="95250" y="110648"/>
                  <a:pt x="99696" y="115094"/>
                  <a:pt x="105172" y="115094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4" name="Text 22"/>
          <p:cNvSpPr/>
          <p:nvPr/>
        </p:nvSpPr>
        <p:spPr>
          <a:xfrm>
            <a:off x="6477000" y="3689348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FOURNISSEUR</a:t>
            </a:r>
            <a:endParaRPr lang="en-US" sz="1600" dirty="0"/>
          </a:p>
        </p:txBody>
      </p:sp>
      <p:graphicFrame>
        <p:nvGraphicFramePr>
          <p:cNvPr id="4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750" y="3943348"/>
          <a:ext cx="5524500" cy="1587500"/>
        </p:xfrm>
        <a:graphic>
          <a:graphicData uri="http://schemas.openxmlformats.org/drawingml/2006/table">
            <a:tbl>
              <a:tblPr/>
              <a:tblGrid>
                <a:gridCol w="234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786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6A8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Type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6A8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CODE_FOUR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Num (5)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RAISON_SOC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(50)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ADRESSE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(100)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TELEPHONE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(15)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EMAIL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(50)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786">
                <a:tc>
                  <a:txBody>
                    <a:bodyPr/>
                    <a:lstStyle/>
                    <a:p>
                      <a:r>
                        <a:rPr lang="en-US" sz="7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SPECIALITE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Alpha (30)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1750" marR="31750" marT="31750" marB="317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Shape 23"/>
          <p:cNvSpPr/>
          <p:nvPr/>
        </p:nvSpPr>
        <p:spPr>
          <a:xfrm>
            <a:off x="317500" y="5753098"/>
            <a:ext cx="11557000" cy="1238250"/>
          </a:xfrm>
          <a:custGeom>
            <a:avLst/>
            <a:gdLst/>
            <a:ahLst/>
            <a:cxnLst/>
            <a:rect l="l" t="t" r="r" b="b"/>
            <a:pathLst>
              <a:path w="11557000" h="1238250">
                <a:moveTo>
                  <a:pt x="63497" y="0"/>
                </a:moveTo>
                <a:lnTo>
                  <a:pt x="11493503" y="0"/>
                </a:lnTo>
                <a:cubicBezTo>
                  <a:pt x="11528571" y="0"/>
                  <a:pt x="11557000" y="28429"/>
                  <a:pt x="11557000" y="63497"/>
                </a:cubicBezTo>
                <a:lnTo>
                  <a:pt x="11557000" y="1174753"/>
                </a:lnTo>
                <a:cubicBezTo>
                  <a:pt x="11557000" y="1209821"/>
                  <a:pt x="11528571" y="1238250"/>
                  <a:pt x="11493503" y="1238250"/>
                </a:cubicBezTo>
                <a:lnTo>
                  <a:pt x="63497" y="1238250"/>
                </a:lnTo>
                <a:cubicBezTo>
                  <a:pt x="28429" y="1238250"/>
                  <a:pt x="0" y="1209821"/>
                  <a:pt x="0" y="117475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1" name="Shape 24"/>
          <p:cNvSpPr/>
          <p:nvPr/>
        </p:nvSpPr>
        <p:spPr>
          <a:xfrm>
            <a:off x="454422" y="591184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30070" y="29766"/>
                </a:moveTo>
                <a:cubicBezTo>
                  <a:pt x="124923" y="29766"/>
                  <a:pt x="119931" y="31161"/>
                  <a:pt x="115559" y="33703"/>
                </a:cubicBezTo>
                <a:cubicBezTo>
                  <a:pt x="110660" y="28742"/>
                  <a:pt x="104955" y="24588"/>
                  <a:pt x="98661" y="21456"/>
                </a:cubicBezTo>
                <a:cubicBezTo>
                  <a:pt x="107404" y="14015"/>
                  <a:pt x="118535" y="9922"/>
                  <a:pt x="130070" y="9922"/>
                </a:cubicBezTo>
                <a:cubicBezTo>
                  <a:pt x="156859" y="9922"/>
                  <a:pt x="178594" y="31626"/>
                  <a:pt x="178594" y="58446"/>
                </a:cubicBezTo>
                <a:cubicBezTo>
                  <a:pt x="178594" y="71313"/>
                  <a:pt x="173478" y="83654"/>
                  <a:pt x="164393" y="92739"/>
                </a:cubicBezTo>
                <a:lnTo>
                  <a:pt x="142348" y="114784"/>
                </a:lnTo>
                <a:cubicBezTo>
                  <a:pt x="133263" y="123868"/>
                  <a:pt x="120923" y="128984"/>
                  <a:pt x="108055" y="128984"/>
                </a:cubicBezTo>
                <a:cubicBezTo>
                  <a:pt x="81266" y="128984"/>
                  <a:pt x="59531" y="107280"/>
                  <a:pt x="59531" y="80460"/>
                </a:cubicBezTo>
                <a:cubicBezTo>
                  <a:pt x="59531" y="79995"/>
                  <a:pt x="59531" y="79530"/>
                  <a:pt x="59562" y="79065"/>
                </a:cubicBezTo>
                <a:cubicBezTo>
                  <a:pt x="59717" y="73577"/>
                  <a:pt x="64275" y="69267"/>
                  <a:pt x="69763" y="69422"/>
                </a:cubicBezTo>
                <a:cubicBezTo>
                  <a:pt x="75251" y="69577"/>
                  <a:pt x="79561" y="74135"/>
                  <a:pt x="79406" y="79623"/>
                </a:cubicBezTo>
                <a:cubicBezTo>
                  <a:pt x="79406" y="79902"/>
                  <a:pt x="79406" y="80181"/>
                  <a:pt x="79406" y="80429"/>
                </a:cubicBezTo>
                <a:cubicBezTo>
                  <a:pt x="79406" y="96273"/>
                  <a:pt x="92242" y="109110"/>
                  <a:pt x="108086" y="109110"/>
                </a:cubicBezTo>
                <a:cubicBezTo>
                  <a:pt x="115683" y="109110"/>
                  <a:pt x="122969" y="106102"/>
                  <a:pt x="128364" y="100707"/>
                </a:cubicBezTo>
                <a:lnTo>
                  <a:pt x="150409" y="78662"/>
                </a:lnTo>
                <a:cubicBezTo>
                  <a:pt x="155773" y="73298"/>
                  <a:pt x="158812" y="65980"/>
                  <a:pt x="158812" y="58384"/>
                </a:cubicBezTo>
                <a:cubicBezTo>
                  <a:pt x="158812" y="42540"/>
                  <a:pt x="145976" y="29704"/>
                  <a:pt x="130132" y="29704"/>
                </a:cubicBezTo>
                <a:close/>
                <a:moveTo>
                  <a:pt x="85328" y="53733"/>
                </a:moveTo>
                <a:cubicBezTo>
                  <a:pt x="84739" y="53485"/>
                  <a:pt x="84150" y="53144"/>
                  <a:pt x="83623" y="52772"/>
                </a:cubicBezTo>
                <a:cubicBezTo>
                  <a:pt x="79716" y="50757"/>
                  <a:pt x="75251" y="49609"/>
                  <a:pt x="70569" y="49609"/>
                </a:cubicBezTo>
                <a:cubicBezTo>
                  <a:pt x="62973" y="49609"/>
                  <a:pt x="55687" y="52617"/>
                  <a:pt x="50292" y="58012"/>
                </a:cubicBezTo>
                <a:lnTo>
                  <a:pt x="28246" y="80057"/>
                </a:lnTo>
                <a:cubicBezTo>
                  <a:pt x="22882" y="85421"/>
                  <a:pt x="19844" y="92739"/>
                  <a:pt x="19844" y="100335"/>
                </a:cubicBezTo>
                <a:cubicBezTo>
                  <a:pt x="19844" y="116179"/>
                  <a:pt x="32680" y="129015"/>
                  <a:pt x="48524" y="129015"/>
                </a:cubicBezTo>
                <a:cubicBezTo>
                  <a:pt x="53640" y="129015"/>
                  <a:pt x="58632" y="127651"/>
                  <a:pt x="63004" y="125109"/>
                </a:cubicBezTo>
                <a:cubicBezTo>
                  <a:pt x="67903" y="130070"/>
                  <a:pt x="73608" y="134224"/>
                  <a:pt x="79933" y="137356"/>
                </a:cubicBezTo>
                <a:cubicBezTo>
                  <a:pt x="71189" y="144766"/>
                  <a:pt x="60089" y="148890"/>
                  <a:pt x="48524" y="148890"/>
                </a:cubicBezTo>
                <a:cubicBezTo>
                  <a:pt x="21735" y="148890"/>
                  <a:pt x="0" y="127186"/>
                  <a:pt x="0" y="100366"/>
                </a:cubicBezTo>
                <a:cubicBezTo>
                  <a:pt x="0" y="87499"/>
                  <a:pt x="5116" y="75158"/>
                  <a:pt x="14201" y="66073"/>
                </a:cubicBezTo>
                <a:lnTo>
                  <a:pt x="36246" y="44028"/>
                </a:lnTo>
                <a:cubicBezTo>
                  <a:pt x="45331" y="34944"/>
                  <a:pt x="57671" y="29828"/>
                  <a:pt x="70538" y="29828"/>
                </a:cubicBezTo>
                <a:cubicBezTo>
                  <a:pt x="97389" y="29828"/>
                  <a:pt x="119062" y="51718"/>
                  <a:pt x="119062" y="78476"/>
                </a:cubicBezTo>
                <a:cubicBezTo>
                  <a:pt x="119062" y="78879"/>
                  <a:pt x="119062" y="79282"/>
                  <a:pt x="119062" y="79685"/>
                </a:cubicBezTo>
                <a:cubicBezTo>
                  <a:pt x="118938" y="85173"/>
                  <a:pt x="114381" y="89483"/>
                  <a:pt x="108893" y="89359"/>
                </a:cubicBezTo>
                <a:cubicBezTo>
                  <a:pt x="103405" y="89235"/>
                  <a:pt x="99095" y="84677"/>
                  <a:pt x="99219" y="79189"/>
                </a:cubicBezTo>
                <a:cubicBezTo>
                  <a:pt x="99219" y="78941"/>
                  <a:pt x="99219" y="78724"/>
                  <a:pt x="99219" y="78476"/>
                </a:cubicBezTo>
                <a:cubicBezTo>
                  <a:pt x="99219" y="68027"/>
                  <a:pt x="93638" y="58849"/>
                  <a:pt x="85328" y="5379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2" name="Text 25"/>
          <p:cNvSpPr/>
          <p:nvPr/>
        </p:nvSpPr>
        <p:spPr>
          <a:xfrm>
            <a:off x="738188" y="5880098"/>
            <a:ext cx="165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Associations entre Entités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444500" y="6197598"/>
            <a:ext cx="2754313" cy="666750"/>
          </a:xfrm>
          <a:custGeom>
            <a:avLst/>
            <a:gdLst/>
            <a:ahLst/>
            <a:cxnLst/>
            <a:rect l="l" t="t" r="r" b="b"/>
            <a:pathLst>
              <a:path w="2754313" h="666750">
                <a:moveTo>
                  <a:pt x="31751" y="0"/>
                </a:moveTo>
                <a:lnTo>
                  <a:pt x="2722562" y="0"/>
                </a:lnTo>
                <a:cubicBezTo>
                  <a:pt x="2740097" y="0"/>
                  <a:pt x="2754313" y="14215"/>
                  <a:pt x="2754313" y="31751"/>
                </a:cubicBezTo>
                <a:lnTo>
                  <a:pt x="2754313" y="634999"/>
                </a:lnTo>
                <a:cubicBezTo>
                  <a:pt x="2754313" y="652535"/>
                  <a:pt x="2740097" y="666750"/>
                  <a:pt x="2722562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27"/>
          <p:cNvSpPr/>
          <p:nvPr/>
        </p:nvSpPr>
        <p:spPr>
          <a:xfrm>
            <a:off x="511969" y="629284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COMPOSE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515938" y="648334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RECETTE × INGREDIENT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515938" y="664209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Quantité nécessaire</a:t>
            </a:r>
            <a:endParaRPr lang="en-US" sz="1600" dirty="0"/>
          </a:p>
        </p:txBody>
      </p:sp>
      <p:sp>
        <p:nvSpPr>
          <p:cNvPr id="24" name="Shape 30"/>
          <p:cNvSpPr/>
          <p:nvPr/>
        </p:nvSpPr>
        <p:spPr>
          <a:xfrm>
            <a:off x="3294063" y="6197598"/>
            <a:ext cx="2754313" cy="666750"/>
          </a:xfrm>
          <a:custGeom>
            <a:avLst/>
            <a:gdLst/>
            <a:ahLst/>
            <a:cxnLst/>
            <a:rect l="l" t="t" r="r" b="b"/>
            <a:pathLst>
              <a:path w="2754313" h="666750">
                <a:moveTo>
                  <a:pt x="31751" y="0"/>
                </a:moveTo>
                <a:lnTo>
                  <a:pt x="2722562" y="0"/>
                </a:lnTo>
                <a:cubicBezTo>
                  <a:pt x="2740097" y="0"/>
                  <a:pt x="2754313" y="14215"/>
                  <a:pt x="2754313" y="31751"/>
                </a:cubicBezTo>
                <a:lnTo>
                  <a:pt x="2754313" y="634999"/>
                </a:lnTo>
                <a:cubicBezTo>
                  <a:pt x="2754313" y="652535"/>
                  <a:pt x="2740097" y="666750"/>
                  <a:pt x="2722562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1"/>
          <p:cNvSpPr/>
          <p:nvPr/>
        </p:nvSpPr>
        <p:spPr>
          <a:xfrm>
            <a:off x="3361531" y="629284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CONSTITUE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3365500" y="648334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× RECETTE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3365500" y="664209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Ordre de service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6143625" y="6197598"/>
            <a:ext cx="2754313" cy="666750"/>
          </a:xfrm>
          <a:custGeom>
            <a:avLst/>
            <a:gdLst/>
            <a:ahLst/>
            <a:cxnLst/>
            <a:rect l="l" t="t" r="r" b="b"/>
            <a:pathLst>
              <a:path w="2754313" h="666750">
                <a:moveTo>
                  <a:pt x="31751" y="0"/>
                </a:moveTo>
                <a:lnTo>
                  <a:pt x="2722562" y="0"/>
                </a:lnTo>
                <a:cubicBezTo>
                  <a:pt x="2740097" y="0"/>
                  <a:pt x="2754313" y="14215"/>
                  <a:pt x="2754313" y="31751"/>
                </a:cubicBezTo>
                <a:lnTo>
                  <a:pt x="2754313" y="634999"/>
                </a:lnTo>
                <a:cubicBezTo>
                  <a:pt x="2754313" y="652535"/>
                  <a:pt x="2740097" y="666750"/>
                  <a:pt x="2722562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35"/>
          <p:cNvSpPr/>
          <p:nvPr/>
        </p:nvSpPr>
        <p:spPr>
          <a:xfrm>
            <a:off x="6211094" y="629284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REALISE</a:t>
            </a:r>
            <a:endParaRPr lang="en-US" sz="1600" dirty="0"/>
          </a:p>
        </p:txBody>
      </p:sp>
      <p:sp>
        <p:nvSpPr>
          <p:cNvPr id="43" name="Text 36"/>
          <p:cNvSpPr/>
          <p:nvPr/>
        </p:nvSpPr>
        <p:spPr>
          <a:xfrm>
            <a:off x="6215063" y="648334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CHEF × RECETTE</a:t>
            </a:r>
            <a:endParaRPr lang="en-US" sz="1600" dirty="0"/>
          </a:p>
        </p:txBody>
      </p:sp>
      <p:sp>
        <p:nvSpPr>
          <p:cNvPr id="44" name="Text 37"/>
          <p:cNvSpPr/>
          <p:nvPr/>
        </p:nvSpPr>
        <p:spPr>
          <a:xfrm>
            <a:off x="6215063" y="664209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(N,N)</a:t>
            </a:r>
            <a:endParaRPr lang="en-US" sz="1600" dirty="0"/>
          </a:p>
        </p:txBody>
      </p:sp>
      <p:sp>
        <p:nvSpPr>
          <p:cNvPr id="45" name="Shape 38"/>
          <p:cNvSpPr/>
          <p:nvPr/>
        </p:nvSpPr>
        <p:spPr>
          <a:xfrm>
            <a:off x="8993188" y="6197598"/>
            <a:ext cx="2754313" cy="666750"/>
          </a:xfrm>
          <a:custGeom>
            <a:avLst/>
            <a:gdLst/>
            <a:ahLst/>
            <a:cxnLst/>
            <a:rect l="l" t="t" r="r" b="b"/>
            <a:pathLst>
              <a:path w="2754313" h="666750">
                <a:moveTo>
                  <a:pt x="31751" y="0"/>
                </a:moveTo>
                <a:lnTo>
                  <a:pt x="2722562" y="0"/>
                </a:lnTo>
                <a:cubicBezTo>
                  <a:pt x="2740097" y="0"/>
                  <a:pt x="2754313" y="14215"/>
                  <a:pt x="2754313" y="31751"/>
                </a:cubicBezTo>
                <a:lnTo>
                  <a:pt x="2754313" y="634999"/>
                </a:lnTo>
                <a:cubicBezTo>
                  <a:pt x="2754313" y="652535"/>
                  <a:pt x="2740097" y="666750"/>
                  <a:pt x="2722562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39"/>
          <p:cNvSpPr/>
          <p:nvPr/>
        </p:nvSpPr>
        <p:spPr>
          <a:xfrm>
            <a:off x="9060656" y="6292848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APPARTIENT</a:t>
            </a:r>
            <a:endParaRPr lang="en-US" sz="1600" dirty="0"/>
          </a:p>
        </p:txBody>
      </p:sp>
      <p:sp>
        <p:nvSpPr>
          <p:cNvPr id="47" name="Text 40"/>
          <p:cNvSpPr/>
          <p:nvPr/>
        </p:nvSpPr>
        <p:spPr>
          <a:xfrm>
            <a:off x="9064625" y="648334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INGREDIENT × FOURNISSEUR</a:t>
            </a:r>
            <a:endParaRPr lang="en-US" sz="1600" dirty="0"/>
          </a:p>
        </p:txBody>
      </p:sp>
      <p:sp>
        <p:nvSpPr>
          <p:cNvPr id="48" name="Text 41"/>
          <p:cNvSpPr/>
          <p:nvPr/>
        </p:nvSpPr>
        <p:spPr>
          <a:xfrm>
            <a:off x="9064625" y="664209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Fournisseur principal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taedo.com/b09d0b88b8514fa3ddfea60a736479300de48081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0616" b="1061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2C528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05917"/>
            <a:ext cx="1474470" cy="388620"/>
          </a:xfrm>
          <a:custGeom>
            <a:avLst/>
            <a:gdLst/>
            <a:ahLst/>
            <a:cxnLst/>
            <a:rect l="l" t="t" r="r" b="b"/>
            <a:pathLst>
              <a:path w="1474470" h="388620">
                <a:moveTo>
                  <a:pt x="38100" y="0"/>
                </a:moveTo>
                <a:lnTo>
                  <a:pt x="1436370" y="0"/>
                </a:lnTo>
                <a:cubicBezTo>
                  <a:pt x="1457412" y="0"/>
                  <a:pt x="1474470" y="17058"/>
                  <a:pt x="1474470" y="38100"/>
                </a:cubicBezTo>
                <a:lnTo>
                  <a:pt x="1474470" y="350520"/>
                </a:lnTo>
                <a:cubicBezTo>
                  <a:pt x="1474470" y="371562"/>
                  <a:pt x="1457412" y="388620"/>
                  <a:pt x="143637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>
              <a:alpha val="20000"/>
            </a:srgbClr>
          </a:solidFill>
          <a:ln w="10160">
            <a:solidFill>
              <a:srgbClr val="C6A8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68592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CHAPITRE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694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Modélisation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Conceptuelle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004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1294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Matrices de dépendances fonctionnelles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Modèle Conceptuel de Données (MCD)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7" y="332207"/>
            <a:ext cx="1159402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kern="0" spc="52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DÉPENDANCES FONCTIONNELLES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207" y="597973"/>
            <a:ext cx="11677079" cy="33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4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Matrices MDF et Modèle Conceptuel de Données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2207" y="1029842"/>
            <a:ext cx="797297" cy="33221"/>
          </a:xfrm>
          <a:custGeom>
            <a:avLst/>
            <a:gdLst/>
            <a:ahLst/>
            <a:cxnLst/>
            <a:rect l="l" t="t" r="r" b="b"/>
            <a:pathLst>
              <a:path w="797297" h="33221">
                <a:moveTo>
                  <a:pt x="0" y="0"/>
                </a:moveTo>
                <a:lnTo>
                  <a:pt x="797297" y="0"/>
                </a:lnTo>
                <a:lnTo>
                  <a:pt x="797297" y="33221"/>
                </a:lnTo>
                <a:lnTo>
                  <a:pt x="0" y="33221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32207" y="1212556"/>
            <a:ext cx="5680741" cy="3039695"/>
          </a:xfrm>
          <a:custGeom>
            <a:avLst/>
            <a:gdLst/>
            <a:ahLst/>
            <a:cxnLst/>
            <a:rect l="l" t="t" r="r" b="b"/>
            <a:pathLst>
              <a:path w="5680741" h="3039695">
                <a:moveTo>
                  <a:pt x="33221" y="0"/>
                </a:moveTo>
                <a:lnTo>
                  <a:pt x="5647520" y="0"/>
                </a:lnTo>
                <a:cubicBezTo>
                  <a:pt x="5665868" y="0"/>
                  <a:pt x="5680741" y="14873"/>
                  <a:pt x="5680741" y="33221"/>
                </a:cubicBezTo>
                <a:lnTo>
                  <a:pt x="5680741" y="2973247"/>
                </a:lnTo>
                <a:cubicBezTo>
                  <a:pt x="5680741" y="3009945"/>
                  <a:pt x="5650991" y="3039695"/>
                  <a:pt x="5614293" y="3039695"/>
                </a:cubicBezTo>
                <a:lnTo>
                  <a:pt x="66448" y="3039695"/>
                </a:lnTo>
                <a:cubicBezTo>
                  <a:pt x="29750" y="3039695"/>
                  <a:pt x="0" y="3009945"/>
                  <a:pt x="0" y="2973247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16" dist="830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2207" y="1212556"/>
            <a:ext cx="5680741" cy="33221"/>
          </a:xfrm>
          <a:custGeom>
            <a:avLst/>
            <a:gdLst/>
            <a:ahLst/>
            <a:cxnLst/>
            <a:rect l="l" t="t" r="r" b="b"/>
            <a:pathLst>
              <a:path w="5680741" h="33221">
                <a:moveTo>
                  <a:pt x="33221" y="0"/>
                </a:moveTo>
                <a:lnTo>
                  <a:pt x="5647520" y="0"/>
                </a:lnTo>
                <a:cubicBezTo>
                  <a:pt x="5665868" y="0"/>
                  <a:pt x="5680741" y="14873"/>
                  <a:pt x="5680741" y="33221"/>
                </a:cubicBezTo>
                <a:lnTo>
                  <a:pt x="5680741" y="33221"/>
                </a:lnTo>
                <a:lnTo>
                  <a:pt x="0" y="33221"/>
                </a:ln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485853" y="1395270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0" y="25954"/>
                </a:moveTo>
                <a:cubicBezTo>
                  <a:pt x="0" y="17357"/>
                  <a:pt x="6975" y="10381"/>
                  <a:pt x="15572" y="10381"/>
                </a:cubicBezTo>
                <a:lnTo>
                  <a:pt x="46717" y="10381"/>
                </a:lnTo>
                <a:cubicBezTo>
                  <a:pt x="55314" y="10381"/>
                  <a:pt x="62289" y="17357"/>
                  <a:pt x="62289" y="25954"/>
                </a:cubicBezTo>
                <a:lnTo>
                  <a:pt x="62289" y="31144"/>
                </a:lnTo>
                <a:lnTo>
                  <a:pt x="103815" y="31144"/>
                </a:lnTo>
                <a:lnTo>
                  <a:pt x="103815" y="25954"/>
                </a:lnTo>
                <a:cubicBezTo>
                  <a:pt x="103815" y="17357"/>
                  <a:pt x="110790" y="10381"/>
                  <a:pt x="119387" y="10381"/>
                </a:cubicBezTo>
                <a:lnTo>
                  <a:pt x="150531" y="10381"/>
                </a:lnTo>
                <a:cubicBezTo>
                  <a:pt x="159128" y="10381"/>
                  <a:pt x="166104" y="17357"/>
                  <a:pt x="166104" y="25954"/>
                </a:cubicBezTo>
                <a:lnTo>
                  <a:pt x="166104" y="57098"/>
                </a:lnTo>
                <a:cubicBezTo>
                  <a:pt x="166104" y="65695"/>
                  <a:pt x="159128" y="72670"/>
                  <a:pt x="150531" y="72670"/>
                </a:cubicBezTo>
                <a:lnTo>
                  <a:pt x="119387" y="72670"/>
                </a:lnTo>
                <a:cubicBezTo>
                  <a:pt x="110790" y="72670"/>
                  <a:pt x="103815" y="65695"/>
                  <a:pt x="103815" y="57098"/>
                </a:cubicBezTo>
                <a:lnTo>
                  <a:pt x="103815" y="51907"/>
                </a:lnTo>
                <a:lnTo>
                  <a:pt x="62289" y="51907"/>
                </a:lnTo>
                <a:lnTo>
                  <a:pt x="62289" y="57098"/>
                </a:lnTo>
                <a:cubicBezTo>
                  <a:pt x="62289" y="59466"/>
                  <a:pt x="61737" y="61737"/>
                  <a:pt x="60796" y="63749"/>
                </a:cubicBezTo>
                <a:lnTo>
                  <a:pt x="83052" y="93433"/>
                </a:lnTo>
                <a:lnTo>
                  <a:pt x="109005" y="93433"/>
                </a:lnTo>
                <a:cubicBezTo>
                  <a:pt x="117603" y="93433"/>
                  <a:pt x="124578" y="100408"/>
                  <a:pt x="124578" y="109005"/>
                </a:cubicBezTo>
                <a:lnTo>
                  <a:pt x="124578" y="140150"/>
                </a:lnTo>
                <a:cubicBezTo>
                  <a:pt x="124578" y="148747"/>
                  <a:pt x="117603" y="155722"/>
                  <a:pt x="109005" y="155722"/>
                </a:cubicBezTo>
                <a:lnTo>
                  <a:pt x="77861" y="155722"/>
                </a:lnTo>
                <a:cubicBezTo>
                  <a:pt x="69264" y="155722"/>
                  <a:pt x="62289" y="148747"/>
                  <a:pt x="62289" y="140150"/>
                </a:cubicBezTo>
                <a:lnTo>
                  <a:pt x="62289" y="109005"/>
                </a:lnTo>
                <a:cubicBezTo>
                  <a:pt x="62289" y="106637"/>
                  <a:pt x="62840" y="104366"/>
                  <a:pt x="63781" y="102355"/>
                </a:cubicBezTo>
                <a:lnTo>
                  <a:pt x="41526" y="72670"/>
                </a:lnTo>
                <a:lnTo>
                  <a:pt x="15572" y="72670"/>
                </a:lnTo>
                <a:cubicBezTo>
                  <a:pt x="6975" y="72670"/>
                  <a:pt x="0" y="65695"/>
                  <a:pt x="0" y="57098"/>
                </a:cubicBezTo>
                <a:lnTo>
                  <a:pt x="0" y="25954"/>
                </a:ln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772381" y="1362049"/>
            <a:ext cx="2474943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Concept de Dépendance Fonctionnelle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5090" y="1694256"/>
            <a:ext cx="5481417" cy="43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6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Deux attributs A et B sont en </a:t>
            </a:r>
            <a:r>
              <a:rPr lang="en-US" sz="1046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dépendance fonctionnelle</a:t>
            </a:r>
            <a:r>
              <a:rPr lang="en-US" sz="1046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 la connaissance de A détermine une seule valeur de B. On note </a:t>
            </a:r>
            <a:r>
              <a:rPr lang="en-US" sz="1046" dirty="0">
                <a:solidFill>
                  <a:srgbClr val="2C5282"/>
                </a:solidFill>
                <a:highlight>
                  <a:srgbClr val="F8F9FA">
                    <a:alpha val="100000"/>
                  </a:srgbClr>
                </a:highlight>
                <a:latin typeface="Jersey 15" pitchFamily="34" charset="0"/>
                <a:ea typeface="Jersey 15" pitchFamily="34" charset="-122"/>
                <a:cs typeface="Jersey 15" pitchFamily="34" charset="-120"/>
              </a:rPr>
              <a:t>A → B </a:t>
            </a:r>
            <a:r>
              <a:rPr lang="en-US" sz="1046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700" y="2229109"/>
            <a:ext cx="5398365" cy="365428"/>
          </a:xfrm>
          <a:custGeom>
            <a:avLst/>
            <a:gdLst/>
            <a:ahLst/>
            <a:cxnLst/>
            <a:rect l="l" t="t" r="r" b="b"/>
            <a:pathLst>
              <a:path w="5398365" h="365428">
                <a:moveTo>
                  <a:pt x="33221" y="0"/>
                </a:moveTo>
                <a:lnTo>
                  <a:pt x="5365144" y="0"/>
                </a:lnTo>
                <a:cubicBezTo>
                  <a:pt x="5383492" y="0"/>
                  <a:pt x="5398365" y="14874"/>
                  <a:pt x="5398365" y="33221"/>
                </a:cubicBezTo>
                <a:lnTo>
                  <a:pt x="5398365" y="332207"/>
                </a:lnTo>
                <a:cubicBezTo>
                  <a:pt x="5398365" y="350554"/>
                  <a:pt x="5383492" y="365428"/>
                  <a:pt x="5365144" y="365428"/>
                </a:cubicBezTo>
                <a:lnTo>
                  <a:pt x="33221" y="365428"/>
                </a:lnTo>
                <a:cubicBezTo>
                  <a:pt x="14886" y="365428"/>
                  <a:pt x="0" y="350542"/>
                  <a:pt x="0" y="332207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481700" y="2229109"/>
            <a:ext cx="33221" cy="365428"/>
          </a:xfrm>
          <a:custGeom>
            <a:avLst/>
            <a:gdLst/>
            <a:ahLst/>
            <a:cxnLst/>
            <a:rect l="l" t="t" r="r" b="b"/>
            <a:pathLst>
              <a:path w="33221" h="365428">
                <a:moveTo>
                  <a:pt x="33221" y="0"/>
                </a:moveTo>
                <a:lnTo>
                  <a:pt x="33221" y="0"/>
                </a:lnTo>
                <a:lnTo>
                  <a:pt x="33221" y="365428"/>
                </a:lnTo>
                <a:lnTo>
                  <a:pt x="33221" y="365428"/>
                </a:lnTo>
                <a:cubicBezTo>
                  <a:pt x="14886" y="365428"/>
                  <a:pt x="0" y="350542"/>
                  <a:pt x="0" y="332207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2" name="Text 10"/>
          <p:cNvSpPr/>
          <p:nvPr/>
        </p:nvSpPr>
        <p:spPr>
          <a:xfrm>
            <a:off x="597973" y="2328775"/>
            <a:ext cx="5240567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 :</a:t>
            </a:r>
            <a:r>
              <a:rPr lang="en-US" sz="785" dirty="0">
                <a:solidFill>
                  <a:srgbClr val="4A556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CODE_ING → NOM_ING</a:t>
            </a:r>
            <a:r>
              <a:rPr lang="en-US" sz="916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car le code d'un ingrédient détermine son nom de manière unique.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5090" y="2694203"/>
            <a:ext cx="5414975" cy="1428490"/>
          </a:xfrm>
          <a:custGeom>
            <a:avLst/>
            <a:gdLst/>
            <a:ahLst/>
            <a:cxnLst/>
            <a:rect l="l" t="t" r="r" b="b"/>
            <a:pathLst>
              <a:path w="5414975" h="1428490">
                <a:moveTo>
                  <a:pt x="33227" y="0"/>
                </a:moveTo>
                <a:lnTo>
                  <a:pt x="5381749" y="0"/>
                </a:lnTo>
                <a:cubicBezTo>
                  <a:pt x="5400099" y="0"/>
                  <a:pt x="5414975" y="14876"/>
                  <a:pt x="5414975" y="33227"/>
                </a:cubicBezTo>
                <a:lnTo>
                  <a:pt x="5414975" y="1395264"/>
                </a:lnTo>
                <a:cubicBezTo>
                  <a:pt x="5414975" y="1413614"/>
                  <a:pt x="5400099" y="1428490"/>
                  <a:pt x="5381749" y="1428490"/>
                </a:cubicBezTo>
                <a:lnTo>
                  <a:pt x="33227" y="1428490"/>
                </a:lnTo>
                <a:cubicBezTo>
                  <a:pt x="14876" y="1428490"/>
                  <a:pt x="0" y="1413614"/>
                  <a:pt x="0" y="1395264"/>
                </a:cubicBezTo>
                <a:lnTo>
                  <a:pt x="0" y="33227"/>
                </a:lnTo>
                <a:cubicBezTo>
                  <a:pt x="0" y="14888"/>
                  <a:pt x="14888" y="0"/>
                  <a:pt x="33227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564752" y="2793865"/>
            <a:ext cx="5282093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Étapes de Construction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4752" y="3059630"/>
            <a:ext cx="5273787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r>
              <a:rPr lang="en-US" sz="91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Créer le squelette de la matrice avec tous les attributs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4752" y="3258955"/>
            <a:ext cx="5273787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r>
              <a:rPr lang="en-US" sz="91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Marquer la réflexivité (diagonale)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4752" y="3458279"/>
            <a:ext cx="5273787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r>
              <a:rPr lang="en-US" sz="91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Identifier les dépendances fonctionnelles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4752" y="3657603"/>
            <a:ext cx="5273787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r>
              <a:rPr lang="en-US" sz="91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Simplifier la matrice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4752" y="3856927"/>
            <a:ext cx="5273787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r>
              <a:rPr lang="en-US" sz="91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Vérifier la colonne Total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2207" y="4405069"/>
            <a:ext cx="5680741" cy="2209177"/>
          </a:xfrm>
          <a:custGeom>
            <a:avLst/>
            <a:gdLst/>
            <a:ahLst/>
            <a:cxnLst/>
            <a:rect l="l" t="t" r="r" b="b"/>
            <a:pathLst>
              <a:path w="5680741" h="2209177">
                <a:moveTo>
                  <a:pt x="33221" y="0"/>
                </a:moveTo>
                <a:lnTo>
                  <a:pt x="5647520" y="0"/>
                </a:lnTo>
                <a:cubicBezTo>
                  <a:pt x="5665868" y="0"/>
                  <a:pt x="5680741" y="14873"/>
                  <a:pt x="5680741" y="33221"/>
                </a:cubicBezTo>
                <a:lnTo>
                  <a:pt x="5680741" y="2142725"/>
                </a:lnTo>
                <a:cubicBezTo>
                  <a:pt x="5680741" y="2179426"/>
                  <a:pt x="5650990" y="2209177"/>
                  <a:pt x="5614289" y="2209177"/>
                </a:cubicBezTo>
                <a:lnTo>
                  <a:pt x="66452" y="2209177"/>
                </a:lnTo>
                <a:cubicBezTo>
                  <a:pt x="29752" y="2209177"/>
                  <a:pt x="0" y="2179426"/>
                  <a:pt x="0" y="2142725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16" dist="830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2207" y="4405069"/>
            <a:ext cx="5680741" cy="33221"/>
          </a:xfrm>
          <a:custGeom>
            <a:avLst/>
            <a:gdLst/>
            <a:ahLst/>
            <a:cxnLst/>
            <a:rect l="l" t="t" r="r" b="b"/>
            <a:pathLst>
              <a:path w="5680741" h="33221">
                <a:moveTo>
                  <a:pt x="33221" y="0"/>
                </a:moveTo>
                <a:lnTo>
                  <a:pt x="5647520" y="0"/>
                </a:lnTo>
                <a:cubicBezTo>
                  <a:pt x="5665868" y="0"/>
                  <a:pt x="5680741" y="14873"/>
                  <a:pt x="5680741" y="33221"/>
                </a:cubicBezTo>
                <a:lnTo>
                  <a:pt x="5680741" y="33221"/>
                </a:lnTo>
                <a:lnTo>
                  <a:pt x="0" y="33221"/>
                </a:ln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2" name="Shape 20"/>
          <p:cNvSpPr/>
          <p:nvPr/>
        </p:nvSpPr>
        <p:spPr>
          <a:xfrm>
            <a:off x="496234" y="4587783"/>
            <a:ext cx="145341" cy="166104"/>
          </a:xfrm>
          <a:custGeom>
            <a:avLst/>
            <a:gdLst/>
            <a:ahLst/>
            <a:cxnLst/>
            <a:rect l="l" t="t" r="r" b="b"/>
            <a:pathLst>
              <a:path w="145341" h="166104">
                <a:moveTo>
                  <a:pt x="83052" y="51907"/>
                </a:moveTo>
                <a:lnTo>
                  <a:pt x="83052" y="83052"/>
                </a:lnTo>
                <a:lnTo>
                  <a:pt x="124578" y="83052"/>
                </a:lnTo>
                <a:lnTo>
                  <a:pt x="124578" y="51907"/>
                </a:lnTo>
                <a:lnTo>
                  <a:pt x="83052" y="51907"/>
                </a:lnTo>
                <a:close/>
                <a:moveTo>
                  <a:pt x="62289" y="51907"/>
                </a:moveTo>
                <a:lnTo>
                  <a:pt x="20763" y="51907"/>
                </a:lnTo>
                <a:lnTo>
                  <a:pt x="20763" y="83052"/>
                </a:lnTo>
                <a:lnTo>
                  <a:pt x="62289" y="83052"/>
                </a:lnTo>
                <a:lnTo>
                  <a:pt x="62289" y="51907"/>
                </a:lnTo>
                <a:close/>
                <a:moveTo>
                  <a:pt x="0" y="103815"/>
                </a:moveTo>
                <a:lnTo>
                  <a:pt x="0" y="31144"/>
                </a:lnTo>
                <a:cubicBezTo>
                  <a:pt x="0" y="19692"/>
                  <a:pt x="9311" y="10381"/>
                  <a:pt x="20763" y="10381"/>
                </a:cubicBezTo>
                <a:lnTo>
                  <a:pt x="124578" y="10381"/>
                </a:lnTo>
                <a:cubicBezTo>
                  <a:pt x="136030" y="10381"/>
                  <a:pt x="145341" y="19692"/>
                  <a:pt x="145341" y="31144"/>
                </a:cubicBezTo>
                <a:lnTo>
                  <a:pt x="145341" y="134959"/>
                </a:lnTo>
                <a:cubicBezTo>
                  <a:pt x="145341" y="146411"/>
                  <a:pt x="136030" y="155722"/>
                  <a:pt x="124578" y="155722"/>
                </a:cubicBezTo>
                <a:lnTo>
                  <a:pt x="20763" y="155722"/>
                </a:lnTo>
                <a:cubicBezTo>
                  <a:pt x="9311" y="155722"/>
                  <a:pt x="0" y="146411"/>
                  <a:pt x="0" y="134959"/>
                </a:cubicBezTo>
                <a:lnTo>
                  <a:pt x="0" y="103815"/>
                </a:lnTo>
                <a:close/>
                <a:moveTo>
                  <a:pt x="124578" y="103815"/>
                </a:moveTo>
                <a:lnTo>
                  <a:pt x="83052" y="103815"/>
                </a:lnTo>
                <a:lnTo>
                  <a:pt x="83052" y="134959"/>
                </a:lnTo>
                <a:lnTo>
                  <a:pt x="124578" y="134959"/>
                </a:lnTo>
                <a:lnTo>
                  <a:pt x="124578" y="103815"/>
                </a:lnTo>
                <a:close/>
                <a:moveTo>
                  <a:pt x="62289" y="134959"/>
                </a:moveTo>
                <a:lnTo>
                  <a:pt x="62289" y="103815"/>
                </a:lnTo>
                <a:lnTo>
                  <a:pt x="20763" y="103815"/>
                </a:lnTo>
                <a:lnTo>
                  <a:pt x="20763" y="134959"/>
                </a:lnTo>
                <a:lnTo>
                  <a:pt x="62289" y="134959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3" name="Text 21"/>
          <p:cNvSpPr/>
          <p:nvPr/>
        </p:nvSpPr>
        <p:spPr>
          <a:xfrm>
            <a:off x="772381" y="4554562"/>
            <a:ext cx="1760698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Synthèse des Dépendances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5090" y="4886769"/>
            <a:ext cx="5414975" cy="265766"/>
          </a:xfrm>
          <a:custGeom>
            <a:avLst/>
            <a:gdLst/>
            <a:ahLst/>
            <a:cxnLst/>
            <a:rect l="l" t="t" r="r" b="b"/>
            <a:pathLst>
              <a:path w="5414975" h="265766">
                <a:moveTo>
                  <a:pt x="33221" y="0"/>
                </a:moveTo>
                <a:lnTo>
                  <a:pt x="5381755" y="0"/>
                </a:lnTo>
                <a:cubicBezTo>
                  <a:pt x="5400102" y="0"/>
                  <a:pt x="5414975" y="14873"/>
                  <a:pt x="5414975" y="33221"/>
                </a:cubicBezTo>
                <a:lnTo>
                  <a:pt x="5414975" y="232545"/>
                </a:lnTo>
                <a:cubicBezTo>
                  <a:pt x="5414975" y="250892"/>
                  <a:pt x="5400102" y="265766"/>
                  <a:pt x="5381755" y="265766"/>
                </a:cubicBezTo>
                <a:lnTo>
                  <a:pt x="33221" y="265766"/>
                </a:lnTo>
                <a:cubicBezTo>
                  <a:pt x="14886" y="265766"/>
                  <a:pt x="0" y="250880"/>
                  <a:pt x="0" y="232545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531531" y="4953211"/>
            <a:ext cx="5331924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INGREDIENT :</a:t>
            </a: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CODE_ING → NOM_ING, CAT_ING, UNITE, PRIX_UNIT, QTE_STOCK, SEUIL_MIN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5090" y="5218977"/>
            <a:ext cx="5414975" cy="265766"/>
          </a:xfrm>
          <a:custGeom>
            <a:avLst/>
            <a:gdLst/>
            <a:ahLst/>
            <a:cxnLst/>
            <a:rect l="l" t="t" r="r" b="b"/>
            <a:pathLst>
              <a:path w="5414975" h="265766">
                <a:moveTo>
                  <a:pt x="33221" y="0"/>
                </a:moveTo>
                <a:lnTo>
                  <a:pt x="5381755" y="0"/>
                </a:lnTo>
                <a:cubicBezTo>
                  <a:pt x="5400102" y="0"/>
                  <a:pt x="5414975" y="14873"/>
                  <a:pt x="5414975" y="33221"/>
                </a:cubicBezTo>
                <a:lnTo>
                  <a:pt x="5414975" y="232545"/>
                </a:lnTo>
                <a:cubicBezTo>
                  <a:pt x="5414975" y="250892"/>
                  <a:pt x="5400102" y="265766"/>
                  <a:pt x="5381755" y="265766"/>
                </a:cubicBezTo>
                <a:lnTo>
                  <a:pt x="33221" y="265766"/>
                </a:lnTo>
                <a:cubicBezTo>
                  <a:pt x="14886" y="265766"/>
                  <a:pt x="0" y="250880"/>
                  <a:pt x="0" y="232545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531531" y="5285418"/>
            <a:ext cx="5331924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RECETTE :</a:t>
            </a: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CODE_REC → NOM_REC, CAT_REC, TEMPS_PREP, NB_COUVERTS, DIFFICULTE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5090" y="5551184"/>
            <a:ext cx="5414975" cy="265766"/>
          </a:xfrm>
          <a:custGeom>
            <a:avLst/>
            <a:gdLst/>
            <a:ahLst/>
            <a:cxnLst/>
            <a:rect l="l" t="t" r="r" b="b"/>
            <a:pathLst>
              <a:path w="5414975" h="265766">
                <a:moveTo>
                  <a:pt x="33221" y="0"/>
                </a:moveTo>
                <a:lnTo>
                  <a:pt x="5381755" y="0"/>
                </a:lnTo>
                <a:cubicBezTo>
                  <a:pt x="5400102" y="0"/>
                  <a:pt x="5414975" y="14873"/>
                  <a:pt x="5414975" y="33221"/>
                </a:cubicBezTo>
                <a:lnTo>
                  <a:pt x="5414975" y="232545"/>
                </a:lnTo>
                <a:cubicBezTo>
                  <a:pt x="5414975" y="250892"/>
                  <a:pt x="5400102" y="265766"/>
                  <a:pt x="5381755" y="265766"/>
                </a:cubicBezTo>
                <a:lnTo>
                  <a:pt x="33221" y="265766"/>
                </a:lnTo>
                <a:cubicBezTo>
                  <a:pt x="14886" y="265766"/>
                  <a:pt x="0" y="250880"/>
                  <a:pt x="0" y="232545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Text 27"/>
          <p:cNvSpPr/>
          <p:nvPr/>
        </p:nvSpPr>
        <p:spPr>
          <a:xfrm>
            <a:off x="531531" y="5617625"/>
            <a:ext cx="5331924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MENU :</a:t>
            </a: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CODE_MENU → NOM_MENU, DATE_MENU, TYPE_MENU, PRIX_MENU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5090" y="5883391"/>
            <a:ext cx="5414975" cy="265766"/>
          </a:xfrm>
          <a:custGeom>
            <a:avLst/>
            <a:gdLst/>
            <a:ahLst/>
            <a:cxnLst/>
            <a:rect l="l" t="t" r="r" b="b"/>
            <a:pathLst>
              <a:path w="5414975" h="265766">
                <a:moveTo>
                  <a:pt x="33221" y="0"/>
                </a:moveTo>
                <a:lnTo>
                  <a:pt x="5381755" y="0"/>
                </a:lnTo>
                <a:cubicBezTo>
                  <a:pt x="5400102" y="0"/>
                  <a:pt x="5414975" y="14873"/>
                  <a:pt x="5414975" y="33221"/>
                </a:cubicBezTo>
                <a:lnTo>
                  <a:pt x="5414975" y="232545"/>
                </a:lnTo>
                <a:cubicBezTo>
                  <a:pt x="5414975" y="250892"/>
                  <a:pt x="5400102" y="265766"/>
                  <a:pt x="5381755" y="265766"/>
                </a:cubicBezTo>
                <a:lnTo>
                  <a:pt x="33221" y="265766"/>
                </a:lnTo>
                <a:cubicBezTo>
                  <a:pt x="14886" y="265766"/>
                  <a:pt x="0" y="250880"/>
                  <a:pt x="0" y="232545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Text 29"/>
          <p:cNvSpPr/>
          <p:nvPr/>
        </p:nvSpPr>
        <p:spPr>
          <a:xfrm>
            <a:off x="531531" y="5949832"/>
            <a:ext cx="5331924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CHEF :</a:t>
            </a: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CODE_CHEF → NOM_CHEF, PRENOM_CHEF, SPECIALITE, NIVEAU, DATE_EMB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5090" y="6215598"/>
            <a:ext cx="5414975" cy="265766"/>
          </a:xfrm>
          <a:custGeom>
            <a:avLst/>
            <a:gdLst/>
            <a:ahLst/>
            <a:cxnLst/>
            <a:rect l="l" t="t" r="r" b="b"/>
            <a:pathLst>
              <a:path w="5414975" h="265766">
                <a:moveTo>
                  <a:pt x="33221" y="0"/>
                </a:moveTo>
                <a:lnTo>
                  <a:pt x="5381755" y="0"/>
                </a:lnTo>
                <a:cubicBezTo>
                  <a:pt x="5400102" y="0"/>
                  <a:pt x="5414975" y="14873"/>
                  <a:pt x="5414975" y="33221"/>
                </a:cubicBezTo>
                <a:lnTo>
                  <a:pt x="5414975" y="232545"/>
                </a:lnTo>
                <a:cubicBezTo>
                  <a:pt x="5414975" y="250892"/>
                  <a:pt x="5400102" y="265766"/>
                  <a:pt x="5381755" y="265766"/>
                </a:cubicBezTo>
                <a:lnTo>
                  <a:pt x="33221" y="265766"/>
                </a:lnTo>
                <a:cubicBezTo>
                  <a:pt x="14886" y="265766"/>
                  <a:pt x="0" y="250880"/>
                  <a:pt x="0" y="232545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3" name="Text 31"/>
          <p:cNvSpPr/>
          <p:nvPr/>
        </p:nvSpPr>
        <p:spPr>
          <a:xfrm>
            <a:off x="531531" y="6282039"/>
            <a:ext cx="5331924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FOURNISSEUR :</a:t>
            </a: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CODE_FOUR → RAISON_SOC, ADRESSE, TELEPHONE, EMAIL, SPECIALITE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0851" y="1212556"/>
            <a:ext cx="5680741" cy="5647520"/>
          </a:xfrm>
          <a:custGeom>
            <a:avLst/>
            <a:gdLst/>
            <a:ahLst/>
            <a:cxnLst/>
            <a:rect l="l" t="t" r="r" b="b"/>
            <a:pathLst>
              <a:path w="5680741" h="5647520">
                <a:moveTo>
                  <a:pt x="33221" y="0"/>
                </a:moveTo>
                <a:lnTo>
                  <a:pt x="5647520" y="0"/>
                </a:lnTo>
                <a:cubicBezTo>
                  <a:pt x="5665868" y="0"/>
                  <a:pt x="5680741" y="14873"/>
                  <a:pt x="5680741" y="33221"/>
                </a:cubicBezTo>
                <a:lnTo>
                  <a:pt x="5680741" y="5581106"/>
                </a:lnTo>
                <a:cubicBezTo>
                  <a:pt x="5680741" y="5617785"/>
                  <a:pt x="5651006" y="5647520"/>
                  <a:pt x="5614326" y="5647520"/>
                </a:cubicBezTo>
                <a:lnTo>
                  <a:pt x="66415" y="5647520"/>
                </a:lnTo>
                <a:cubicBezTo>
                  <a:pt x="29735" y="5647520"/>
                  <a:pt x="0" y="5617785"/>
                  <a:pt x="0" y="5581106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16" dist="830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80851" y="1212556"/>
            <a:ext cx="5680741" cy="33221"/>
          </a:xfrm>
          <a:custGeom>
            <a:avLst/>
            <a:gdLst/>
            <a:ahLst/>
            <a:cxnLst/>
            <a:rect l="l" t="t" r="r" b="b"/>
            <a:pathLst>
              <a:path w="5680741" h="33221">
                <a:moveTo>
                  <a:pt x="33221" y="0"/>
                </a:moveTo>
                <a:lnTo>
                  <a:pt x="5647520" y="0"/>
                </a:lnTo>
                <a:cubicBezTo>
                  <a:pt x="5665868" y="0"/>
                  <a:pt x="5680741" y="14873"/>
                  <a:pt x="5680741" y="33221"/>
                </a:cubicBezTo>
                <a:lnTo>
                  <a:pt x="5680741" y="33221"/>
                </a:lnTo>
                <a:lnTo>
                  <a:pt x="0" y="33221"/>
                </a:ln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6" name="Shape 34"/>
          <p:cNvSpPr/>
          <p:nvPr/>
        </p:nvSpPr>
        <p:spPr>
          <a:xfrm>
            <a:off x="6334497" y="1395270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62289" y="20763"/>
                </a:moveTo>
                <a:cubicBezTo>
                  <a:pt x="62289" y="15021"/>
                  <a:pt x="66928" y="10381"/>
                  <a:pt x="72670" y="10381"/>
                </a:cubicBezTo>
                <a:lnTo>
                  <a:pt x="93433" y="10381"/>
                </a:lnTo>
                <a:cubicBezTo>
                  <a:pt x="99175" y="10381"/>
                  <a:pt x="103815" y="15021"/>
                  <a:pt x="103815" y="20763"/>
                </a:cubicBezTo>
                <a:lnTo>
                  <a:pt x="103815" y="41526"/>
                </a:lnTo>
                <a:cubicBezTo>
                  <a:pt x="103815" y="47268"/>
                  <a:pt x="99175" y="51907"/>
                  <a:pt x="93433" y="51907"/>
                </a:cubicBezTo>
                <a:lnTo>
                  <a:pt x="90838" y="51907"/>
                </a:lnTo>
                <a:lnTo>
                  <a:pt x="90838" y="72670"/>
                </a:lnTo>
                <a:lnTo>
                  <a:pt x="129768" y="72670"/>
                </a:lnTo>
                <a:cubicBezTo>
                  <a:pt x="142680" y="72670"/>
                  <a:pt x="153127" y="83117"/>
                  <a:pt x="153127" y="96029"/>
                </a:cubicBezTo>
                <a:lnTo>
                  <a:pt x="153127" y="114196"/>
                </a:lnTo>
                <a:lnTo>
                  <a:pt x="155722" y="114196"/>
                </a:lnTo>
                <a:cubicBezTo>
                  <a:pt x="161464" y="114196"/>
                  <a:pt x="166104" y="118835"/>
                  <a:pt x="166104" y="124578"/>
                </a:cubicBezTo>
                <a:lnTo>
                  <a:pt x="166104" y="145341"/>
                </a:lnTo>
                <a:cubicBezTo>
                  <a:pt x="166104" y="151083"/>
                  <a:pt x="161464" y="155722"/>
                  <a:pt x="155722" y="155722"/>
                </a:cubicBezTo>
                <a:lnTo>
                  <a:pt x="134959" y="155722"/>
                </a:lnTo>
                <a:cubicBezTo>
                  <a:pt x="129217" y="155722"/>
                  <a:pt x="124578" y="151083"/>
                  <a:pt x="124578" y="145341"/>
                </a:cubicBezTo>
                <a:lnTo>
                  <a:pt x="124578" y="124578"/>
                </a:lnTo>
                <a:cubicBezTo>
                  <a:pt x="124578" y="118835"/>
                  <a:pt x="129217" y="114196"/>
                  <a:pt x="134959" y="114196"/>
                </a:cubicBezTo>
                <a:lnTo>
                  <a:pt x="137554" y="114196"/>
                </a:lnTo>
                <a:lnTo>
                  <a:pt x="137554" y="96029"/>
                </a:lnTo>
                <a:cubicBezTo>
                  <a:pt x="137554" y="91714"/>
                  <a:pt x="134083" y="88243"/>
                  <a:pt x="129768" y="88243"/>
                </a:cubicBezTo>
                <a:lnTo>
                  <a:pt x="90838" y="88243"/>
                </a:lnTo>
                <a:lnTo>
                  <a:pt x="90838" y="114196"/>
                </a:lnTo>
                <a:lnTo>
                  <a:pt x="93433" y="114196"/>
                </a:lnTo>
                <a:cubicBezTo>
                  <a:pt x="99175" y="114196"/>
                  <a:pt x="103815" y="118835"/>
                  <a:pt x="103815" y="124578"/>
                </a:cubicBezTo>
                <a:lnTo>
                  <a:pt x="103815" y="145341"/>
                </a:lnTo>
                <a:cubicBezTo>
                  <a:pt x="103815" y="151083"/>
                  <a:pt x="99175" y="155722"/>
                  <a:pt x="93433" y="155722"/>
                </a:cubicBezTo>
                <a:lnTo>
                  <a:pt x="72670" y="155722"/>
                </a:lnTo>
                <a:cubicBezTo>
                  <a:pt x="66928" y="155722"/>
                  <a:pt x="62289" y="151083"/>
                  <a:pt x="62289" y="145341"/>
                </a:cubicBezTo>
                <a:lnTo>
                  <a:pt x="62289" y="124578"/>
                </a:lnTo>
                <a:cubicBezTo>
                  <a:pt x="62289" y="118835"/>
                  <a:pt x="66928" y="114196"/>
                  <a:pt x="72670" y="114196"/>
                </a:cubicBezTo>
                <a:lnTo>
                  <a:pt x="75266" y="114196"/>
                </a:lnTo>
                <a:lnTo>
                  <a:pt x="75266" y="88243"/>
                </a:lnTo>
                <a:lnTo>
                  <a:pt x="36335" y="88243"/>
                </a:lnTo>
                <a:cubicBezTo>
                  <a:pt x="32020" y="88243"/>
                  <a:pt x="28549" y="91714"/>
                  <a:pt x="28549" y="96029"/>
                </a:cubicBezTo>
                <a:lnTo>
                  <a:pt x="28549" y="114196"/>
                </a:lnTo>
                <a:lnTo>
                  <a:pt x="31144" y="114196"/>
                </a:lnTo>
                <a:cubicBezTo>
                  <a:pt x="36887" y="114196"/>
                  <a:pt x="41526" y="118835"/>
                  <a:pt x="41526" y="124578"/>
                </a:cubicBezTo>
                <a:lnTo>
                  <a:pt x="41526" y="145341"/>
                </a:lnTo>
                <a:cubicBezTo>
                  <a:pt x="41526" y="151083"/>
                  <a:pt x="36887" y="155722"/>
                  <a:pt x="31144" y="155722"/>
                </a:cubicBezTo>
                <a:lnTo>
                  <a:pt x="10381" y="155722"/>
                </a:lnTo>
                <a:cubicBezTo>
                  <a:pt x="4639" y="155722"/>
                  <a:pt x="0" y="151083"/>
                  <a:pt x="0" y="145341"/>
                </a:cubicBezTo>
                <a:lnTo>
                  <a:pt x="0" y="124578"/>
                </a:lnTo>
                <a:cubicBezTo>
                  <a:pt x="0" y="118835"/>
                  <a:pt x="4639" y="114196"/>
                  <a:pt x="10381" y="114196"/>
                </a:cubicBezTo>
                <a:lnTo>
                  <a:pt x="12977" y="114196"/>
                </a:lnTo>
                <a:lnTo>
                  <a:pt x="12977" y="96029"/>
                </a:lnTo>
                <a:cubicBezTo>
                  <a:pt x="12977" y="83117"/>
                  <a:pt x="23423" y="72670"/>
                  <a:pt x="36335" y="72670"/>
                </a:cubicBezTo>
                <a:lnTo>
                  <a:pt x="75266" y="72670"/>
                </a:lnTo>
                <a:lnTo>
                  <a:pt x="75266" y="51907"/>
                </a:lnTo>
                <a:lnTo>
                  <a:pt x="72670" y="51907"/>
                </a:lnTo>
                <a:cubicBezTo>
                  <a:pt x="66928" y="51907"/>
                  <a:pt x="62289" y="47268"/>
                  <a:pt x="62289" y="41526"/>
                </a:cubicBezTo>
                <a:lnTo>
                  <a:pt x="62289" y="20763"/>
                </a:ln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7" name="Text 35"/>
          <p:cNvSpPr/>
          <p:nvPr/>
        </p:nvSpPr>
        <p:spPr>
          <a:xfrm>
            <a:off x="6621026" y="1362049"/>
            <a:ext cx="2450027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Modèle Conceptuel de Données (MCD)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0378" y="1700900"/>
            <a:ext cx="5403348" cy="5013005"/>
          </a:xfrm>
          <a:custGeom>
            <a:avLst/>
            <a:gdLst/>
            <a:ahLst/>
            <a:cxnLst/>
            <a:rect l="l" t="t" r="r" b="b"/>
            <a:pathLst>
              <a:path w="5403348" h="5013005">
                <a:moveTo>
                  <a:pt x="33236" y="0"/>
                </a:moveTo>
                <a:lnTo>
                  <a:pt x="5370112" y="0"/>
                </a:lnTo>
                <a:cubicBezTo>
                  <a:pt x="5388468" y="0"/>
                  <a:pt x="5403348" y="14880"/>
                  <a:pt x="5403348" y="33236"/>
                </a:cubicBezTo>
                <a:lnTo>
                  <a:pt x="5403348" y="4979769"/>
                </a:lnTo>
                <a:cubicBezTo>
                  <a:pt x="5403348" y="4998125"/>
                  <a:pt x="5388468" y="5013005"/>
                  <a:pt x="5370112" y="5013005"/>
                </a:cubicBezTo>
                <a:lnTo>
                  <a:pt x="33236" y="5013005"/>
                </a:lnTo>
                <a:cubicBezTo>
                  <a:pt x="14880" y="5013005"/>
                  <a:pt x="0" y="4998125"/>
                  <a:pt x="0" y="4979769"/>
                </a:cubicBezTo>
                <a:lnTo>
                  <a:pt x="0" y="33236"/>
                </a:lnTo>
                <a:cubicBezTo>
                  <a:pt x="0" y="14893"/>
                  <a:pt x="14893" y="0"/>
                  <a:pt x="33236" y="0"/>
                </a:cubicBezTo>
                <a:close/>
              </a:path>
            </a:pathLst>
          </a:custGeom>
          <a:solidFill>
            <a:srgbClr val="F8F9FA"/>
          </a:solidFill>
          <a:ln w="20320">
            <a:solidFill>
              <a:srgbClr val="2C5282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59905" y="1840428"/>
            <a:ext cx="2499858" cy="830518"/>
          </a:xfrm>
          <a:custGeom>
            <a:avLst/>
            <a:gdLst/>
            <a:ahLst/>
            <a:cxnLst/>
            <a:rect l="l" t="t" r="r" b="b"/>
            <a:pathLst>
              <a:path w="2499858" h="830518">
                <a:moveTo>
                  <a:pt x="33221" y="0"/>
                </a:moveTo>
                <a:lnTo>
                  <a:pt x="2466638" y="0"/>
                </a:lnTo>
                <a:cubicBezTo>
                  <a:pt x="2484985" y="0"/>
                  <a:pt x="2499858" y="14873"/>
                  <a:pt x="2499858" y="33221"/>
                </a:cubicBezTo>
                <a:lnTo>
                  <a:pt x="2499858" y="797297"/>
                </a:lnTo>
                <a:cubicBezTo>
                  <a:pt x="2499858" y="815644"/>
                  <a:pt x="2484985" y="830518"/>
                  <a:pt x="2466638" y="830518"/>
                </a:cubicBezTo>
                <a:lnTo>
                  <a:pt x="33221" y="830518"/>
                </a:lnTo>
                <a:cubicBezTo>
                  <a:pt x="14873" y="830518"/>
                  <a:pt x="0" y="815644"/>
                  <a:pt x="0" y="797297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40" name="Shape 38"/>
          <p:cNvSpPr/>
          <p:nvPr/>
        </p:nvSpPr>
        <p:spPr>
          <a:xfrm>
            <a:off x="7583180" y="1940090"/>
            <a:ext cx="249155" cy="199324"/>
          </a:xfrm>
          <a:custGeom>
            <a:avLst/>
            <a:gdLst/>
            <a:ahLst/>
            <a:cxnLst/>
            <a:rect l="l" t="t" r="r" b="b"/>
            <a:pathLst>
              <a:path w="249155" h="199324">
                <a:moveTo>
                  <a:pt x="176394" y="-14288"/>
                </a:moveTo>
                <a:lnTo>
                  <a:pt x="171645" y="-9577"/>
                </a:lnTo>
                <a:cubicBezTo>
                  <a:pt x="159498" y="2569"/>
                  <a:pt x="159498" y="22307"/>
                  <a:pt x="171645" y="34454"/>
                </a:cubicBezTo>
                <a:cubicBezTo>
                  <a:pt x="177718" y="40527"/>
                  <a:pt x="183791" y="46600"/>
                  <a:pt x="189903" y="52712"/>
                </a:cubicBezTo>
                <a:cubicBezTo>
                  <a:pt x="202049" y="64858"/>
                  <a:pt x="221787" y="64858"/>
                  <a:pt x="233933" y="52712"/>
                </a:cubicBezTo>
                <a:lnTo>
                  <a:pt x="238644" y="48001"/>
                </a:lnTo>
                <a:cubicBezTo>
                  <a:pt x="241058" y="45588"/>
                  <a:pt x="241058" y="41617"/>
                  <a:pt x="238644" y="39203"/>
                </a:cubicBezTo>
                <a:lnTo>
                  <a:pt x="233933" y="34492"/>
                </a:lnTo>
                <a:cubicBezTo>
                  <a:pt x="221787" y="22346"/>
                  <a:pt x="202049" y="22346"/>
                  <a:pt x="189903" y="34492"/>
                </a:cubicBezTo>
                <a:cubicBezTo>
                  <a:pt x="202049" y="22346"/>
                  <a:pt x="202049" y="2608"/>
                  <a:pt x="189903" y="-9538"/>
                </a:cubicBezTo>
                <a:lnTo>
                  <a:pt x="185192" y="-14288"/>
                </a:lnTo>
                <a:cubicBezTo>
                  <a:pt x="182779" y="-16701"/>
                  <a:pt x="178808" y="-16701"/>
                  <a:pt x="176394" y="-14288"/>
                </a:cubicBezTo>
                <a:close/>
                <a:moveTo>
                  <a:pt x="129094" y="37373"/>
                </a:moveTo>
                <a:cubicBezTo>
                  <a:pt x="111497" y="37373"/>
                  <a:pt x="95185" y="45315"/>
                  <a:pt x="84324" y="58513"/>
                </a:cubicBezTo>
                <a:lnTo>
                  <a:pt x="106397" y="80586"/>
                </a:lnTo>
                <a:cubicBezTo>
                  <a:pt x="110057" y="84246"/>
                  <a:pt x="110057" y="90163"/>
                  <a:pt x="106397" y="93784"/>
                </a:cubicBezTo>
                <a:cubicBezTo>
                  <a:pt x="102738" y="97404"/>
                  <a:pt x="96820" y="97443"/>
                  <a:pt x="93200" y="93784"/>
                </a:cubicBezTo>
                <a:lnTo>
                  <a:pt x="74591" y="75214"/>
                </a:lnTo>
                <a:lnTo>
                  <a:pt x="26161" y="181728"/>
                </a:lnTo>
                <a:cubicBezTo>
                  <a:pt x="24020" y="186438"/>
                  <a:pt x="25032" y="192005"/>
                  <a:pt x="28692" y="195704"/>
                </a:cubicBezTo>
                <a:cubicBezTo>
                  <a:pt x="32351" y="199402"/>
                  <a:pt x="37918" y="200375"/>
                  <a:pt x="42668" y="198234"/>
                </a:cubicBezTo>
                <a:lnTo>
                  <a:pt x="97793" y="173163"/>
                </a:lnTo>
                <a:lnTo>
                  <a:pt x="80742" y="156111"/>
                </a:lnTo>
                <a:cubicBezTo>
                  <a:pt x="77082" y="152452"/>
                  <a:pt x="77082" y="146534"/>
                  <a:pt x="80742" y="142914"/>
                </a:cubicBezTo>
                <a:cubicBezTo>
                  <a:pt x="84401" y="139293"/>
                  <a:pt x="90319" y="139254"/>
                  <a:pt x="93939" y="142914"/>
                </a:cubicBezTo>
                <a:lnTo>
                  <a:pt x="115935" y="164910"/>
                </a:lnTo>
                <a:lnTo>
                  <a:pt x="153036" y="148053"/>
                </a:lnTo>
                <a:cubicBezTo>
                  <a:pt x="173708" y="138671"/>
                  <a:pt x="186983" y="118037"/>
                  <a:pt x="186983" y="95302"/>
                </a:cubicBezTo>
                <a:cubicBezTo>
                  <a:pt x="186983" y="63301"/>
                  <a:pt x="161056" y="37373"/>
                  <a:pt x="129055" y="373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526346" y="2205856"/>
            <a:ext cx="2366975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INGREDIENT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4652" y="2438397"/>
            <a:ext cx="235036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CODE_ING (ID)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88632" y="1840428"/>
            <a:ext cx="2499858" cy="830518"/>
          </a:xfrm>
          <a:custGeom>
            <a:avLst/>
            <a:gdLst/>
            <a:ahLst/>
            <a:cxnLst/>
            <a:rect l="l" t="t" r="r" b="b"/>
            <a:pathLst>
              <a:path w="2499858" h="830518">
                <a:moveTo>
                  <a:pt x="33221" y="0"/>
                </a:moveTo>
                <a:lnTo>
                  <a:pt x="2466638" y="0"/>
                </a:lnTo>
                <a:cubicBezTo>
                  <a:pt x="2484985" y="0"/>
                  <a:pt x="2499858" y="14873"/>
                  <a:pt x="2499858" y="33221"/>
                </a:cubicBezTo>
                <a:lnTo>
                  <a:pt x="2499858" y="797297"/>
                </a:lnTo>
                <a:cubicBezTo>
                  <a:pt x="2499858" y="815644"/>
                  <a:pt x="2484985" y="830518"/>
                  <a:pt x="2466638" y="830518"/>
                </a:cubicBezTo>
                <a:lnTo>
                  <a:pt x="33221" y="830518"/>
                </a:lnTo>
                <a:cubicBezTo>
                  <a:pt x="14873" y="830518"/>
                  <a:pt x="0" y="815644"/>
                  <a:pt x="0" y="797297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36823" y="1940090"/>
            <a:ext cx="199324" cy="199324"/>
          </a:xfrm>
          <a:custGeom>
            <a:avLst/>
            <a:gdLst/>
            <a:ahLst/>
            <a:cxnLst/>
            <a:rect l="l" t="t" r="r" b="b"/>
            <a:pathLst>
              <a:path w="199324" h="199324">
                <a:moveTo>
                  <a:pt x="99662" y="55009"/>
                </a:moveTo>
                <a:lnTo>
                  <a:pt x="99662" y="175421"/>
                </a:lnTo>
                <a:lnTo>
                  <a:pt x="99857" y="175343"/>
                </a:lnTo>
                <a:cubicBezTo>
                  <a:pt x="121113" y="166506"/>
                  <a:pt x="143926" y="161951"/>
                  <a:pt x="166934" y="161951"/>
                </a:cubicBezTo>
                <a:lnTo>
                  <a:pt x="174409" y="161951"/>
                </a:lnTo>
                <a:lnTo>
                  <a:pt x="174409" y="37373"/>
                </a:lnTo>
                <a:lnTo>
                  <a:pt x="166934" y="37373"/>
                </a:lnTo>
                <a:cubicBezTo>
                  <a:pt x="150505" y="37373"/>
                  <a:pt x="134193" y="40643"/>
                  <a:pt x="119011" y="46950"/>
                </a:cubicBezTo>
                <a:cubicBezTo>
                  <a:pt x="112470" y="49675"/>
                  <a:pt x="106008" y="52362"/>
                  <a:pt x="99662" y="55009"/>
                </a:cubicBezTo>
                <a:close/>
                <a:moveTo>
                  <a:pt x="89891" y="23942"/>
                </a:moveTo>
                <a:lnTo>
                  <a:pt x="99662" y="28030"/>
                </a:lnTo>
                <a:lnTo>
                  <a:pt x="109434" y="23942"/>
                </a:lnTo>
                <a:cubicBezTo>
                  <a:pt x="127653" y="16351"/>
                  <a:pt x="147196" y="12458"/>
                  <a:pt x="166934" y="12458"/>
                </a:cubicBezTo>
                <a:lnTo>
                  <a:pt x="180638" y="12458"/>
                </a:lnTo>
                <a:cubicBezTo>
                  <a:pt x="190954" y="12458"/>
                  <a:pt x="199324" y="20828"/>
                  <a:pt x="199324" y="31144"/>
                </a:cubicBezTo>
                <a:lnTo>
                  <a:pt x="199324" y="168180"/>
                </a:lnTo>
                <a:cubicBezTo>
                  <a:pt x="199324" y="178496"/>
                  <a:pt x="190954" y="186866"/>
                  <a:pt x="180638" y="186866"/>
                </a:cubicBezTo>
                <a:lnTo>
                  <a:pt x="166934" y="186866"/>
                </a:lnTo>
                <a:cubicBezTo>
                  <a:pt x="147196" y="186866"/>
                  <a:pt x="127653" y="190760"/>
                  <a:pt x="109434" y="198351"/>
                </a:cubicBezTo>
                <a:lnTo>
                  <a:pt x="104451" y="200414"/>
                </a:lnTo>
                <a:cubicBezTo>
                  <a:pt x="101375" y="201699"/>
                  <a:pt x="97949" y="201699"/>
                  <a:pt x="94874" y="200414"/>
                </a:cubicBezTo>
                <a:lnTo>
                  <a:pt x="89891" y="198351"/>
                </a:lnTo>
                <a:cubicBezTo>
                  <a:pt x="71671" y="190760"/>
                  <a:pt x="52128" y="186866"/>
                  <a:pt x="32390" y="186866"/>
                </a:cubicBezTo>
                <a:lnTo>
                  <a:pt x="18687" y="186866"/>
                </a:lnTo>
                <a:cubicBezTo>
                  <a:pt x="8370" y="186866"/>
                  <a:pt x="0" y="178496"/>
                  <a:pt x="0" y="168180"/>
                </a:cubicBezTo>
                <a:lnTo>
                  <a:pt x="0" y="31144"/>
                </a:lnTo>
                <a:cubicBezTo>
                  <a:pt x="0" y="20828"/>
                  <a:pt x="8370" y="12458"/>
                  <a:pt x="18687" y="12458"/>
                </a:cubicBezTo>
                <a:lnTo>
                  <a:pt x="32390" y="12458"/>
                </a:lnTo>
                <a:cubicBezTo>
                  <a:pt x="52128" y="12458"/>
                  <a:pt x="71671" y="16351"/>
                  <a:pt x="89891" y="239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155074" y="2205856"/>
            <a:ext cx="2366975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RECETTE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63379" y="2438397"/>
            <a:ext cx="235036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CODE_REC (ID)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59905" y="2803825"/>
            <a:ext cx="2499858" cy="830518"/>
          </a:xfrm>
          <a:custGeom>
            <a:avLst/>
            <a:gdLst/>
            <a:ahLst/>
            <a:cxnLst/>
            <a:rect l="l" t="t" r="r" b="b"/>
            <a:pathLst>
              <a:path w="2499858" h="830518">
                <a:moveTo>
                  <a:pt x="33221" y="0"/>
                </a:moveTo>
                <a:lnTo>
                  <a:pt x="2466638" y="0"/>
                </a:lnTo>
                <a:cubicBezTo>
                  <a:pt x="2484985" y="0"/>
                  <a:pt x="2499858" y="14873"/>
                  <a:pt x="2499858" y="33221"/>
                </a:cubicBezTo>
                <a:lnTo>
                  <a:pt x="2499858" y="797297"/>
                </a:lnTo>
                <a:cubicBezTo>
                  <a:pt x="2499858" y="815644"/>
                  <a:pt x="2484985" y="830518"/>
                  <a:pt x="2466638" y="830518"/>
                </a:cubicBezTo>
                <a:lnTo>
                  <a:pt x="33221" y="830518"/>
                </a:lnTo>
                <a:cubicBezTo>
                  <a:pt x="14873" y="830518"/>
                  <a:pt x="0" y="815644"/>
                  <a:pt x="0" y="797297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8" name="Shape 46"/>
          <p:cNvSpPr/>
          <p:nvPr/>
        </p:nvSpPr>
        <p:spPr>
          <a:xfrm>
            <a:off x="7633011" y="2903487"/>
            <a:ext cx="149493" cy="199324"/>
          </a:xfrm>
          <a:custGeom>
            <a:avLst/>
            <a:gdLst/>
            <a:ahLst/>
            <a:cxnLst/>
            <a:rect l="l" t="t" r="r" b="b"/>
            <a:pathLst>
              <a:path w="149493" h="199324">
                <a:moveTo>
                  <a:pt x="121230" y="12458"/>
                </a:moveTo>
                <a:lnTo>
                  <a:pt x="124578" y="12458"/>
                </a:lnTo>
                <a:cubicBezTo>
                  <a:pt x="138320" y="12458"/>
                  <a:pt x="149493" y="23631"/>
                  <a:pt x="149493" y="37373"/>
                </a:cubicBezTo>
                <a:lnTo>
                  <a:pt x="149493" y="174409"/>
                </a:lnTo>
                <a:cubicBezTo>
                  <a:pt x="149493" y="188151"/>
                  <a:pt x="138320" y="199324"/>
                  <a:pt x="124578" y="199324"/>
                </a:cubicBezTo>
                <a:lnTo>
                  <a:pt x="24916" y="199324"/>
                </a:lnTo>
                <a:cubicBezTo>
                  <a:pt x="11173" y="199324"/>
                  <a:pt x="0" y="188151"/>
                  <a:pt x="0" y="174409"/>
                </a:cubicBezTo>
                <a:lnTo>
                  <a:pt x="0" y="37373"/>
                </a:lnTo>
                <a:cubicBezTo>
                  <a:pt x="0" y="23631"/>
                  <a:pt x="11173" y="12458"/>
                  <a:pt x="24916" y="12458"/>
                </a:cubicBezTo>
                <a:lnTo>
                  <a:pt x="28264" y="12458"/>
                </a:lnTo>
                <a:cubicBezTo>
                  <a:pt x="32546" y="5022"/>
                  <a:pt x="40605" y="0"/>
                  <a:pt x="49831" y="0"/>
                </a:cubicBezTo>
                <a:lnTo>
                  <a:pt x="99662" y="0"/>
                </a:lnTo>
                <a:cubicBezTo>
                  <a:pt x="108889" y="0"/>
                  <a:pt x="116947" y="5022"/>
                  <a:pt x="121230" y="12458"/>
                </a:cubicBezTo>
                <a:close/>
                <a:moveTo>
                  <a:pt x="96548" y="43602"/>
                </a:moveTo>
                <a:cubicBezTo>
                  <a:pt x="101725" y="43602"/>
                  <a:pt x="105891" y="39437"/>
                  <a:pt x="105891" y="34259"/>
                </a:cubicBezTo>
                <a:cubicBezTo>
                  <a:pt x="105891" y="29081"/>
                  <a:pt x="101725" y="24916"/>
                  <a:pt x="96548" y="24916"/>
                </a:cubicBezTo>
                <a:lnTo>
                  <a:pt x="52946" y="24916"/>
                </a:lnTo>
                <a:cubicBezTo>
                  <a:pt x="47768" y="24916"/>
                  <a:pt x="43602" y="29081"/>
                  <a:pt x="43602" y="34259"/>
                </a:cubicBezTo>
                <a:cubicBezTo>
                  <a:pt x="43602" y="39437"/>
                  <a:pt x="47768" y="43602"/>
                  <a:pt x="52946" y="43602"/>
                </a:cubicBezTo>
                <a:lnTo>
                  <a:pt x="96548" y="43602"/>
                </a:lnTo>
                <a:close/>
                <a:moveTo>
                  <a:pt x="49831" y="99662"/>
                </a:moveTo>
                <a:cubicBezTo>
                  <a:pt x="49831" y="92786"/>
                  <a:pt x="44249" y="87204"/>
                  <a:pt x="37373" y="87204"/>
                </a:cubicBezTo>
                <a:cubicBezTo>
                  <a:pt x="30498" y="87204"/>
                  <a:pt x="24916" y="92786"/>
                  <a:pt x="24916" y="99662"/>
                </a:cubicBezTo>
                <a:cubicBezTo>
                  <a:pt x="24916" y="106538"/>
                  <a:pt x="30498" y="112120"/>
                  <a:pt x="37373" y="112120"/>
                </a:cubicBezTo>
                <a:cubicBezTo>
                  <a:pt x="44249" y="112120"/>
                  <a:pt x="49831" y="106538"/>
                  <a:pt x="49831" y="99662"/>
                </a:cubicBezTo>
                <a:close/>
                <a:moveTo>
                  <a:pt x="62289" y="99662"/>
                </a:moveTo>
                <a:cubicBezTo>
                  <a:pt x="62289" y="104840"/>
                  <a:pt x="66454" y="109005"/>
                  <a:pt x="71632" y="109005"/>
                </a:cubicBezTo>
                <a:lnTo>
                  <a:pt x="115234" y="109005"/>
                </a:lnTo>
                <a:cubicBezTo>
                  <a:pt x="120412" y="109005"/>
                  <a:pt x="124578" y="104840"/>
                  <a:pt x="124578" y="99662"/>
                </a:cubicBezTo>
                <a:cubicBezTo>
                  <a:pt x="124578" y="94484"/>
                  <a:pt x="120412" y="90319"/>
                  <a:pt x="115234" y="90319"/>
                </a:cubicBezTo>
                <a:lnTo>
                  <a:pt x="71632" y="90319"/>
                </a:lnTo>
                <a:cubicBezTo>
                  <a:pt x="66454" y="90319"/>
                  <a:pt x="62289" y="94484"/>
                  <a:pt x="62289" y="99662"/>
                </a:cubicBezTo>
                <a:close/>
                <a:moveTo>
                  <a:pt x="62289" y="149493"/>
                </a:moveTo>
                <a:cubicBezTo>
                  <a:pt x="62289" y="154671"/>
                  <a:pt x="66454" y="158837"/>
                  <a:pt x="71632" y="158837"/>
                </a:cubicBezTo>
                <a:lnTo>
                  <a:pt x="115234" y="158837"/>
                </a:lnTo>
                <a:cubicBezTo>
                  <a:pt x="120412" y="158837"/>
                  <a:pt x="124578" y="154671"/>
                  <a:pt x="124578" y="149493"/>
                </a:cubicBezTo>
                <a:cubicBezTo>
                  <a:pt x="124578" y="144315"/>
                  <a:pt x="120412" y="140150"/>
                  <a:pt x="115234" y="140150"/>
                </a:cubicBezTo>
                <a:lnTo>
                  <a:pt x="71632" y="140150"/>
                </a:lnTo>
                <a:cubicBezTo>
                  <a:pt x="66454" y="140150"/>
                  <a:pt x="62289" y="144315"/>
                  <a:pt x="62289" y="149493"/>
                </a:cubicBezTo>
                <a:close/>
                <a:moveTo>
                  <a:pt x="37373" y="161951"/>
                </a:moveTo>
                <a:cubicBezTo>
                  <a:pt x="44249" y="161951"/>
                  <a:pt x="49831" y="156369"/>
                  <a:pt x="49831" y="149493"/>
                </a:cubicBezTo>
                <a:cubicBezTo>
                  <a:pt x="49831" y="142618"/>
                  <a:pt x="44249" y="137035"/>
                  <a:pt x="37373" y="137035"/>
                </a:cubicBezTo>
                <a:cubicBezTo>
                  <a:pt x="30498" y="137035"/>
                  <a:pt x="24916" y="142618"/>
                  <a:pt x="24916" y="149493"/>
                </a:cubicBezTo>
                <a:cubicBezTo>
                  <a:pt x="24916" y="156369"/>
                  <a:pt x="30498" y="161951"/>
                  <a:pt x="37373" y="1619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526346" y="3169252"/>
            <a:ext cx="2366975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MENU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34652" y="3401797"/>
            <a:ext cx="235036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CODE_MENU (ID)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88632" y="2803825"/>
            <a:ext cx="2499858" cy="830518"/>
          </a:xfrm>
          <a:custGeom>
            <a:avLst/>
            <a:gdLst/>
            <a:ahLst/>
            <a:cxnLst/>
            <a:rect l="l" t="t" r="r" b="b"/>
            <a:pathLst>
              <a:path w="2499858" h="830518">
                <a:moveTo>
                  <a:pt x="33221" y="0"/>
                </a:moveTo>
                <a:lnTo>
                  <a:pt x="2466638" y="0"/>
                </a:lnTo>
                <a:cubicBezTo>
                  <a:pt x="2484985" y="0"/>
                  <a:pt x="2499858" y="14873"/>
                  <a:pt x="2499858" y="33221"/>
                </a:cubicBezTo>
                <a:lnTo>
                  <a:pt x="2499858" y="797297"/>
                </a:lnTo>
                <a:cubicBezTo>
                  <a:pt x="2499858" y="815644"/>
                  <a:pt x="2484985" y="830518"/>
                  <a:pt x="2466638" y="830518"/>
                </a:cubicBezTo>
                <a:lnTo>
                  <a:pt x="33221" y="830518"/>
                </a:lnTo>
                <a:cubicBezTo>
                  <a:pt x="14873" y="830518"/>
                  <a:pt x="0" y="815644"/>
                  <a:pt x="0" y="797297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52" name="Shape 50"/>
          <p:cNvSpPr/>
          <p:nvPr/>
        </p:nvSpPr>
        <p:spPr>
          <a:xfrm>
            <a:off x="10236823" y="2903487"/>
            <a:ext cx="199324" cy="199324"/>
          </a:xfrm>
          <a:custGeom>
            <a:avLst/>
            <a:gdLst/>
            <a:ahLst/>
            <a:cxnLst/>
            <a:rect l="l" t="t" r="r" b="b"/>
            <a:pathLst>
              <a:path w="199324" h="199324">
                <a:moveTo>
                  <a:pt x="25655" y="88956"/>
                </a:moveTo>
                <a:cubicBezTo>
                  <a:pt x="30833" y="52751"/>
                  <a:pt x="62016" y="24916"/>
                  <a:pt x="99662" y="24916"/>
                </a:cubicBezTo>
                <a:cubicBezTo>
                  <a:pt x="120295" y="24916"/>
                  <a:pt x="138982" y="33286"/>
                  <a:pt x="152530" y="46794"/>
                </a:cubicBezTo>
                <a:cubicBezTo>
                  <a:pt x="152608" y="46872"/>
                  <a:pt x="152685" y="46950"/>
                  <a:pt x="152763" y="47028"/>
                </a:cubicBezTo>
                <a:lnTo>
                  <a:pt x="155722" y="49831"/>
                </a:lnTo>
                <a:lnTo>
                  <a:pt x="137074" y="49831"/>
                </a:lnTo>
                <a:cubicBezTo>
                  <a:pt x="130184" y="49831"/>
                  <a:pt x="124617" y="55398"/>
                  <a:pt x="124617" y="62289"/>
                </a:cubicBezTo>
                <a:cubicBezTo>
                  <a:pt x="124617" y="69180"/>
                  <a:pt x="130184" y="74747"/>
                  <a:pt x="137074" y="74747"/>
                </a:cubicBezTo>
                <a:lnTo>
                  <a:pt x="186905" y="74747"/>
                </a:lnTo>
                <a:cubicBezTo>
                  <a:pt x="193796" y="74747"/>
                  <a:pt x="199363" y="69180"/>
                  <a:pt x="199363" y="62289"/>
                </a:cubicBezTo>
                <a:lnTo>
                  <a:pt x="199363" y="12458"/>
                </a:lnTo>
                <a:cubicBezTo>
                  <a:pt x="199363" y="5567"/>
                  <a:pt x="193796" y="0"/>
                  <a:pt x="186905" y="0"/>
                </a:cubicBezTo>
                <a:cubicBezTo>
                  <a:pt x="180015" y="0"/>
                  <a:pt x="174448" y="5567"/>
                  <a:pt x="174448" y="12458"/>
                </a:cubicBezTo>
                <a:lnTo>
                  <a:pt x="174448" y="33247"/>
                </a:lnTo>
                <a:lnTo>
                  <a:pt x="170049" y="29081"/>
                </a:lnTo>
                <a:cubicBezTo>
                  <a:pt x="152024" y="11134"/>
                  <a:pt x="127108" y="0"/>
                  <a:pt x="99662" y="0"/>
                </a:cubicBezTo>
                <a:cubicBezTo>
                  <a:pt x="49442" y="0"/>
                  <a:pt x="7903" y="37140"/>
                  <a:pt x="1012" y="85452"/>
                </a:cubicBezTo>
                <a:cubicBezTo>
                  <a:pt x="39" y="92265"/>
                  <a:pt x="4750" y="98572"/>
                  <a:pt x="11562" y="99545"/>
                </a:cubicBezTo>
                <a:cubicBezTo>
                  <a:pt x="18375" y="100519"/>
                  <a:pt x="24682" y="95769"/>
                  <a:pt x="25655" y="88995"/>
                </a:cubicBezTo>
                <a:close/>
                <a:moveTo>
                  <a:pt x="198312" y="113872"/>
                </a:moveTo>
                <a:cubicBezTo>
                  <a:pt x="199285" y="107059"/>
                  <a:pt x="194536" y="100752"/>
                  <a:pt x="187762" y="99779"/>
                </a:cubicBezTo>
                <a:cubicBezTo>
                  <a:pt x="180988" y="98806"/>
                  <a:pt x="174642" y="103555"/>
                  <a:pt x="173669" y="110329"/>
                </a:cubicBezTo>
                <a:cubicBezTo>
                  <a:pt x="168491" y="146534"/>
                  <a:pt x="137308" y="174370"/>
                  <a:pt x="99662" y="174370"/>
                </a:cubicBezTo>
                <a:cubicBezTo>
                  <a:pt x="79029" y="174370"/>
                  <a:pt x="60342" y="166000"/>
                  <a:pt x="46794" y="152491"/>
                </a:cubicBezTo>
                <a:cubicBezTo>
                  <a:pt x="46717" y="152413"/>
                  <a:pt x="46639" y="152335"/>
                  <a:pt x="46561" y="152257"/>
                </a:cubicBezTo>
                <a:lnTo>
                  <a:pt x="43602" y="149454"/>
                </a:lnTo>
                <a:lnTo>
                  <a:pt x="62250" y="149454"/>
                </a:lnTo>
                <a:cubicBezTo>
                  <a:pt x="69141" y="149454"/>
                  <a:pt x="74708" y="143887"/>
                  <a:pt x="74708" y="136996"/>
                </a:cubicBezTo>
                <a:cubicBezTo>
                  <a:pt x="74708" y="130106"/>
                  <a:pt x="69141" y="124539"/>
                  <a:pt x="62250" y="124539"/>
                </a:cubicBezTo>
                <a:lnTo>
                  <a:pt x="12458" y="124578"/>
                </a:lnTo>
                <a:cubicBezTo>
                  <a:pt x="9149" y="124578"/>
                  <a:pt x="5956" y="125901"/>
                  <a:pt x="3621" y="128276"/>
                </a:cubicBezTo>
                <a:cubicBezTo>
                  <a:pt x="1285" y="130651"/>
                  <a:pt x="-39" y="133804"/>
                  <a:pt x="0" y="137152"/>
                </a:cubicBezTo>
                <a:lnTo>
                  <a:pt x="389" y="186594"/>
                </a:lnTo>
                <a:cubicBezTo>
                  <a:pt x="428" y="193485"/>
                  <a:pt x="6073" y="199013"/>
                  <a:pt x="12964" y="198935"/>
                </a:cubicBezTo>
                <a:cubicBezTo>
                  <a:pt x="19855" y="198857"/>
                  <a:pt x="25383" y="193251"/>
                  <a:pt x="25305" y="186360"/>
                </a:cubicBezTo>
                <a:lnTo>
                  <a:pt x="25149" y="166311"/>
                </a:lnTo>
                <a:lnTo>
                  <a:pt x="29315" y="170243"/>
                </a:lnTo>
                <a:cubicBezTo>
                  <a:pt x="47340" y="188190"/>
                  <a:pt x="72216" y="199324"/>
                  <a:pt x="99662" y="199324"/>
                </a:cubicBezTo>
                <a:cubicBezTo>
                  <a:pt x="149882" y="199324"/>
                  <a:pt x="191421" y="162185"/>
                  <a:pt x="198312" y="1138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9155074" y="3169252"/>
            <a:ext cx="2366975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CHEF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63379" y="3401797"/>
            <a:ext cx="235036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CODE_CHEF (ID)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59905" y="3767225"/>
            <a:ext cx="5124294" cy="830518"/>
          </a:xfrm>
          <a:custGeom>
            <a:avLst/>
            <a:gdLst/>
            <a:ahLst/>
            <a:cxnLst/>
            <a:rect l="l" t="t" r="r" b="b"/>
            <a:pathLst>
              <a:path w="5124294" h="830518">
                <a:moveTo>
                  <a:pt x="33221" y="0"/>
                </a:moveTo>
                <a:lnTo>
                  <a:pt x="5091074" y="0"/>
                </a:lnTo>
                <a:cubicBezTo>
                  <a:pt x="5109421" y="0"/>
                  <a:pt x="5124294" y="14873"/>
                  <a:pt x="5124294" y="33221"/>
                </a:cubicBezTo>
                <a:lnTo>
                  <a:pt x="5124294" y="797297"/>
                </a:lnTo>
                <a:cubicBezTo>
                  <a:pt x="5124294" y="815644"/>
                  <a:pt x="5109421" y="830518"/>
                  <a:pt x="5091074" y="830518"/>
                </a:cubicBezTo>
                <a:lnTo>
                  <a:pt x="33221" y="830518"/>
                </a:lnTo>
                <a:cubicBezTo>
                  <a:pt x="14873" y="830518"/>
                  <a:pt x="0" y="815644"/>
                  <a:pt x="0" y="797297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6" name="Shape 54"/>
          <p:cNvSpPr/>
          <p:nvPr/>
        </p:nvSpPr>
        <p:spPr>
          <a:xfrm>
            <a:off x="8910071" y="3866887"/>
            <a:ext cx="224240" cy="199324"/>
          </a:xfrm>
          <a:custGeom>
            <a:avLst/>
            <a:gdLst/>
            <a:ahLst/>
            <a:cxnLst/>
            <a:rect l="l" t="t" r="r" b="b"/>
            <a:pathLst>
              <a:path w="224240" h="199324">
                <a:moveTo>
                  <a:pt x="0" y="37373"/>
                </a:moveTo>
                <a:cubicBezTo>
                  <a:pt x="0" y="23631"/>
                  <a:pt x="11173" y="12458"/>
                  <a:pt x="24916" y="12458"/>
                </a:cubicBezTo>
                <a:lnTo>
                  <a:pt x="137035" y="12458"/>
                </a:lnTo>
                <a:cubicBezTo>
                  <a:pt x="150778" y="12458"/>
                  <a:pt x="161951" y="23631"/>
                  <a:pt x="161951" y="37373"/>
                </a:cubicBezTo>
                <a:lnTo>
                  <a:pt x="161951" y="49831"/>
                </a:lnTo>
                <a:lnTo>
                  <a:pt x="181689" y="49831"/>
                </a:lnTo>
                <a:cubicBezTo>
                  <a:pt x="188307" y="49831"/>
                  <a:pt x="194653" y="52439"/>
                  <a:pt x="199324" y="57111"/>
                </a:cubicBezTo>
                <a:lnTo>
                  <a:pt x="216960" y="74747"/>
                </a:lnTo>
                <a:cubicBezTo>
                  <a:pt x="221631" y="79418"/>
                  <a:pt x="224240" y="85764"/>
                  <a:pt x="224240" y="92382"/>
                </a:cubicBezTo>
                <a:lnTo>
                  <a:pt x="224240" y="149493"/>
                </a:lnTo>
                <a:cubicBezTo>
                  <a:pt x="224240" y="163236"/>
                  <a:pt x="213067" y="174409"/>
                  <a:pt x="199324" y="174409"/>
                </a:cubicBezTo>
                <a:lnTo>
                  <a:pt x="198040" y="174409"/>
                </a:lnTo>
                <a:cubicBezTo>
                  <a:pt x="193991" y="188774"/>
                  <a:pt x="180754" y="199324"/>
                  <a:pt x="165065" y="199324"/>
                </a:cubicBezTo>
                <a:cubicBezTo>
                  <a:pt x="149376" y="199324"/>
                  <a:pt x="136179" y="188774"/>
                  <a:pt x="132091" y="174409"/>
                </a:cubicBezTo>
                <a:lnTo>
                  <a:pt x="92149" y="174409"/>
                </a:lnTo>
                <a:cubicBezTo>
                  <a:pt x="88100" y="188774"/>
                  <a:pt x="74863" y="199324"/>
                  <a:pt x="59174" y="199324"/>
                </a:cubicBezTo>
                <a:cubicBezTo>
                  <a:pt x="43485" y="199324"/>
                  <a:pt x="30288" y="188774"/>
                  <a:pt x="26200" y="174409"/>
                </a:cubicBezTo>
                <a:lnTo>
                  <a:pt x="24916" y="174409"/>
                </a:lnTo>
                <a:cubicBezTo>
                  <a:pt x="11173" y="174409"/>
                  <a:pt x="0" y="163236"/>
                  <a:pt x="0" y="149493"/>
                </a:cubicBezTo>
                <a:lnTo>
                  <a:pt x="0" y="37373"/>
                </a:lnTo>
                <a:close/>
                <a:moveTo>
                  <a:pt x="199324" y="112120"/>
                </a:moveTo>
                <a:lnTo>
                  <a:pt x="199324" y="92382"/>
                </a:lnTo>
                <a:lnTo>
                  <a:pt x="181689" y="74747"/>
                </a:lnTo>
                <a:lnTo>
                  <a:pt x="161951" y="74747"/>
                </a:lnTo>
                <a:lnTo>
                  <a:pt x="161951" y="112120"/>
                </a:lnTo>
                <a:lnTo>
                  <a:pt x="199324" y="112120"/>
                </a:lnTo>
                <a:close/>
                <a:moveTo>
                  <a:pt x="74747" y="165065"/>
                </a:moveTo>
                <a:cubicBezTo>
                  <a:pt x="74747" y="156471"/>
                  <a:pt x="67769" y="149493"/>
                  <a:pt x="59174" y="149493"/>
                </a:cubicBezTo>
                <a:cubicBezTo>
                  <a:pt x="50580" y="149493"/>
                  <a:pt x="43602" y="156471"/>
                  <a:pt x="43602" y="165065"/>
                </a:cubicBezTo>
                <a:cubicBezTo>
                  <a:pt x="43602" y="173660"/>
                  <a:pt x="50580" y="180638"/>
                  <a:pt x="59174" y="180638"/>
                </a:cubicBezTo>
                <a:cubicBezTo>
                  <a:pt x="67769" y="180638"/>
                  <a:pt x="74747" y="173660"/>
                  <a:pt x="74747" y="165065"/>
                </a:cubicBezTo>
                <a:close/>
                <a:moveTo>
                  <a:pt x="165065" y="180638"/>
                </a:moveTo>
                <a:cubicBezTo>
                  <a:pt x="173660" y="180638"/>
                  <a:pt x="180638" y="173660"/>
                  <a:pt x="180638" y="165065"/>
                </a:cubicBezTo>
                <a:cubicBezTo>
                  <a:pt x="180638" y="156471"/>
                  <a:pt x="173660" y="149493"/>
                  <a:pt x="165065" y="149493"/>
                </a:cubicBezTo>
                <a:cubicBezTo>
                  <a:pt x="156471" y="149493"/>
                  <a:pt x="149493" y="156471"/>
                  <a:pt x="149493" y="165065"/>
                </a:cubicBezTo>
                <a:cubicBezTo>
                  <a:pt x="149493" y="173660"/>
                  <a:pt x="156471" y="180638"/>
                  <a:pt x="165065" y="1806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6526346" y="4132653"/>
            <a:ext cx="4991411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FOURNISSEUR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34652" y="4365198"/>
            <a:ext cx="4974801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CODE_FOUR (ID)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63227" y="4733948"/>
            <a:ext cx="5114328" cy="405293"/>
          </a:xfrm>
          <a:custGeom>
            <a:avLst/>
            <a:gdLst/>
            <a:ahLst/>
            <a:cxnLst/>
            <a:rect l="l" t="t" r="r" b="b"/>
            <a:pathLst>
              <a:path w="5114328" h="405293">
                <a:moveTo>
                  <a:pt x="33222" y="0"/>
                </a:moveTo>
                <a:lnTo>
                  <a:pt x="5081106" y="0"/>
                </a:lnTo>
                <a:cubicBezTo>
                  <a:pt x="5099454" y="0"/>
                  <a:pt x="5114328" y="14874"/>
                  <a:pt x="5114328" y="33222"/>
                </a:cubicBezTo>
                <a:lnTo>
                  <a:pt x="5114328" y="372071"/>
                </a:lnTo>
                <a:cubicBezTo>
                  <a:pt x="5114328" y="390419"/>
                  <a:pt x="5099454" y="405293"/>
                  <a:pt x="5081106" y="405293"/>
                </a:cubicBezTo>
                <a:lnTo>
                  <a:pt x="33222" y="405293"/>
                </a:lnTo>
                <a:cubicBezTo>
                  <a:pt x="14886" y="405293"/>
                  <a:pt x="0" y="390406"/>
                  <a:pt x="0" y="372071"/>
                </a:cubicBezTo>
                <a:lnTo>
                  <a:pt x="0" y="33222"/>
                </a:lnTo>
                <a:cubicBezTo>
                  <a:pt x="0" y="14886"/>
                  <a:pt x="14886" y="0"/>
                  <a:pt x="3322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02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08075" y="4870159"/>
            <a:ext cx="2267313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RECETTE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846674" y="4803718"/>
            <a:ext cx="398649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COMPOSE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846674" y="4936601"/>
            <a:ext cx="398649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1,N - 1,N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272315" y="4870159"/>
            <a:ext cx="2267313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INGREDIENT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63227" y="5212331"/>
            <a:ext cx="5114328" cy="405293"/>
          </a:xfrm>
          <a:custGeom>
            <a:avLst/>
            <a:gdLst/>
            <a:ahLst/>
            <a:cxnLst/>
            <a:rect l="l" t="t" r="r" b="b"/>
            <a:pathLst>
              <a:path w="5114328" h="405293">
                <a:moveTo>
                  <a:pt x="33222" y="0"/>
                </a:moveTo>
                <a:lnTo>
                  <a:pt x="5081106" y="0"/>
                </a:lnTo>
                <a:cubicBezTo>
                  <a:pt x="5099454" y="0"/>
                  <a:pt x="5114328" y="14874"/>
                  <a:pt x="5114328" y="33222"/>
                </a:cubicBezTo>
                <a:lnTo>
                  <a:pt x="5114328" y="372071"/>
                </a:lnTo>
                <a:cubicBezTo>
                  <a:pt x="5114328" y="390419"/>
                  <a:pt x="5099454" y="405293"/>
                  <a:pt x="5081106" y="405293"/>
                </a:cubicBezTo>
                <a:lnTo>
                  <a:pt x="33222" y="405293"/>
                </a:lnTo>
                <a:cubicBezTo>
                  <a:pt x="14886" y="405293"/>
                  <a:pt x="0" y="390406"/>
                  <a:pt x="0" y="372071"/>
                </a:cubicBezTo>
                <a:lnTo>
                  <a:pt x="0" y="33222"/>
                </a:lnTo>
                <a:cubicBezTo>
                  <a:pt x="0" y="14886"/>
                  <a:pt x="14886" y="0"/>
                  <a:pt x="3322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02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08075" y="5348534"/>
            <a:ext cx="2242398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MENU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823281" y="5282093"/>
            <a:ext cx="448480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CONSTITUE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823281" y="5414975"/>
            <a:ext cx="448480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1,N - 1,N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295707" y="5348534"/>
            <a:ext cx="2242398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RECETTE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463227" y="5690706"/>
            <a:ext cx="5114328" cy="405293"/>
          </a:xfrm>
          <a:custGeom>
            <a:avLst/>
            <a:gdLst/>
            <a:ahLst/>
            <a:cxnLst/>
            <a:rect l="l" t="t" r="r" b="b"/>
            <a:pathLst>
              <a:path w="5114328" h="405293">
                <a:moveTo>
                  <a:pt x="33222" y="0"/>
                </a:moveTo>
                <a:lnTo>
                  <a:pt x="5081106" y="0"/>
                </a:lnTo>
                <a:cubicBezTo>
                  <a:pt x="5099454" y="0"/>
                  <a:pt x="5114328" y="14874"/>
                  <a:pt x="5114328" y="33222"/>
                </a:cubicBezTo>
                <a:lnTo>
                  <a:pt x="5114328" y="372071"/>
                </a:lnTo>
                <a:cubicBezTo>
                  <a:pt x="5114328" y="390419"/>
                  <a:pt x="5099454" y="405293"/>
                  <a:pt x="5081106" y="405293"/>
                </a:cubicBezTo>
                <a:lnTo>
                  <a:pt x="33222" y="405293"/>
                </a:lnTo>
                <a:cubicBezTo>
                  <a:pt x="14886" y="405293"/>
                  <a:pt x="0" y="390406"/>
                  <a:pt x="0" y="372071"/>
                </a:cubicBezTo>
                <a:lnTo>
                  <a:pt x="0" y="33222"/>
                </a:lnTo>
                <a:cubicBezTo>
                  <a:pt x="0" y="14886"/>
                  <a:pt x="14886" y="0"/>
                  <a:pt x="3322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02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08075" y="5826909"/>
            <a:ext cx="2242398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CHEF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823005" y="5760468"/>
            <a:ext cx="448480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REALISE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823005" y="5893350"/>
            <a:ext cx="448480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0,N - 0,N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295985" y="5826909"/>
            <a:ext cx="2242398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RECETTE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463227" y="6169089"/>
            <a:ext cx="5114328" cy="405293"/>
          </a:xfrm>
          <a:custGeom>
            <a:avLst/>
            <a:gdLst/>
            <a:ahLst/>
            <a:cxnLst/>
            <a:rect l="l" t="t" r="r" b="b"/>
            <a:pathLst>
              <a:path w="5114328" h="405293">
                <a:moveTo>
                  <a:pt x="33222" y="0"/>
                </a:moveTo>
                <a:lnTo>
                  <a:pt x="5081106" y="0"/>
                </a:lnTo>
                <a:cubicBezTo>
                  <a:pt x="5099454" y="0"/>
                  <a:pt x="5114328" y="14874"/>
                  <a:pt x="5114328" y="33222"/>
                </a:cubicBezTo>
                <a:lnTo>
                  <a:pt x="5114328" y="372071"/>
                </a:lnTo>
                <a:cubicBezTo>
                  <a:pt x="5114328" y="390419"/>
                  <a:pt x="5099454" y="405293"/>
                  <a:pt x="5081106" y="405293"/>
                </a:cubicBezTo>
                <a:lnTo>
                  <a:pt x="33222" y="405293"/>
                </a:lnTo>
                <a:cubicBezTo>
                  <a:pt x="14886" y="405293"/>
                  <a:pt x="0" y="390406"/>
                  <a:pt x="0" y="372071"/>
                </a:cubicBezTo>
                <a:lnTo>
                  <a:pt x="0" y="33222"/>
                </a:lnTo>
                <a:cubicBezTo>
                  <a:pt x="0" y="14886"/>
                  <a:pt x="14886" y="0"/>
                  <a:pt x="3322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02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08075" y="6305292"/>
            <a:ext cx="2217482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INGREDIENT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801411" y="6238851"/>
            <a:ext cx="49000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APPARTIENT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801411" y="6371734"/>
            <a:ext cx="49000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1,1 - 0,N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317578" y="6305292"/>
            <a:ext cx="2217482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FOURNISSEUR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taedo.com/cfffc63fb785249523afa3b710568be1cbde169c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10401" b="1040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2C528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05917"/>
            <a:ext cx="1474470" cy="388620"/>
          </a:xfrm>
          <a:custGeom>
            <a:avLst/>
            <a:gdLst/>
            <a:ahLst/>
            <a:cxnLst/>
            <a:rect l="l" t="t" r="r" b="b"/>
            <a:pathLst>
              <a:path w="1474470" h="388620">
                <a:moveTo>
                  <a:pt x="38100" y="0"/>
                </a:moveTo>
                <a:lnTo>
                  <a:pt x="1436370" y="0"/>
                </a:lnTo>
                <a:cubicBezTo>
                  <a:pt x="1457412" y="0"/>
                  <a:pt x="1474470" y="17058"/>
                  <a:pt x="1474470" y="38100"/>
                </a:cubicBezTo>
                <a:lnTo>
                  <a:pt x="1474470" y="350520"/>
                </a:lnTo>
                <a:cubicBezTo>
                  <a:pt x="1474470" y="371562"/>
                  <a:pt x="1457412" y="388620"/>
                  <a:pt x="143637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>
              <a:alpha val="20000"/>
            </a:srgbClr>
          </a:solidFill>
          <a:ln w="10160">
            <a:solidFill>
              <a:srgbClr val="C6A8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68592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CHAPITRE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694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Modèle Logique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et Normalisation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004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1294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Passage au MLD, processus de normalisation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1FN, 2FN, 3FN et BCNF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371" y="319371"/>
            <a:ext cx="11617132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kern="0" spc="5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SCHÉMA RELATIONNEL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9371" y="574868"/>
            <a:ext cx="11696974" cy="319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3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Modèle Logique de Données et Normalisation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9371" y="990051"/>
            <a:ext cx="766491" cy="31937"/>
          </a:xfrm>
          <a:custGeom>
            <a:avLst/>
            <a:gdLst/>
            <a:ahLst/>
            <a:cxnLst/>
            <a:rect l="l" t="t" r="r" b="b"/>
            <a:pathLst>
              <a:path w="766491" h="31937">
                <a:moveTo>
                  <a:pt x="0" y="0"/>
                </a:moveTo>
                <a:lnTo>
                  <a:pt x="766491" y="0"/>
                </a:lnTo>
                <a:lnTo>
                  <a:pt x="766491" y="31937"/>
                </a:lnTo>
                <a:lnTo>
                  <a:pt x="0" y="31937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19371" y="1165705"/>
            <a:ext cx="6267662" cy="3848424"/>
          </a:xfrm>
          <a:custGeom>
            <a:avLst/>
            <a:gdLst/>
            <a:ahLst/>
            <a:cxnLst/>
            <a:rect l="l" t="t" r="r" b="b"/>
            <a:pathLst>
              <a:path w="6267662" h="3848424">
                <a:moveTo>
                  <a:pt x="31937" y="0"/>
                </a:moveTo>
                <a:lnTo>
                  <a:pt x="6235725" y="0"/>
                </a:lnTo>
                <a:cubicBezTo>
                  <a:pt x="6253363" y="0"/>
                  <a:pt x="6267662" y="14299"/>
                  <a:pt x="6267662" y="31937"/>
                </a:cubicBezTo>
                <a:lnTo>
                  <a:pt x="6267662" y="3784541"/>
                </a:lnTo>
                <a:cubicBezTo>
                  <a:pt x="6267662" y="3819823"/>
                  <a:pt x="6239060" y="3848424"/>
                  <a:pt x="6203778" y="3848424"/>
                </a:cubicBezTo>
                <a:lnTo>
                  <a:pt x="63884" y="3848424"/>
                </a:lnTo>
                <a:cubicBezTo>
                  <a:pt x="28602" y="3848424"/>
                  <a:pt x="0" y="3819823"/>
                  <a:pt x="0" y="3784541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53" dist="79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9371" y="1165705"/>
            <a:ext cx="6267662" cy="31937"/>
          </a:xfrm>
          <a:custGeom>
            <a:avLst/>
            <a:gdLst/>
            <a:ahLst/>
            <a:cxnLst/>
            <a:rect l="l" t="t" r="r" b="b"/>
            <a:pathLst>
              <a:path w="6267662" h="31937">
                <a:moveTo>
                  <a:pt x="31937" y="0"/>
                </a:moveTo>
                <a:lnTo>
                  <a:pt x="6235725" y="0"/>
                </a:lnTo>
                <a:cubicBezTo>
                  <a:pt x="6253363" y="0"/>
                  <a:pt x="6267662" y="14299"/>
                  <a:pt x="6267662" y="31937"/>
                </a:cubicBezTo>
                <a:lnTo>
                  <a:pt x="6267662" y="31937"/>
                </a:lnTo>
                <a:lnTo>
                  <a:pt x="0" y="31937"/>
                </a:ln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477061" y="1341360"/>
            <a:ext cx="139725" cy="159686"/>
          </a:xfrm>
          <a:custGeom>
            <a:avLst/>
            <a:gdLst/>
            <a:ahLst/>
            <a:cxnLst/>
            <a:rect l="l" t="t" r="r" b="b"/>
            <a:pathLst>
              <a:path w="139725" h="159686">
                <a:moveTo>
                  <a:pt x="139725" y="64186"/>
                </a:moveTo>
                <a:cubicBezTo>
                  <a:pt x="135109" y="67243"/>
                  <a:pt x="129807" y="69707"/>
                  <a:pt x="124287" y="71671"/>
                </a:cubicBezTo>
                <a:cubicBezTo>
                  <a:pt x="109628" y="76911"/>
                  <a:pt x="90385" y="79843"/>
                  <a:pt x="69862" y="79843"/>
                </a:cubicBezTo>
                <a:cubicBezTo>
                  <a:pt x="49340" y="79843"/>
                  <a:pt x="30066" y="76880"/>
                  <a:pt x="15438" y="71671"/>
                </a:cubicBezTo>
                <a:cubicBezTo>
                  <a:pt x="9949" y="69707"/>
                  <a:pt x="4616" y="67243"/>
                  <a:pt x="0" y="64186"/>
                </a:cubicBezTo>
                <a:lnTo>
                  <a:pt x="0" y="89823"/>
                </a:lnTo>
                <a:cubicBezTo>
                  <a:pt x="0" y="103609"/>
                  <a:pt x="31282" y="114774"/>
                  <a:pt x="69862" y="114774"/>
                </a:cubicBezTo>
                <a:cubicBezTo>
                  <a:pt x="108443" y="114774"/>
                  <a:pt x="139725" y="103609"/>
                  <a:pt x="139725" y="89823"/>
                </a:cubicBezTo>
                <a:lnTo>
                  <a:pt x="139725" y="64186"/>
                </a:lnTo>
                <a:close/>
                <a:moveTo>
                  <a:pt x="139725" y="39921"/>
                </a:moveTo>
                <a:lnTo>
                  <a:pt x="139725" y="24951"/>
                </a:lnTo>
                <a:cubicBezTo>
                  <a:pt x="139725" y="11166"/>
                  <a:pt x="108443" y="0"/>
                  <a:pt x="69862" y="0"/>
                </a:cubicBezTo>
                <a:cubicBezTo>
                  <a:pt x="31282" y="0"/>
                  <a:pt x="0" y="11166"/>
                  <a:pt x="0" y="24951"/>
                </a:cubicBezTo>
                <a:lnTo>
                  <a:pt x="0" y="39921"/>
                </a:lnTo>
                <a:cubicBezTo>
                  <a:pt x="0" y="53707"/>
                  <a:pt x="31282" y="64872"/>
                  <a:pt x="69862" y="64872"/>
                </a:cubicBezTo>
                <a:cubicBezTo>
                  <a:pt x="108443" y="64872"/>
                  <a:pt x="139725" y="53707"/>
                  <a:pt x="139725" y="39921"/>
                </a:cubicBezTo>
                <a:close/>
                <a:moveTo>
                  <a:pt x="124287" y="121573"/>
                </a:moveTo>
                <a:cubicBezTo>
                  <a:pt x="109659" y="126782"/>
                  <a:pt x="90416" y="129745"/>
                  <a:pt x="69862" y="129745"/>
                </a:cubicBezTo>
                <a:cubicBezTo>
                  <a:pt x="49309" y="129745"/>
                  <a:pt x="30066" y="126782"/>
                  <a:pt x="15438" y="121573"/>
                </a:cubicBezTo>
                <a:cubicBezTo>
                  <a:pt x="9949" y="119608"/>
                  <a:pt x="4616" y="117144"/>
                  <a:pt x="0" y="114088"/>
                </a:cubicBezTo>
                <a:lnTo>
                  <a:pt x="0" y="134735"/>
                </a:lnTo>
                <a:cubicBezTo>
                  <a:pt x="0" y="148520"/>
                  <a:pt x="31282" y="159686"/>
                  <a:pt x="69862" y="159686"/>
                </a:cubicBezTo>
                <a:cubicBezTo>
                  <a:pt x="108443" y="159686"/>
                  <a:pt x="139725" y="148520"/>
                  <a:pt x="139725" y="134735"/>
                </a:cubicBezTo>
                <a:lnTo>
                  <a:pt x="139725" y="114088"/>
                </a:lnTo>
                <a:cubicBezTo>
                  <a:pt x="135109" y="117144"/>
                  <a:pt x="129807" y="119608"/>
                  <a:pt x="124287" y="121573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742538" y="1309422"/>
            <a:ext cx="1668715" cy="22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2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Schéma Relationnel (MLD)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3088" y="1628794"/>
            <a:ext cx="5996196" cy="351308"/>
          </a:xfrm>
          <a:custGeom>
            <a:avLst/>
            <a:gdLst/>
            <a:ahLst/>
            <a:cxnLst/>
            <a:rect l="l" t="t" r="r" b="b"/>
            <a:pathLst>
              <a:path w="5996196" h="351308">
                <a:moveTo>
                  <a:pt x="31937" y="0"/>
                </a:moveTo>
                <a:lnTo>
                  <a:pt x="5964259" y="0"/>
                </a:lnTo>
                <a:cubicBezTo>
                  <a:pt x="5981898" y="0"/>
                  <a:pt x="5996196" y="14299"/>
                  <a:pt x="5996196" y="31937"/>
                </a:cubicBezTo>
                <a:lnTo>
                  <a:pt x="5996196" y="319371"/>
                </a:lnTo>
                <a:cubicBezTo>
                  <a:pt x="5996196" y="337010"/>
                  <a:pt x="5981898" y="351308"/>
                  <a:pt x="5964259" y="351308"/>
                </a:cubicBez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3088" y="1628794"/>
            <a:ext cx="31937" cy="351308"/>
          </a:xfrm>
          <a:custGeom>
            <a:avLst/>
            <a:gdLst/>
            <a:ahLst/>
            <a:cxnLst/>
            <a:rect l="l" t="t" r="r" b="b"/>
            <a:pathLst>
              <a:path w="31937" h="351308">
                <a:moveTo>
                  <a:pt x="31937" y="0"/>
                </a:moveTo>
                <a:lnTo>
                  <a:pt x="31937" y="0"/>
                </a:lnTo>
                <a:lnTo>
                  <a:pt x="31937" y="351308"/>
                </a:ln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574868" y="1724605"/>
            <a:ext cx="5844495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INGREDIENT</a:t>
            </a:r>
            <a:r>
              <a:rPr lang="en-US" sz="880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(CODE_ING, NOM_ING, CAT_ING, UNITE, PRIX_UNIT, QTE_STOCK, SEUIL_MIN, #CODE_FOUR)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3088" y="2043976"/>
            <a:ext cx="5996196" cy="351308"/>
          </a:xfrm>
          <a:custGeom>
            <a:avLst/>
            <a:gdLst/>
            <a:ahLst/>
            <a:cxnLst/>
            <a:rect l="l" t="t" r="r" b="b"/>
            <a:pathLst>
              <a:path w="5996196" h="351308">
                <a:moveTo>
                  <a:pt x="31937" y="0"/>
                </a:moveTo>
                <a:lnTo>
                  <a:pt x="5964259" y="0"/>
                </a:lnTo>
                <a:cubicBezTo>
                  <a:pt x="5981898" y="0"/>
                  <a:pt x="5996196" y="14299"/>
                  <a:pt x="5996196" y="31937"/>
                </a:cubicBezTo>
                <a:lnTo>
                  <a:pt x="5996196" y="319371"/>
                </a:lnTo>
                <a:cubicBezTo>
                  <a:pt x="5996196" y="337010"/>
                  <a:pt x="5981898" y="351308"/>
                  <a:pt x="5964259" y="351308"/>
                </a:cubicBez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3088" y="2043976"/>
            <a:ext cx="31937" cy="351308"/>
          </a:xfrm>
          <a:custGeom>
            <a:avLst/>
            <a:gdLst/>
            <a:ahLst/>
            <a:cxnLst/>
            <a:rect l="l" t="t" r="r" b="b"/>
            <a:pathLst>
              <a:path w="31937" h="351308">
                <a:moveTo>
                  <a:pt x="31937" y="0"/>
                </a:moveTo>
                <a:lnTo>
                  <a:pt x="31937" y="0"/>
                </a:lnTo>
                <a:lnTo>
                  <a:pt x="31937" y="351308"/>
                </a:ln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4" name="Text 12"/>
          <p:cNvSpPr/>
          <p:nvPr/>
        </p:nvSpPr>
        <p:spPr>
          <a:xfrm>
            <a:off x="574868" y="2139788"/>
            <a:ext cx="5844495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RECETTE</a:t>
            </a:r>
            <a:r>
              <a:rPr lang="en-US" sz="880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(CODE_REC, NOM_REC, CAT_REC, TEMPS_PREP, NB_COUVERTS, DIFFICULTE)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3088" y="2459159"/>
            <a:ext cx="5996196" cy="351308"/>
          </a:xfrm>
          <a:custGeom>
            <a:avLst/>
            <a:gdLst/>
            <a:ahLst/>
            <a:cxnLst/>
            <a:rect l="l" t="t" r="r" b="b"/>
            <a:pathLst>
              <a:path w="5996196" h="351308">
                <a:moveTo>
                  <a:pt x="31937" y="0"/>
                </a:moveTo>
                <a:lnTo>
                  <a:pt x="5964259" y="0"/>
                </a:lnTo>
                <a:cubicBezTo>
                  <a:pt x="5981898" y="0"/>
                  <a:pt x="5996196" y="14299"/>
                  <a:pt x="5996196" y="31937"/>
                </a:cubicBezTo>
                <a:lnTo>
                  <a:pt x="5996196" y="319371"/>
                </a:lnTo>
                <a:cubicBezTo>
                  <a:pt x="5996196" y="337010"/>
                  <a:pt x="5981898" y="351308"/>
                  <a:pt x="5964259" y="351308"/>
                </a:cubicBez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463088" y="2459159"/>
            <a:ext cx="31937" cy="351308"/>
          </a:xfrm>
          <a:custGeom>
            <a:avLst/>
            <a:gdLst/>
            <a:ahLst/>
            <a:cxnLst/>
            <a:rect l="l" t="t" r="r" b="b"/>
            <a:pathLst>
              <a:path w="31937" h="351308">
                <a:moveTo>
                  <a:pt x="31937" y="0"/>
                </a:moveTo>
                <a:lnTo>
                  <a:pt x="31937" y="0"/>
                </a:lnTo>
                <a:lnTo>
                  <a:pt x="31937" y="351308"/>
                </a:ln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7" name="Text 15"/>
          <p:cNvSpPr/>
          <p:nvPr/>
        </p:nvSpPr>
        <p:spPr>
          <a:xfrm>
            <a:off x="574868" y="2554971"/>
            <a:ext cx="5844495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MENU</a:t>
            </a:r>
            <a:r>
              <a:rPr lang="en-US" sz="880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(CODE_MENU, NOM_MENU, DATE_MENU, TYPE_MENU, PRIX_MENU)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3088" y="2874342"/>
            <a:ext cx="5996196" cy="351308"/>
          </a:xfrm>
          <a:custGeom>
            <a:avLst/>
            <a:gdLst/>
            <a:ahLst/>
            <a:cxnLst/>
            <a:rect l="l" t="t" r="r" b="b"/>
            <a:pathLst>
              <a:path w="5996196" h="351308">
                <a:moveTo>
                  <a:pt x="31937" y="0"/>
                </a:moveTo>
                <a:lnTo>
                  <a:pt x="5964259" y="0"/>
                </a:lnTo>
                <a:cubicBezTo>
                  <a:pt x="5981898" y="0"/>
                  <a:pt x="5996196" y="14299"/>
                  <a:pt x="5996196" y="31937"/>
                </a:cubicBezTo>
                <a:lnTo>
                  <a:pt x="5996196" y="319371"/>
                </a:lnTo>
                <a:cubicBezTo>
                  <a:pt x="5996196" y="337010"/>
                  <a:pt x="5981898" y="351308"/>
                  <a:pt x="5964259" y="351308"/>
                </a:cubicBez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63088" y="2874342"/>
            <a:ext cx="31937" cy="351308"/>
          </a:xfrm>
          <a:custGeom>
            <a:avLst/>
            <a:gdLst/>
            <a:ahLst/>
            <a:cxnLst/>
            <a:rect l="l" t="t" r="r" b="b"/>
            <a:pathLst>
              <a:path w="31937" h="351308">
                <a:moveTo>
                  <a:pt x="31937" y="0"/>
                </a:moveTo>
                <a:lnTo>
                  <a:pt x="31937" y="0"/>
                </a:lnTo>
                <a:lnTo>
                  <a:pt x="31937" y="351308"/>
                </a:ln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574868" y="2970153"/>
            <a:ext cx="5844495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CHEF</a:t>
            </a:r>
            <a:r>
              <a:rPr lang="en-US" sz="880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(CODE_CHEF, NOM_CHEF, PRENOM_CHEF, SPECIALITE, NIVEAU, DATE_EMB)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3088" y="3289525"/>
            <a:ext cx="5996196" cy="351308"/>
          </a:xfrm>
          <a:custGeom>
            <a:avLst/>
            <a:gdLst/>
            <a:ahLst/>
            <a:cxnLst/>
            <a:rect l="l" t="t" r="r" b="b"/>
            <a:pathLst>
              <a:path w="5996196" h="351308">
                <a:moveTo>
                  <a:pt x="31937" y="0"/>
                </a:moveTo>
                <a:lnTo>
                  <a:pt x="5964259" y="0"/>
                </a:lnTo>
                <a:cubicBezTo>
                  <a:pt x="5981898" y="0"/>
                  <a:pt x="5996196" y="14299"/>
                  <a:pt x="5996196" y="31937"/>
                </a:cubicBezTo>
                <a:lnTo>
                  <a:pt x="5996196" y="319371"/>
                </a:lnTo>
                <a:cubicBezTo>
                  <a:pt x="5996196" y="337010"/>
                  <a:pt x="5981898" y="351308"/>
                  <a:pt x="5964259" y="351308"/>
                </a:cubicBez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63088" y="3289525"/>
            <a:ext cx="31937" cy="351308"/>
          </a:xfrm>
          <a:custGeom>
            <a:avLst/>
            <a:gdLst/>
            <a:ahLst/>
            <a:cxnLst/>
            <a:rect l="l" t="t" r="r" b="b"/>
            <a:pathLst>
              <a:path w="31937" h="351308">
                <a:moveTo>
                  <a:pt x="31937" y="0"/>
                </a:moveTo>
                <a:lnTo>
                  <a:pt x="31937" y="0"/>
                </a:lnTo>
                <a:lnTo>
                  <a:pt x="31937" y="351308"/>
                </a:ln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3" name="Text 21"/>
          <p:cNvSpPr/>
          <p:nvPr/>
        </p:nvSpPr>
        <p:spPr>
          <a:xfrm>
            <a:off x="574868" y="3385336"/>
            <a:ext cx="5844495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FOURNISSEUR</a:t>
            </a:r>
            <a:r>
              <a:rPr lang="en-US" sz="880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(CODE_FOUR, RAISON_SOC, ADRESSE, TELEPHONE, EMAIL, SPECIALITE)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3088" y="3704707"/>
            <a:ext cx="5996196" cy="351308"/>
          </a:xfrm>
          <a:custGeom>
            <a:avLst/>
            <a:gdLst/>
            <a:ahLst/>
            <a:cxnLst/>
            <a:rect l="l" t="t" r="r" b="b"/>
            <a:pathLst>
              <a:path w="5996196" h="351308">
                <a:moveTo>
                  <a:pt x="31937" y="0"/>
                </a:moveTo>
                <a:lnTo>
                  <a:pt x="5964259" y="0"/>
                </a:lnTo>
                <a:cubicBezTo>
                  <a:pt x="5981898" y="0"/>
                  <a:pt x="5996196" y="14299"/>
                  <a:pt x="5996196" y="31937"/>
                </a:cubicBezTo>
                <a:lnTo>
                  <a:pt x="5996196" y="319371"/>
                </a:lnTo>
                <a:cubicBezTo>
                  <a:pt x="5996196" y="337010"/>
                  <a:pt x="5981898" y="351308"/>
                  <a:pt x="5964259" y="351308"/>
                </a:cubicBez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3088" y="3704707"/>
            <a:ext cx="31937" cy="351308"/>
          </a:xfrm>
          <a:custGeom>
            <a:avLst/>
            <a:gdLst/>
            <a:ahLst/>
            <a:cxnLst/>
            <a:rect l="l" t="t" r="r" b="b"/>
            <a:pathLst>
              <a:path w="31937" h="351308">
                <a:moveTo>
                  <a:pt x="31937" y="0"/>
                </a:moveTo>
                <a:lnTo>
                  <a:pt x="31937" y="0"/>
                </a:lnTo>
                <a:lnTo>
                  <a:pt x="31937" y="351308"/>
                </a:ln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6" name="Text 24"/>
          <p:cNvSpPr/>
          <p:nvPr/>
        </p:nvSpPr>
        <p:spPr>
          <a:xfrm>
            <a:off x="574868" y="3800519"/>
            <a:ext cx="5844495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COMPOSE</a:t>
            </a:r>
            <a:r>
              <a:rPr lang="en-US" sz="880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(#CODE_REC, #CODE_ING, QUANTITE)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3088" y="4119890"/>
            <a:ext cx="5996196" cy="351308"/>
          </a:xfrm>
          <a:custGeom>
            <a:avLst/>
            <a:gdLst/>
            <a:ahLst/>
            <a:cxnLst/>
            <a:rect l="l" t="t" r="r" b="b"/>
            <a:pathLst>
              <a:path w="5996196" h="351308">
                <a:moveTo>
                  <a:pt x="31937" y="0"/>
                </a:moveTo>
                <a:lnTo>
                  <a:pt x="5964259" y="0"/>
                </a:lnTo>
                <a:cubicBezTo>
                  <a:pt x="5981898" y="0"/>
                  <a:pt x="5996196" y="14299"/>
                  <a:pt x="5996196" y="31937"/>
                </a:cubicBezTo>
                <a:lnTo>
                  <a:pt x="5996196" y="319371"/>
                </a:lnTo>
                <a:cubicBezTo>
                  <a:pt x="5996196" y="337010"/>
                  <a:pt x="5981898" y="351308"/>
                  <a:pt x="5964259" y="351308"/>
                </a:cubicBez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463088" y="4119890"/>
            <a:ext cx="31937" cy="351308"/>
          </a:xfrm>
          <a:custGeom>
            <a:avLst/>
            <a:gdLst/>
            <a:ahLst/>
            <a:cxnLst/>
            <a:rect l="l" t="t" r="r" b="b"/>
            <a:pathLst>
              <a:path w="31937" h="351308">
                <a:moveTo>
                  <a:pt x="31937" y="0"/>
                </a:moveTo>
                <a:lnTo>
                  <a:pt x="31937" y="0"/>
                </a:lnTo>
                <a:lnTo>
                  <a:pt x="31937" y="351308"/>
                </a:ln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9" name="Text 27"/>
          <p:cNvSpPr/>
          <p:nvPr/>
        </p:nvSpPr>
        <p:spPr>
          <a:xfrm>
            <a:off x="574868" y="4215701"/>
            <a:ext cx="5844495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CONSTITUE</a:t>
            </a:r>
            <a:r>
              <a:rPr lang="en-US" sz="880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(#CODE_MENU, #CODE_REC, ORDRE)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3088" y="4535073"/>
            <a:ext cx="5996196" cy="351308"/>
          </a:xfrm>
          <a:custGeom>
            <a:avLst/>
            <a:gdLst/>
            <a:ahLst/>
            <a:cxnLst/>
            <a:rect l="l" t="t" r="r" b="b"/>
            <a:pathLst>
              <a:path w="5996196" h="351308">
                <a:moveTo>
                  <a:pt x="31937" y="0"/>
                </a:moveTo>
                <a:lnTo>
                  <a:pt x="5964259" y="0"/>
                </a:lnTo>
                <a:cubicBezTo>
                  <a:pt x="5981898" y="0"/>
                  <a:pt x="5996196" y="14299"/>
                  <a:pt x="5996196" y="31937"/>
                </a:cubicBezTo>
                <a:lnTo>
                  <a:pt x="5996196" y="319371"/>
                </a:lnTo>
                <a:cubicBezTo>
                  <a:pt x="5996196" y="337010"/>
                  <a:pt x="5981898" y="351308"/>
                  <a:pt x="5964259" y="351308"/>
                </a:cubicBez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463088" y="4535073"/>
            <a:ext cx="31937" cy="351308"/>
          </a:xfrm>
          <a:custGeom>
            <a:avLst/>
            <a:gdLst/>
            <a:ahLst/>
            <a:cxnLst/>
            <a:rect l="l" t="t" r="r" b="b"/>
            <a:pathLst>
              <a:path w="31937" h="351308">
                <a:moveTo>
                  <a:pt x="31937" y="0"/>
                </a:moveTo>
                <a:lnTo>
                  <a:pt x="31937" y="0"/>
                </a:lnTo>
                <a:lnTo>
                  <a:pt x="31937" y="351308"/>
                </a:lnTo>
                <a:lnTo>
                  <a:pt x="31937" y="351308"/>
                </a:lnTo>
                <a:cubicBezTo>
                  <a:pt x="14299" y="351308"/>
                  <a:pt x="0" y="337010"/>
                  <a:pt x="0" y="31937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2" name="Text 30"/>
          <p:cNvSpPr/>
          <p:nvPr/>
        </p:nvSpPr>
        <p:spPr>
          <a:xfrm>
            <a:off x="574868" y="4630884"/>
            <a:ext cx="5844495" cy="159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0" b="1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REALISE</a:t>
            </a:r>
            <a:r>
              <a:rPr lang="en-US" sz="880" dirty="0">
                <a:solidFill>
                  <a:srgbClr val="2C528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(#CODE_CHEF, #CODE_REC)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46054" y="1165705"/>
            <a:ext cx="5125910" cy="4223686"/>
          </a:xfrm>
          <a:custGeom>
            <a:avLst/>
            <a:gdLst/>
            <a:ahLst/>
            <a:cxnLst/>
            <a:rect l="l" t="t" r="r" b="b"/>
            <a:pathLst>
              <a:path w="5125910" h="4223686">
                <a:moveTo>
                  <a:pt x="31937" y="0"/>
                </a:moveTo>
                <a:lnTo>
                  <a:pt x="5093972" y="0"/>
                </a:lnTo>
                <a:cubicBezTo>
                  <a:pt x="5111611" y="0"/>
                  <a:pt x="5125910" y="14299"/>
                  <a:pt x="5125910" y="31937"/>
                </a:cubicBezTo>
                <a:lnTo>
                  <a:pt x="5125910" y="4159824"/>
                </a:lnTo>
                <a:cubicBezTo>
                  <a:pt x="5125910" y="4195094"/>
                  <a:pt x="5097318" y="4223686"/>
                  <a:pt x="5062047" y="4223686"/>
                </a:cubicBezTo>
                <a:lnTo>
                  <a:pt x="63862" y="4223686"/>
                </a:lnTo>
                <a:cubicBezTo>
                  <a:pt x="28592" y="4223686"/>
                  <a:pt x="0" y="4195094"/>
                  <a:pt x="0" y="4159824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53" dist="79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46054" y="1165705"/>
            <a:ext cx="5125910" cy="31937"/>
          </a:xfrm>
          <a:custGeom>
            <a:avLst/>
            <a:gdLst/>
            <a:ahLst/>
            <a:cxnLst/>
            <a:rect l="l" t="t" r="r" b="b"/>
            <a:pathLst>
              <a:path w="5125910" h="31937">
                <a:moveTo>
                  <a:pt x="31937" y="0"/>
                </a:moveTo>
                <a:lnTo>
                  <a:pt x="5093972" y="0"/>
                </a:lnTo>
                <a:cubicBezTo>
                  <a:pt x="5111611" y="0"/>
                  <a:pt x="5125910" y="14299"/>
                  <a:pt x="5125910" y="31937"/>
                </a:cubicBezTo>
                <a:lnTo>
                  <a:pt x="5125910" y="31937"/>
                </a:lnTo>
                <a:lnTo>
                  <a:pt x="0" y="31937"/>
                </a:ln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5" name="Shape 33"/>
          <p:cNvSpPr/>
          <p:nvPr/>
        </p:nvSpPr>
        <p:spPr>
          <a:xfrm>
            <a:off x="6913724" y="1341360"/>
            <a:ext cx="119764" cy="159686"/>
          </a:xfrm>
          <a:custGeom>
            <a:avLst/>
            <a:gdLst/>
            <a:ahLst/>
            <a:cxnLst/>
            <a:rect l="l" t="t" r="r" b="b"/>
            <a:pathLst>
              <a:path w="119764" h="159686">
                <a:moveTo>
                  <a:pt x="77940" y="20834"/>
                </a:moveTo>
                <a:cubicBezTo>
                  <a:pt x="81184" y="16374"/>
                  <a:pt x="80186" y="10136"/>
                  <a:pt x="75726" y="6893"/>
                </a:cubicBezTo>
                <a:cubicBezTo>
                  <a:pt x="71266" y="3649"/>
                  <a:pt x="65028" y="4647"/>
                  <a:pt x="61785" y="9107"/>
                </a:cubicBezTo>
                <a:lnTo>
                  <a:pt x="28725" y="54549"/>
                </a:lnTo>
                <a:lnTo>
                  <a:pt x="17029" y="42853"/>
                </a:lnTo>
                <a:cubicBezTo>
                  <a:pt x="13130" y="38955"/>
                  <a:pt x="6799" y="38955"/>
                  <a:pt x="2901" y="42853"/>
                </a:cubicBezTo>
                <a:cubicBezTo>
                  <a:pt x="-998" y="46752"/>
                  <a:pt x="-998" y="53083"/>
                  <a:pt x="2901" y="56982"/>
                </a:cubicBezTo>
                <a:lnTo>
                  <a:pt x="22861" y="76942"/>
                </a:lnTo>
                <a:cubicBezTo>
                  <a:pt x="24920" y="79001"/>
                  <a:pt x="27789" y="80061"/>
                  <a:pt x="30690" y="79843"/>
                </a:cubicBezTo>
                <a:cubicBezTo>
                  <a:pt x="33590" y="79625"/>
                  <a:pt x="36272" y="78127"/>
                  <a:pt x="37988" y="75757"/>
                </a:cubicBezTo>
                <a:lnTo>
                  <a:pt x="77909" y="20865"/>
                </a:lnTo>
                <a:close/>
                <a:moveTo>
                  <a:pt x="117862" y="63250"/>
                </a:moveTo>
                <a:cubicBezTo>
                  <a:pt x="121105" y="58791"/>
                  <a:pt x="120107" y="52553"/>
                  <a:pt x="115647" y="49309"/>
                </a:cubicBezTo>
                <a:cubicBezTo>
                  <a:pt x="111187" y="46066"/>
                  <a:pt x="104950" y="47064"/>
                  <a:pt x="101706" y="51524"/>
                </a:cubicBezTo>
                <a:lnTo>
                  <a:pt x="48685" y="124411"/>
                </a:lnTo>
                <a:lnTo>
                  <a:pt x="27009" y="102735"/>
                </a:lnTo>
                <a:cubicBezTo>
                  <a:pt x="23111" y="98837"/>
                  <a:pt x="16779" y="98837"/>
                  <a:pt x="12881" y="102735"/>
                </a:cubicBezTo>
                <a:cubicBezTo>
                  <a:pt x="8982" y="106634"/>
                  <a:pt x="8982" y="112965"/>
                  <a:pt x="12881" y="116864"/>
                </a:cubicBezTo>
                <a:lnTo>
                  <a:pt x="42822" y="146805"/>
                </a:lnTo>
                <a:cubicBezTo>
                  <a:pt x="44880" y="148863"/>
                  <a:pt x="47750" y="149924"/>
                  <a:pt x="50650" y="149705"/>
                </a:cubicBezTo>
                <a:cubicBezTo>
                  <a:pt x="53551" y="149487"/>
                  <a:pt x="56233" y="147990"/>
                  <a:pt x="57948" y="145620"/>
                </a:cubicBezTo>
                <a:lnTo>
                  <a:pt x="117831" y="63282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6" name="Text 34"/>
          <p:cNvSpPr/>
          <p:nvPr/>
        </p:nvSpPr>
        <p:spPr>
          <a:xfrm>
            <a:off x="7169221" y="1309422"/>
            <a:ext cx="1748558" cy="22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2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Processus de Normalisation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89771" y="1628794"/>
            <a:ext cx="4854444" cy="1205627"/>
          </a:xfrm>
          <a:custGeom>
            <a:avLst/>
            <a:gdLst/>
            <a:ahLst/>
            <a:cxnLst/>
            <a:rect l="l" t="t" r="r" b="b"/>
            <a:pathLst>
              <a:path w="4854444" h="1205627">
                <a:moveTo>
                  <a:pt x="31937" y="0"/>
                </a:moveTo>
                <a:lnTo>
                  <a:pt x="4822507" y="0"/>
                </a:lnTo>
                <a:cubicBezTo>
                  <a:pt x="4840145" y="0"/>
                  <a:pt x="4854444" y="14299"/>
                  <a:pt x="4854444" y="31937"/>
                </a:cubicBezTo>
                <a:lnTo>
                  <a:pt x="4854444" y="1173690"/>
                </a:lnTo>
                <a:cubicBezTo>
                  <a:pt x="4854444" y="1191328"/>
                  <a:pt x="4840145" y="1205627"/>
                  <a:pt x="4822507" y="1205627"/>
                </a:cubicBezTo>
                <a:lnTo>
                  <a:pt x="31937" y="1205627"/>
                </a:lnTo>
                <a:cubicBezTo>
                  <a:pt x="14299" y="1205627"/>
                  <a:pt x="0" y="1191328"/>
                  <a:pt x="0" y="1173690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8" name="Shape 36"/>
          <p:cNvSpPr/>
          <p:nvPr/>
        </p:nvSpPr>
        <p:spPr>
          <a:xfrm>
            <a:off x="6889771" y="1628794"/>
            <a:ext cx="31937" cy="1205627"/>
          </a:xfrm>
          <a:custGeom>
            <a:avLst/>
            <a:gdLst/>
            <a:ahLst/>
            <a:cxnLst/>
            <a:rect l="l" t="t" r="r" b="b"/>
            <a:pathLst>
              <a:path w="31937" h="1205627">
                <a:moveTo>
                  <a:pt x="31937" y="0"/>
                </a:moveTo>
                <a:lnTo>
                  <a:pt x="31937" y="0"/>
                </a:lnTo>
                <a:lnTo>
                  <a:pt x="31937" y="1205627"/>
                </a:lnTo>
                <a:lnTo>
                  <a:pt x="31937" y="1205627"/>
                </a:lnTo>
                <a:cubicBezTo>
                  <a:pt x="14299" y="1205627"/>
                  <a:pt x="0" y="1191328"/>
                  <a:pt x="0" y="1173690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9" name="Shape 37"/>
          <p:cNvSpPr/>
          <p:nvPr/>
        </p:nvSpPr>
        <p:spPr>
          <a:xfrm>
            <a:off x="7001551" y="1724605"/>
            <a:ext cx="255497" cy="255497"/>
          </a:xfrm>
          <a:custGeom>
            <a:avLst/>
            <a:gdLst/>
            <a:ahLst/>
            <a:cxnLst/>
            <a:rect l="l" t="t" r="r" b="b"/>
            <a:pathLst>
              <a:path w="255497" h="255497">
                <a:moveTo>
                  <a:pt x="127749" y="0"/>
                </a:moveTo>
                <a:lnTo>
                  <a:pt x="127749" y="0"/>
                </a:lnTo>
                <a:cubicBezTo>
                  <a:pt x="198255" y="0"/>
                  <a:pt x="255497" y="57242"/>
                  <a:pt x="255497" y="127749"/>
                </a:cubicBezTo>
                <a:lnTo>
                  <a:pt x="255497" y="127749"/>
                </a:lnTo>
                <a:cubicBezTo>
                  <a:pt x="255497" y="198255"/>
                  <a:pt x="198255" y="255497"/>
                  <a:pt x="127749" y="255497"/>
                </a:cubicBezTo>
                <a:lnTo>
                  <a:pt x="127749" y="255497"/>
                </a:lnTo>
                <a:cubicBezTo>
                  <a:pt x="57242" y="255497"/>
                  <a:pt x="0" y="198255"/>
                  <a:pt x="0" y="127749"/>
                </a:cubicBezTo>
                <a:lnTo>
                  <a:pt x="0" y="127749"/>
                </a:lnTo>
                <a:cubicBezTo>
                  <a:pt x="0" y="57242"/>
                  <a:pt x="57242" y="0"/>
                  <a:pt x="127749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40" name="Text 38"/>
          <p:cNvSpPr/>
          <p:nvPr/>
        </p:nvSpPr>
        <p:spPr>
          <a:xfrm>
            <a:off x="6973606" y="1724605"/>
            <a:ext cx="311387" cy="255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1FN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20922" y="1756542"/>
            <a:ext cx="1413218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Première Forme Normale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01551" y="2043976"/>
            <a:ext cx="4702743" cy="36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Tous les attributs contiennent des valeurs atomiques</a:t>
            </a:r>
            <a:r>
              <a:rPr lang="en-US" sz="88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(indivisibles). Pas d'attributs multivalués ou composés.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04745" y="2474329"/>
            <a:ext cx="4645256" cy="261884"/>
          </a:xfrm>
          <a:custGeom>
            <a:avLst/>
            <a:gdLst/>
            <a:ahLst/>
            <a:cxnLst/>
            <a:rect l="l" t="t" r="r" b="b"/>
            <a:pathLst>
              <a:path w="4645256" h="261884">
                <a:moveTo>
                  <a:pt x="31937" y="0"/>
                </a:moveTo>
                <a:lnTo>
                  <a:pt x="4613319" y="0"/>
                </a:lnTo>
                <a:cubicBezTo>
                  <a:pt x="4630957" y="0"/>
                  <a:pt x="4645256" y="14299"/>
                  <a:pt x="4645256" y="31937"/>
                </a:cubicBezTo>
                <a:lnTo>
                  <a:pt x="4645256" y="229948"/>
                </a:lnTo>
                <a:cubicBezTo>
                  <a:pt x="4645256" y="247586"/>
                  <a:pt x="4630957" y="261884"/>
                  <a:pt x="4613319" y="261884"/>
                </a:cubicBezTo>
                <a:lnTo>
                  <a:pt x="31937" y="261884"/>
                </a:lnTo>
                <a:cubicBezTo>
                  <a:pt x="14299" y="261884"/>
                  <a:pt x="0" y="247586"/>
                  <a:pt x="0" y="229948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02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89777" y="2554175"/>
            <a:ext cx="83835" cy="95811"/>
          </a:xfrm>
          <a:custGeom>
            <a:avLst/>
            <a:gdLst/>
            <a:ahLst/>
            <a:cxnLst/>
            <a:rect l="l" t="t" r="r" b="b"/>
            <a:pathLst>
              <a:path w="83835" h="95811">
                <a:moveTo>
                  <a:pt x="81365" y="13118"/>
                </a:moveTo>
                <a:cubicBezTo>
                  <a:pt x="84041" y="15064"/>
                  <a:pt x="84640" y="18807"/>
                  <a:pt x="82693" y="21483"/>
                </a:cubicBezTo>
                <a:lnTo>
                  <a:pt x="34788" y="87353"/>
                </a:lnTo>
                <a:cubicBezTo>
                  <a:pt x="33759" y="88775"/>
                  <a:pt x="32168" y="89655"/>
                  <a:pt x="30409" y="89804"/>
                </a:cubicBezTo>
                <a:cubicBezTo>
                  <a:pt x="28650" y="89954"/>
                  <a:pt x="26947" y="89299"/>
                  <a:pt x="25712" y="88064"/>
                </a:cubicBezTo>
                <a:lnTo>
                  <a:pt x="1759" y="64111"/>
                </a:lnTo>
                <a:cubicBezTo>
                  <a:pt x="-580" y="61772"/>
                  <a:pt x="-580" y="57973"/>
                  <a:pt x="1759" y="55634"/>
                </a:cubicBezTo>
                <a:cubicBezTo>
                  <a:pt x="4098" y="53295"/>
                  <a:pt x="7897" y="53295"/>
                  <a:pt x="10236" y="55634"/>
                </a:cubicBezTo>
                <a:lnTo>
                  <a:pt x="29230" y="74628"/>
                </a:lnTo>
                <a:lnTo>
                  <a:pt x="73019" y="14428"/>
                </a:lnTo>
                <a:cubicBezTo>
                  <a:pt x="74965" y="11752"/>
                  <a:pt x="78708" y="11153"/>
                  <a:pt x="81384" y="13099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5" name="Text 43"/>
          <p:cNvSpPr/>
          <p:nvPr/>
        </p:nvSpPr>
        <p:spPr>
          <a:xfrm>
            <a:off x="7231733" y="2541396"/>
            <a:ext cx="4399105" cy="12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4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Toutes nos relations sont en 1FN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89771" y="2931027"/>
            <a:ext cx="4854444" cy="1021988"/>
          </a:xfrm>
          <a:custGeom>
            <a:avLst/>
            <a:gdLst/>
            <a:ahLst/>
            <a:cxnLst/>
            <a:rect l="l" t="t" r="r" b="b"/>
            <a:pathLst>
              <a:path w="4854444" h="1021988">
                <a:moveTo>
                  <a:pt x="31937" y="0"/>
                </a:moveTo>
                <a:lnTo>
                  <a:pt x="4822507" y="0"/>
                </a:lnTo>
                <a:cubicBezTo>
                  <a:pt x="4840145" y="0"/>
                  <a:pt x="4854444" y="14299"/>
                  <a:pt x="4854444" y="31937"/>
                </a:cubicBezTo>
                <a:lnTo>
                  <a:pt x="4854444" y="990051"/>
                </a:lnTo>
                <a:cubicBezTo>
                  <a:pt x="4854444" y="1007689"/>
                  <a:pt x="4840145" y="1021988"/>
                  <a:pt x="4822507" y="1021988"/>
                </a:cubicBezTo>
                <a:lnTo>
                  <a:pt x="31937" y="1021988"/>
                </a:lnTo>
                <a:cubicBezTo>
                  <a:pt x="14299" y="1021988"/>
                  <a:pt x="0" y="1007689"/>
                  <a:pt x="0" y="99005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7" name="Shape 45"/>
          <p:cNvSpPr/>
          <p:nvPr/>
        </p:nvSpPr>
        <p:spPr>
          <a:xfrm>
            <a:off x="6889771" y="2931027"/>
            <a:ext cx="31937" cy="1021988"/>
          </a:xfrm>
          <a:custGeom>
            <a:avLst/>
            <a:gdLst/>
            <a:ahLst/>
            <a:cxnLst/>
            <a:rect l="l" t="t" r="r" b="b"/>
            <a:pathLst>
              <a:path w="31937" h="1021988">
                <a:moveTo>
                  <a:pt x="31937" y="0"/>
                </a:moveTo>
                <a:lnTo>
                  <a:pt x="31937" y="0"/>
                </a:lnTo>
                <a:lnTo>
                  <a:pt x="31937" y="1021988"/>
                </a:lnTo>
                <a:lnTo>
                  <a:pt x="31937" y="1021988"/>
                </a:lnTo>
                <a:cubicBezTo>
                  <a:pt x="14299" y="1021988"/>
                  <a:pt x="0" y="1007689"/>
                  <a:pt x="0" y="990051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8" name="Shape 46"/>
          <p:cNvSpPr/>
          <p:nvPr/>
        </p:nvSpPr>
        <p:spPr>
          <a:xfrm>
            <a:off x="7001551" y="3026839"/>
            <a:ext cx="255497" cy="255497"/>
          </a:xfrm>
          <a:custGeom>
            <a:avLst/>
            <a:gdLst/>
            <a:ahLst/>
            <a:cxnLst/>
            <a:rect l="l" t="t" r="r" b="b"/>
            <a:pathLst>
              <a:path w="255497" h="255497">
                <a:moveTo>
                  <a:pt x="127749" y="0"/>
                </a:moveTo>
                <a:lnTo>
                  <a:pt x="127749" y="0"/>
                </a:lnTo>
                <a:cubicBezTo>
                  <a:pt x="198255" y="0"/>
                  <a:pt x="255497" y="57242"/>
                  <a:pt x="255497" y="127749"/>
                </a:cubicBezTo>
                <a:lnTo>
                  <a:pt x="255497" y="127749"/>
                </a:lnTo>
                <a:cubicBezTo>
                  <a:pt x="255497" y="198255"/>
                  <a:pt x="198255" y="255497"/>
                  <a:pt x="127749" y="255497"/>
                </a:cubicBezTo>
                <a:lnTo>
                  <a:pt x="127749" y="255497"/>
                </a:lnTo>
                <a:cubicBezTo>
                  <a:pt x="57242" y="255497"/>
                  <a:pt x="0" y="198255"/>
                  <a:pt x="0" y="127749"/>
                </a:cubicBezTo>
                <a:lnTo>
                  <a:pt x="0" y="127749"/>
                </a:lnTo>
                <a:cubicBezTo>
                  <a:pt x="0" y="57242"/>
                  <a:pt x="57242" y="0"/>
                  <a:pt x="127749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9" name="Text 47"/>
          <p:cNvSpPr/>
          <p:nvPr/>
        </p:nvSpPr>
        <p:spPr>
          <a:xfrm>
            <a:off x="6973606" y="3026839"/>
            <a:ext cx="311387" cy="255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2FN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20922" y="3058776"/>
            <a:ext cx="1445155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Deuxième Forme Normale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01551" y="3346210"/>
            <a:ext cx="4702743" cy="183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1FN + </a:t>
            </a:r>
            <a:r>
              <a:rPr lang="en-US" sz="88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tout attribut non-clé dépend de la totalité de la clé</a:t>
            </a:r>
            <a:r>
              <a:rPr lang="en-US" sz="88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(pas seulement d'une partie).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04745" y="3594920"/>
            <a:ext cx="4645256" cy="261884"/>
          </a:xfrm>
          <a:custGeom>
            <a:avLst/>
            <a:gdLst/>
            <a:ahLst/>
            <a:cxnLst/>
            <a:rect l="l" t="t" r="r" b="b"/>
            <a:pathLst>
              <a:path w="4645256" h="261884">
                <a:moveTo>
                  <a:pt x="31937" y="0"/>
                </a:moveTo>
                <a:lnTo>
                  <a:pt x="4613319" y="0"/>
                </a:lnTo>
                <a:cubicBezTo>
                  <a:pt x="4630957" y="0"/>
                  <a:pt x="4645256" y="14299"/>
                  <a:pt x="4645256" y="31937"/>
                </a:cubicBezTo>
                <a:lnTo>
                  <a:pt x="4645256" y="229948"/>
                </a:lnTo>
                <a:cubicBezTo>
                  <a:pt x="4645256" y="247586"/>
                  <a:pt x="4630957" y="261884"/>
                  <a:pt x="4613319" y="261884"/>
                </a:cubicBezTo>
                <a:lnTo>
                  <a:pt x="31937" y="261884"/>
                </a:lnTo>
                <a:cubicBezTo>
                  <a:pt x="14299" y="261884"/>
                  <a:pt x="0" y="247586"/>
                  <a:pt x="0" y="229948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02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89777" y="3674766"/>
            <a:ext cx="83835" cy="95811"/>
          </a:xfrm>
          <a:custGeom>
            <a:avLst/>
            <a:gdLst/>
            <a:ahLst/>
            <a:cxnLst/>
            <a:rect l="l" t="t" r="r" b="b"/>
            <a:pathLst>
              <a:path w="83835" h="95811">
                <a:moveTo>
                  <a:pt x="81365" y="13118"/>
                </a:moveTo>
                <a:cubicBezTo>
                  <a:pt x="84041" y="15064"/>
                  <a:pt x="84640" y="18807"/>
                  <a:pt x="82693" y="21483"/>
                </a:cubicBezTo>
                <a:lnTo>
                  <a:pt x="34788" y="87353"/>
                </a:lnTo>
                <a:cubicBezTo>
                  <a:pt x="33759" y="88775"/>
                  <a:pt x="32168" y="89655"/>
                  <a:pt x="30409" y="89804"/>
                </a:cubicBezTo>
                <a:cubicBezTo>
                  <a:pt x="28650" y="89954"/>
                  <a:pt x="26947" y="89299"/>
                  <a:pt x="25712" y="88064"/>
                </a:cubicBezTo>
                <a:lnTo>
                  <a:pt x="1759" y="64111"/>
                </a:lnTo>
                <a:cubicBezTo>
                  <a:pt x="-580" y="61772"/>
                  <a:pt x="-580" y="57973"/>
                  <a:pt x="1759" y="55634"/>
                </a:cubicBezTo>
                <a:cubicBezTo>
                  <a:pt x="4098" y="53295"/>
                  <a:pt x="7897" y="53295"/>
                  <a:pt x="10236" y="55634"/>
                </a:cubicBezTo>
                <a:lnTo>
                  <a:pt x="29230" y="74628"/>
                </a:lnTo>
                <a:lnTo>
                  <a:pt x="73019" y="14428"/>
                </a:lnTo>
                <a:cubicBezTo>
                  <a:pt x="74965" y="11752"/>
                  <a:pt x="78708" y="11153"/>
                  <a:pt x="81384" y="13099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4" name="Text 52"/>
          <p:cNvSpPr/>
          <p:nvPr/>
        </p:nvSpPr>
        <p:spPr>
          <a:xfrm>
            <a:off x="7231733" y="3661994"/>
            <a:ext cx="4399105" cy="12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4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Toutes nos relations sont en 2FN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889771" y="4051626"/>
            <a:ext cx="4854444" cy="1205627"/>
          </a:xfrm>
          <a:custGeom>
            <a:avLst/>
            <a:gdLst/>
            <a:ahLst/>
            <a:cxnLst/>
            <a:rect l="l" t="t" r="r" b="b"/>
            <a:pathLst>
              <a:path w="4854444" h="1205627">
                <a:moveTo>
                  <a:pt x="31937" y="0"/>
                </a:moveTo>
                <a:lnTo>
                  <a:pt x="4822507" y="0"/>
                </a:lnTo>
                <a:cubicBezTo>
                  <a:pt x="4840145" y="0"/>
                  <a:pt x="4854444" y="14299"/>
                  <a:pt x="4854444" y="31937"/>
                </a:cubicBezTo>
                <a:lnTo>
                  <a:pt x="4854444" y="1173690"/>
                </a:lnTo>
                <a:cubicBezTo>
                  <a:pt x="4854444" y="1191328"/>
                  <a:pt x="4840145" y="1205627"/>
                  <a:pt x="4822507" y="1205627"/>
                </a:cubicBezTo>
                <a:lnTo>
                  <a:pt x="31937" y="1205627"/>
                </a:lnTo>
                <a:cubicBezTo>
                  <a:pt x="14299" y="1205627"/>
                  <a:pt x="0" y="1191328"/>
                  <a:pt x="0" y="1173690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6" name="Shape 54"/>
          <p:cNvSpPr/>
          <p:nvPr/>
        </p:nvSpPr>
        <p:spPr>
          <a:xfrm>
            <a:off x="6889771" y="4051626"/>
            <a:ext cx="31937" cy="1205627"/>
          </a:xfrm>
          <a:custGeom>
            <a:avLst/>
            <a:gdLst/>
            <a:ahLst/>
            <a:cxnLst/>
            <a:rect l="l" t="t" r="r" b="b"/>
            <a:pathLst>
              <a:path w="31937" h="1205627">
                <a:moveTo>
                  <a:pt x="31937" y="0"/>
                </a:moveTo>
                <a:lnTo>
                  <a:pt x="31937" y="0"/>
                </a:lnTo>
                <a:lnTo>
                  <a:pt x="31937" y="1205627"/>
                </a:lnTo>
                <a:lnTo>
                  <a:pt x="31937" y="1205627"/>
                </a:lnTo>
                <a:cubicBezTo>
                  <a:pt x="14299" y="1205627"/>
                  <a:pt x="0" y="1191328"/>
                  <a:pt x="0" y="1173690"/>
                </a:cubicBezTo>
                <a:lnTo>
                  <a:pt x="0" y="31937"/>
                </a:lnTo>
                <a:cubicBezTo>
                  <a:pt x="0" y="14311"/>
                  <a:pt x="14311" y="0"/>
                  <a:pt x="31937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57" name="Shape 55"/>
          <p:cNvSpPr/>
          <p:nvPr/>
        </p:nvSpPr>
        <p:spPr>
          <a:xfrm>
            <a:off x="7001551" y="4147437"/>
            <a:ext cx="255497" cy="255497"/>
          </a:xfrm>
          <a:custGeom>
            <a:avLst/>
            <a:gdLst/>
            <a:ahLst/>
            <a:cxnLst/>
            <a:rect l="l" t="t" r="r" b="b"/>
            <a:pathLst>
              <a:path w="255497" h="255497">
                <a:moveTo>
                  <a:pt x="127749" y="0"/>
                </a:moveTo>
                <a:lnTo>
                  <a:pt x="127749" y="0"/>
                </a:lnTo>
                <a:cubicBezTo>
                  <a:pt x="198255" y="0"/>
                  <a:pt x="255497" y="57242"/>
                  <a:pt x="255497" y="127749"/>
                </a:cubicBezTo>
                <a:lnTo>
                  <a:pt x="255497" y="127749"/>
                </a:lnTo>
                <a:cubicBezTo>
                  <a:pt x="255497" y="198255"/>
                  <a:pt x="198255" y="255497"/>
                  <a:pt x="127749" y="255497"/>
                </a:cubicBezTo>
                <a:lnTo>
                  <a:pt x="127749" y="255497"/>
                </a:lnTo>
                <a:cubicBezTo>
                  <a:pt x="57242" y="255497"/>
                  <a:pt x="0" y="198255"/>
                  <a:pt x="0" y="127749"/>
                </a:cubicBezTo>
                <a:lnTo>
                  <a:pt x="0" y="127749"/>
                </a:lnTo>
                <a:cubicBezTo>
                  <a:pt x="0" y="57242"/>
                  <a:pt x="57242" y="0"/>
                  <a:pt x="127749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58" name="Text 56"/>
          <p:cNvSpPr/>
          <p:nvPr/>
        </p:nvSpPr>
        <p:spPr>
          <a:xfrm>
            <a:off x="6973606" y="4147437"/>
            <a:ext cx="311387" cy="255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3FN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320922" y="4179374"/>
            <a:ext cx="1461124" cy="19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6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Troisième Forme Normale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001551" y="4466809"/>
            <a:ext cx="4702743" cy="36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2FN + </a:t>
            </a:r>
            <a:r>
              <a:rPr lang="en-US" sz="88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aucun attribut non-clé ne dépend d'un autre attribut non-clé</a:t>
            </a:r>
            <a:r>
              <a:rPr lang="en-US" sz="88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(pas de dépendance transitive).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004745" y="4897161"/>
            <a:ext cx="4645256" cy="261884"/>
          </a:xfrm>
          <a:custGeom>
            <a:avLst/>
            <a:gdLst/>
            <a:ahLst/>
            <a:cxnLst/>
            <a:rect l="l" t="t" r="r" b="b"/>
            <a:pathLst>
              <a:path w="4645256" h="261884">
                <a:moveTo>
                  <a:pt x="31937" y="0"/>
                </a:moveTo>
                <a:lnTo>
                  <a:pt x="4613319" y="0"/>
                </a:lnTo>
                <a:cubicBezTo>
                  <a:pt x="4630957" y="0"/>
                  <a:pt x="4645256" y="14299"/>
                  <a:pt x="4645256" y="31937"/>
                </a:cubicBezTo>
                <a:lnTo>
                  <a:pt x="4645256" y="229948"/>
                </a:lnTo>
                <a:cubicBezTo>
                  <a:pt x="4645256" y="247586"/>
                  <a:pt x="4630957" y="261884"/>
                  <a:pt x="4613319" y="261884"/>
                </a:cubicBezTo>
                <a:lnTo>
                  <a:pt x="31937" y="261884"/>
                </a:lnTo>
                <a:cubicBezTo>
                  <a:pt x="14299" y="261884"/>
                  <a:pt x="0" y="247586"/>
                  <a:pt x="0" y="229948"/>
                </a:cubicBezTo>
                <a:lnTo>
                  <a:pt x="0" y="31937"/>
                </a:lnTo>
                <a:cubicBezTo>
                  <a:pt x="0" y="14299"/>
                  <a:pt x="14299" y="0"/>
                  <a:pt x="3193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1A202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89777" y="4977000"/>
            <a:ext cx="83835" cy="95811"/>
          </a:xfrm>
          <a:custGeom>
            <a:avLst/>
            <a:gdLst/>
            <a:ahLst/>
            <a:cxnLst/>
            <a:rect l="l" t="t" r="r" b="b"/>
            <a:pathLst>
              <a:path w="83835" h="95811">
                <a:moveTo>
                  <a:pt x="81365" y="13118"/>
                </a:moveTo>
                <a:cubicBezTo>
                  <a:pt x="84041" y="15064"/>
                  <a:pt x="84640" y="18807"/>
                  <a:pt x="82693" y="21483"/>
                </a:cubicBezTo>
                <a:lnTo>
                  <a:pt x="34788" y="87353"/>
                </a:lnTo>
                <a:cubicBezTo>
                  <a:pt x="33759" y="88775"/>
                  <a:pt x="32168" y="89655"/>
                  <a:pt x="30409" y="89804"/>
                </a:cubicBezTo>
                <a:cubicBezTo>
                  <a:pt x="28650" y="89954"/>
                  <a:pt x="26947" y="89299"/>
                  <a:pt x="25712" y="88064"/>
                </a:cubicBezTo>
                <a:lnTo>
                  <a:pt x="1759" y="64111"/>
                </a:lnTo>
                <a:cubicBezTo>
                  <a:pt x="-580" y="61772"/>
                  <a:pt x="-580" y="57973"/>
                  <a:pt x="1759" y="55634"/>
                </a:cubicBezTo>
                <a:cubicBezTo>
                  <a:pt x="4098" y="53295"/>
                  <a:pt x="7897" y="53295"/>
                  <a:pt x="10236" y="55634"/>
                </a:cubicBezTo>
                <a:lnTo>
                  <a:pt x="29230" y="74628"/>
                </a:lnTo>
                <a:lnTo>
                  <a:pt x="73019" y="14428"/>
                </a:lnTo>
                <a:cubicBezTo>
                  <a:pt x="74965" y="11752"/>
                  <a:pt x="78708" y="11153"/>
                  <a:pt x="81384" y="13099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63" name="Text 61"/>
          <p:cNvSpPr/>
          <p:nvPr/>
        </p:nvSpPr>
        <p:spPr>
          <a:xfrm>
            <a:off x="7231733" y="4964228"/>
            <a:ext cx="4399105" cy="12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4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Toutes nos relations sont en 3FN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746054" y="5513545"/>
            <a:ext cx="5125910" cy="958114"/>
          </a:xfrm>
          <a:custGeom>
            <a:avLst/>
            <a:gdLst/>
            <a:ahLst/>
            <a:cxnLst/>
            <a:rect l="l" t="t" r="r" b="b"/>
            <a:pathLst>
              <a:path w="5125910" h="958114">
                <a:moveTo>
                  <a:pt x="63877" y="0"/>
                </a:moveTo>
                <a:lnTo>
                  <a:pt x="5062032" y="0"/>
                </a:lnTo>
                <a:cubicBezTo>
                  <a:pt x="5097311" y="0"/>
                  <a:pt x="5125910" y="28599"/>
                  <a:pt x="5125910" y="63877"/>
                </a:cubicBezTo>
                <a:lnTo>
                  <a:pt x="5125910" y="894236"/>
                </a:lnTo>
                <a:cubicBezTo>
                  <a:pt x="5125910" y="929515"/>
                  <a:pt x="5097311" y="958114"/>
                  <a:pt x="5062032" y="958114"/>
                </a:cubicBezTo>
                <a:lnTo>
                  <a:pt x="63877" y="958114"/>
                </a:lnTo>
                <a:cubicBezTo>
                  <a:pt x="28599" y="958114"/>
                  <a:pt x="0" y="929515"/>
                  <a:pt x="0" y="894236"/>
                </a:cubicBezTo>
                <a:lnTo>
                  <a:pt x="0" y="63877"/>
                </a:lnTo>
                <a:cubicBezTo>
                  <a:pt x="0" y="28623"/>
                  <a:pt x="28623" y="0"/>
                  <a:pt x="63877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65" name="Shape 63"/>
          <p:cNvSpPr/>
          <p:nvPr/>
        </p:nvSpPr>
        <p:spPr>
          <a:xfrm>
            <a:off x="6903743" y="5673231"/>
            <a:ext cx="139725" cy="159686"/>
          </a:xfrm>
          <a:custGeom>
            <a:avLst/>
            <a:gdLst/>
            <a:ahLst/>
            <a:cxnLst/>
            <a:rect l="l" t="t" r="r" b="b"/>
            <a:pathLst>
              <a:path w="139725" h="159686">
                <a:moveTo>
                  <a:pt x="76693" y="-8078"/>
                </a:moveTo>
                <a:cubicBezTo>
                  <a:pt x="72514" y="-10635"/>
                  <a:pt x="67243" y="-10635"/>
                  <a:pt x="63063" y="-8078"/>
                </a:cubicBezTo>
                <a:cubicBezTo>
                  <a:pt x="55453" y="-3431"/>
                  <a:pt x="50744" y="-2183"/>
                  <a:pt x="41824" y="-2370"/>
                </a:cubicBezTo>
                <a:cubicBezTo>
                  <a:pt x="36927" y="-2495"/>
                  <a:pt x="32374" y="156"/>
                  <a:pt x="30003" y="4460"/>
                </a:cubicBezTo>
                <a:cubicBezTo>
                  <a:pt x="25731" y="12288"/>
                  <a:pt x="22269" y="15750"/>
                  <a:pt x="14440" y="20023"/>
                </a:cubicBezTo>
                <a:cubicBezTo>
                  <a:pt x="10136" y="22362"/>
                  <a:pt x="7516" y="26947"/>
                  <a:pt x="7610" y="31844"/>
                </a:cubicBezTo>
                <a:cubicBezTo>
                  <a:pt x="7828" y="40764"/>
                  <a:pt x="6550" y="45473"/>
                  <a:pt x="1903" y="53083"/>
                </a:cubicBezTo>
                <a:cubicBezTo>
                  <a:pt x="-655" y="57262"/>
                  <a:pt x="-655" y="62533"/>
                  <a:pt x="1903" y="66712"/>
                </a:cubicBezTo>
                <a:cubicBezTo>
                  <a:pt x="6550" y="74322"/>
                  <a:pt x="7797" y="79032"/>
                  <a:pt x="7610" y="87952"/>
                </a:cubicBezTo>
                <a:cubicBezTo>
                  <a:pt x="7485" y="92848"/>
                  <a:pt x="10136" y="97402"/>
                  <a:pt x="14440" y="99772"/>
                </a:cubicBezTo>
                <a:cubicBezTo>
                  <a:pt x="21333" y="103546"/>
                  <a:pt x="24826" y="106665"/>
                  <a:pt x="28506" y="112716"/>
                </a:cubicBezTo>
                <a:lnTo>
                  <a:pt x="13318" y="143000"/>
                </a:lnTo>
                <a:cubicBezTo>
                  <a:pt x="11477" y="146711"/>
                  <a:pt x="12974" y="151202"/>
                  <a:pt x="16655" y="153042"/>
                </a:cubicBezTo>
                <a:lnTo>
                  <a:pt x="43477" y="166454"/>
                </a:lnTo>
                <a:cubicBezTo>
                  <a:pt x="47064" y="168231"/>
                  <a:pt x="51430" y="166890"/>
                  <a:pt x="53364" y="163397"/>
                </a:cubicBezTo>
                <a:lnTo>
                  <a:pt x="69831" y="133737"/>
                </a:lnTo>
                <a:lnTo>
                  <a:pt x="86299" y="163397"/>
                </a:lnTo>
                <a:cubicBezTo>
                  <a:pt x="88233" y="166890"/>
                  <a:pt x="92599" y="168263"/>
                  <a:pt x="96186" y="166454"/>
                </a:cubicBezTo>
                <a:lnTo>
                  <a:pt x="123008" y="153042"/>
                </a:lnTo>
                <a:cubicBezTo>
                  <a:pt x="126719" y="151202"/>
                  <a:pt x="128216" y="146711"/>
                  <a:pt x="126345" y="143000"/>
                </a:cubicBezTo>
                <a:lnTo>
                  <a:pt x="111187" y="112684"/>
                </a:lnTo>
                <a:cubicBezTo>
                  <a:pt x="114836" y="106634"/>
                  <a:pt x="118361" y="103515"/>
                  <a:pt x="125253" y="99741"/>
                </a:cubicBezTo>
                <a:cubicBezTo>
                  <a:pt x="129557" y="97402"/>
                  <a:pt x="132177" y="92817"/>
                  <a:pt x="132084" y="87921"/>
                </a:cubicBezTo>
                <a:cubicBezTo>
                  <a:pt x="131865" y="79001"/>
                  <a:pt x="133144" y="74291"/>
                  <a:pt x="137791" y="66681"/>
                </a:cubicBezTo>
                <a:cubicBezTo>
                  <a:pt x="140349" y="62502"/>
                  <a:pt x="140349" y="57231"/>
                  <a:pt x="137791" y="53052"/>
                </a:cubicBezTo>
                <a:cubicBezTo>
                  <a:pt x="133144" y="45442"/>
                  <a:pt x="131897" y="40732"/>
                  <a:pt x="132084" y="31812"/>
                </a:cubicBezTo>
                <a:cubicBezTo>
                  <a:pt x="132208" y="26916"/>
                  <a:pt x="129557" y="22362"/>
                  <a:pt x="125253" y="19992"/>
                </a:cubicBezTo>
                <a:cubicBezTo>
                  <a:pt x="117425" y="15719"/>
                  <a:pt x="113963" y="12257"/>
                  <a:pt x="109690" y="4429"/>
                </a:cubicBezTo>
                <a:cubicBezTo>
                  <a:pt x="107351" y="125"/>
                  <a:pt x="102766" y="-2495"/>
                  <a:pt x="97870" y="-2402"/>
                </a:cubicBezTo>
                <a:cubicBezTo>
                  <a:pt x="88950" y="-2183"/>
                  <a:pt x="84240" y="-3462"/>
                  <a:pt x="76630" y="-8109"/>
                </a:cubicBezTo>
                <a:close/>
                <a:moveTo>
                  <a:pt x="69862" y="29941"/>
                </a:moveTo>
                <a:cubicBezTo>
                  <a:pt x="86387" y="29941"/>
                  <a:pt x="99804" y="43357"/>
                  <a:pt x="99804" y="59882"/>
                </a:cubicBezTo>
                <a:cubicBezTo>
                  <a:pt x="99804" y="76407"/>
                  <a:pt x="86387" y="89823"/>
                  <a:pt x="69862" y="89823"/>
                </a:cubicBezTo>
                <a:cubicBezTo>
                  <a:pt x="53338" y="89823"/>
                  <a:pt x="39921" y="76407"/>
                  <a:pt x="39921" y="59882"/>
                </a:cubicBezTo>
                <a:cubicBezTo>
                  <a:pt x="39921" y="43357"/>
                  <a:pt x="53338" y="29941"/>
                  <a:pt x="69862" y="29941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66" name="Text 64"/>
          <p:cNvSpPr/>
          <p:nvPr/>
        </p:nvSpPr>
        <p:spPr>
          <a:xfrm>
            <a:off x="7169221" y="5641294"/>
            <a:ext cx="926177" cy="22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2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Résultat Final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73802" y="5928728"/>
            <a:ext cx="4934287" cy="415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Schéma entièrement normalisé en </a:t>
            </a:r>
            <a:r>
              <a:rPr lang="en-US" sz="1006" b="1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3FN/BCNF</a:t>
            </a:r>
            <a:r>
              <a:rPr lang="en-US" sz="100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: élimination des redondances, prévention des anomalies, intégrité des données garantie.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pgadmin.org/a67c6064f7ceb3c2b63eb9f9b38fa6bbd370f40c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91" b="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2C528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05917"/>
            <a:ext cx="1474470" cy="388620"/>
          </a:xfrm>
          <a:custGeom>
            <a:avLst/>
            <a:gdLst/>
            <a:ahLst/>
            <a:cxnLst/>
            <a:rect l="l" t="t" r="r" b="b"/>
            <a:pathLst>
              <a:path w="1474470" h="388620">
                <a:moveTo>
                  <a:pt x="38100" y="0"/>
                </a:moveTo>
                <a:lnTo>
                  <a:pt x="1436370" y="0"/>
                </a:lnTo>
                <a:cubicBezTo>
                  <a:pt x="1457412" y="0"/>
                  <a:pt x="1474470" y="17058"/>
                  <a:pt x="1474470" y="38100"/>
                </a:cubicBezTo>
                <a:lnTo>
                  <a:pt x="1474470" y="350520"/>
                </a:lnTo>
                <a:cubicBezTo>
                  <a:pt x="1474470" y="371562"/>
                  <a:pt x="1457412" y="388620"/>
                  <a:pt x="143637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>
              <a:alpha val="20000"/>
            </a:srgbClr>
          </a:solidFill>
          <a:ln w="10160">
            <a:solidFill>
              <a:srgbClr val="C6A8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685925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CHAPITRE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694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Évaluation des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SGBD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004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1294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comparative de 7 systèmes de gestion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bases de données et choix technologique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321" y="340321"/>
            <a:ext cx="11579422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kern="0" spc="54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COMPARATIF SGBD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321" y="612578"/>
            <a:ext cx="1166450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2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Évaluation des Systèmes de Gestion de Bases de Données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0321" y="1054995"/>
            <a:ext cx="816770" cy="34032"/>
          </a:xfrm>
          <a:custGeom>
            <a:avLst/>
            <a:gdLst/>
            <a:ahLst/>
            <a:cxnLst/>
            <a:rect l="l" t="t" r="r" b="b"/>
            <a:pathLst>
              <a:path w="816770" h="34032">
                <a:moveTo>
                  <a:pt x="0" y="0"/>
                </a:moveTo>
                <a:lnTo>
                  <a:pt x="816770" y="0"/>
                </a:lnTo>
                <a:lnTo>
                  <a:pt x="816770" y="34032"/>
                </a:lnTo>
                <a:lnTo>
                  <a:pt x="0" y="34032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40321" y="1242172"/>
            <a:ext cx="6806420" cy="4492237"/>
          </a:xfrm>
          <a:custGeom>
            <a:avLst/>
            <a:gdLst/>
            <a:ahLst/>
            <a:cxnLst/>
            <a:rect l="l" t="t" r="r" b="b"/>
            <a:pathLst>
              <a:path w="6806420" h="4492237">
                <a:moveTo>
                  <a:pt x="34032" y="0"/>
                </a:moveTo>
                <a:lnTo>
                  <a:pt x="6772388" y="0"/>
                </a:lnTo>
                <a:cubicBezTo>
                  <a:pt x="6791183" y="0"/>
                  <a:pt x="6806420" y="15237"/>
                  <a:pt x="6806420" y="34032"/>
                </a:cubicBezTo>
                <a:lnTo>
                  <a:pt x="6806420" y="4424180"/>
                </a:lnTo>
                <a:cubicBezTo>
                  <a:pt x="6806420" y="4461767"/>
                  <a:pt x="6775950" y="4492237"/>
                  <a:pt x="6738363" y="4492237"/>
                </a:cubicBezTo>
                <a:lnTo>
                  <a:pt x="68057" y="4492237"/>
                </a:lnTo>
                <a:cubicBezTo>
                  <a:pt x="30495" y="4492237"/>
                  <a:pt x="0" y="4461742"/>
                  <a:pt x="0" y="4424180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524" dist="850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0321" y="1242172"/>
            <a:ext cx="6806420" cy="34032"/>
          </a:xfrm>
          <a:custGeom>
            <a:avLst/>
            <a:gdLst/>
            <a:ahLst/>
            <a:cxnLst/>
            <a:rect l="l" t="t" r="r" b="b"/>
            <a:pathLst>
              <a:path w="6806420" h="34032">
                <a:moveTo>
                  <a:pt x="34032" y="0"/>
                </a:moveTo>
                <a:lnTo>
                  <a:pt x="6772388" y="0"/>
                </a:lnTo>
                <a:cubicBezTo>
                  <a:pt x="6791183" y="0"/>
                  <a:pt x="6806420" y="15237"/>
                  <a:pt x="6806420" y="34032"/>
                </a:cubicBezTo>
                <a:lnTo>
                  <a:pt x="6806420" y="34032"/>
                </a:lnTo>
                <a:lnTo>
                  <a:pt x="0" y="34032"/>
                </a:ln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476449" y="1429348"/>
            <a:ext cx="212701" cy="170161"/>
          </a:xfrm>
          <a:custGeom>
            <a:avLst/>
            <a:gdLst/>
            <a:ahLst/>
            <a:cxnLst/>
            <a:rect l="l" t="t" r="r" b="b"/>
            <a:pathLst>
              <a:path w="212701" h="170161">
                <a:moveTo>
                  <a:pt x="127620" y="10635"/>
                </a:moveTo>
                <a:lnTo>
                  <a:pt x="170161" y="10635"/>
                </a:lnTo>
                <a:cubicBezTo>
                  <a:pt x="176043" y="10635"/>
                  <a:pt x="180796" y="15388"/>
                  <a:pt x="180796" y="21270"/>
                </a:cubicBezTo>
                <a:cubicBezTo>
                  <a:pt x="180796" y="27153"/>
                  <a:pt x="176043" y="31905"/>
                  <a:pt x="170161" y="31905"/>
                </a:cubicBezTo>
                <a:lnTo>
                  <a:pt x="132406" y="31905"/>
                </a:lnTo>
                <a:cubicBezTo>
                  <a:pt x="130678" y="40480"/>
                  <a:pt x="124795" y="47559"/>
                  <a:pt x="116985" y="50948"/>
                </a:cubicBezTo>
                <a:lnTo>
                  <a:pt x="116985" y="148890"/>
                </a:lnTo>
                <a:lnTo>
                  <a:pt x="170161" y="148890"/>
                </a:lnTo>
                <a:cubicBezTo>
                  <a:pt x="176043" y="148890"/>
                  <a:pt x="180796" y="153643"/>
                  <a:pt x="180796" y="159525"/>
                </a:cubicBezTo>
                <a:cubicBezTo>
                  <a:pt x="180796" y="165408"/>
                  <a:pt x="176043" y="170161"/>
                  <a:pt x="170161" y="170161"/>
                </a:cubicBezTo>
                <a:lnTo>
                  <a:pt x="42540" y="170161"/>
                </a:lnTo>
                <a:cubicBezTo>
                  <a:pt x="36658" y="170161"/>
                  <a:pt x="31905" y="165408"/>
                  <a:pt x="31905" y="159525"/>
                </a:cubicBezTo>
                <a:cubicBezTo>
                  <a:pt x="31905" y="153643"/>
                  <a:pt x="36658" y="148890"/>
                  <a:pt x="42540" y="148890"/>
                </a:cubicBezTo>
                <a:lnTo>
                  <a:pt x="95715" y="148890"/>
                </a:lnTo>
                <a:lnTo>
                  <a:pt x="95715" y="50948"/>
                </a:lnTo>
                <a:cubicBezTo>
                  <a:pt x="87905" y="47525"/>
                  <a:pt x="82023" y="40446"/>
                  <a:pt x="80294" y="31905"/>
                </a:cubicBezTo>
                <a:lnTo>
                  <a:pt x="42540" y="31905"/>
                </a:lnTo>
                <a:cubicBezTo>
                  <a:pt x="36658" y="31905"/>
                  <a:pt x="31905" y="27153"/>
                  <a:pt x="31905" y="21270"/>
                </a:cubicBezTo>
                <a:cubicBezTo>
                  <a:pt x="31905" y="15388"/>
                  <a:pt x="36658" y="10635"/>
                  <a:pt x="42540" y="10635"/>
                </a:cubicBezTo>
                <a:lnTo>
                  <a:pt x="85080" y="10635"/>
                </a:lnTo>
                <a:cubicBezTo>
                  <a:pt x="89932" y="4188"/>
                  <a:pt x="97643" y="0"/>
                  <a:pt x="106350" y="0"/>
                </a:cubicBezTo>
                <a:cubicBezTo>
                  <a:pt x="115058" y="0"/>
                  <a:pt x="122768" y="4188"/>
                  <a:pt x="127620" y="10635"/>
                </a:cubicBezTo>
                <a:close/>
                <a:moveTo>
                  <a:pt x="146099" y="106350"/>
                </a:moveTo>
                <a:lnTo>
                  <a:pt x="194222" y="106350"/>
                </a:lnTo>
                <a:lnTo>
                  <a:pt x="170161" y="65073"/>
                </a:lnTo>
                <a:lnTo>
                  <a:pt x="146099" y="106350"/>
                </a:lnTo>
                <a:close/>
                <a:moveTo>
                  <a:pt x="170161" y="138255"/>
                </a:moveTo>
                <a:cubicBezTo>
                  <a:pt x="149256" y="138255"/>
                  <a:pt x="131874" y="126956"/>
                  <a:pt x="128285" y="112033"/>
                </a:cubicBezTo>
                <a:cubicBezTo>
                  <a:pt x="127421" y="108378"/>
                  <a:pt x="128617" y="104622"/>
                  <a:pt x="130512" y="101365"/>
                </a:cubicBezTo>
                <a:lnTo>
                  <a:pt x="162151" y="47126"/>
                </a:lnTo>
                <a:cubicBezTo>
                  <a:pt x="163813" y="44268"/>
                  <a:pt x="166870" y="42540"/>
                  <a:pt x="170161" y="42540"/>
                </a:cubicBezTo>
                <a:cubicBezTo>
                  <a:pt x="173451" y="42540"/>
                  <a:pt x="176508" y="44302"/>
                  <a:pt x="178170" y="47126"/>
                </a:cubicBezTo>
                <a:lnTo>
                  <a:pt x="209809" y="101365"/>
                </a:lnTo>
                <a:cubicBezTo>
                  <a:pt x="211704" y="104622"/>
                  <a:pt x="212900" y="108378"/>
                  <a:pt x="212036" y="112033"/>
                </a:cubicBezTo>
                <a:cubicBezTo>
                  <a:pt x="208447" y="126922"/>
                  <a:pt x="191065" y="138255"/>
                  <a:pt x="170161" y="138255"/>
                </a:cubicBezTo>
                <a:close/>
                <a:moveTo>
                  <a:pt x="42141" y="65073"/>
                </a:moveTo>
                <a:lnTo>
                  <a:pt x="18080" y="106350"/>
                </a:lnTo>
                <a:lnTo>
                  <a:pt x="66236" y="106350"/>
                </a:lnTo>
                <a:lnTo>
                  <a:pt x="42141" y="65073"/>
                </a:lnTo>
                <a:close/>
                <a:moveTo>
                  <a:pt x="299" y="112033"/>
                </a:moveTo>
                <a:cubicBezTo>
                  <a:pt x="-565" y="108378"/>
                  <a:pt x="631" y="104622"/>
                  <a:pt x="2526" y="101365"/>
                </a:cubicBezTo>
                <a:lnTo>
                  <a:pt x="34165" y="47126"/>
                </a:lnTo>
                <a:cubicBezTo>
                  <a:pt x="35827" y="44268"/>
                  <a:pt x="38884" y="42540"/>
                  <a:pt x="42175" y="42540"/>
                </a:cubicBezTo>
                <a:cubicBezTo>
                  <a:pt x="45465" y="42540"/>
                  <a:pt x="48522" y="44302"/>
                  <a:pt x="50184" y="47126"/>
                </a:cubicBezTo>
                <a:lnTo>
                  <a:pt x="81823" y="101365"/>
                </a:lnTo>
                <a:cubicBezTo>
                  <a:pt x="83718" y="104622"/>
                  <a:pt x="84914" y="108378"/>
                  <a:pt x="84050" y="112033"/>
                </a:cubicBezTo>
                <a:cubicBezTo>
                  <a:pt x="80461" y="126922"/>
                  <a:pt x="63079" y="138255"/>
                  <a:pt x="42175" y="138255"/>
                </a:cubicBezTo>
                <a:cubicBezTo>
                  <a:pt x="21270" y="138255"/>
                  <a:pt x="3888" y="126956"/>
                  <a:pt x="299" y="112033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791246" y="1395316"/>
            <a:ext cx="198237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Tableau Comparatif des SGBD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449" y="1735637"/>
          <a:ext cx="6534163" cy="2492851"/>
        </p:xfrm>
        <a:graphic>
          <a:graphicData uri="http://schemas.openxmlformats.org/drawingml/2006/table">
            <a:tbl>
              <a:tblPr/>
              <a:tblGrid>
                <a:gridCol w="119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3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1606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SGBD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Coût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Facilité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Robustesse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Analytique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Évolutivité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Adequation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06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2C52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PostgreSQL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Parfaite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06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2C52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MySQL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06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2C52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MariaDB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Bonne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06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2C52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SQLite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06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2C52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SQL Server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606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2C52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Oracle XE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606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2C52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MongoDB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Moyen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Bon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4A55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Faible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064" marR="68064" marT="68064" marB="680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4633" y="1225156"/>
            <a:ext cx="4534777" cy="3079905"/>
          </a:xfrm>
          <a:custGeom>
            <a:avLst/>
            <a:gdLst/>
            <a:ahLst/>
            <a:cxnLst/>
            <a:rect l="l" t="t" r="r" b="b"/>
            <a:pathLst>
              <a:path w="4534777" h="3079905">
                <a:moveTo>
                  <a:pt x="68066" y="0"/>
                </a:moveTo>
                <a:lnTo>
                  <a:pt x="4466711" y="0"/>
                </a:lnTo>
                <a:cubicBezTo>
                  <a:pt x="4504303" y="0"/>
                  <a:pt x="4534777" y="30474"/>
                  <a:pt x="4534777" y="68066"/>
                </a:cubicBezTo>
                <a:lnTo>
                  <a:pt x="4534777" y="3011839"/>
                </a:lnTo>
                <a:cubicBezTo>
                  <a:pt x="4534777" y="3049431"/>
                  <a:pt x="4504303" y="3079905"/>
                  <a:pt x="4466711" y="3079905"/>
                </a:cubicBezTo>
                <a:lnTo>
                  <a:pt x="68066" y="3079905"/>
                </a:lnTo>
                <a:cubicBezTo>
                  <a:pt x="30474" y="3079905"/>
                  <a:pt x="0" y="3049431"/>
                  <a:pt x="0" y="3011839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1" name="Shape 8"/>
          <p:cNvSpPr/>
          <p:nvPr/>
        </p:nvSpPr>
        <p:spPr>
          <a:xfrm>
            <a:off x="7476285" y="1378300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57549" y="0"/>
                </a:moveTo>
                <a:lnTo>
                  <a:pt x="146883" y="0"/>
                </a:lnTo>
                <a:cubicBezTo>
                  <a:pt x="157452" y="0"/>
                  <a:pt x="166066" y="8694"/>
                  <a:pt x="165667" y="19223"/>
                </a:cubicBezTo>
                <a:cubicBezTo>
                  <a:pt x="165587" y="21337"/>
                  <a:pt x="165508" y="23450"/>
                  <a:pt x="165388" y="25524"/>
                </a:cubicBezTo>
                <a:lnTo>
                  <a:pt x="185169" y="25524"/>
                </a:lnTo>
                <a:cubicBezTo>
                  <a:pt x="195578" y="25524"/>
                  <a:pt x="204751" y="34138"/>
                  <a:pt x="203953" y="45385"/>
                </a:cubicBezTo>
                <a:cubicBezTo>
                  <a:pt x="200962" y="86742"/>
                  <a:pt x="179825" y="109474"/>
                  <a:pt x="156893" y="121359"/>
                </a:cubicBezTo>
                <a:cubicBezTo>
                  <a:pt x="150592" y="124629"/>
                  <a:pt x="144171" y="127062"/>
                  <a:pt x="138069" y="128857"/>
                </a:cubicBezTo>
                <a:cubicBezTo>
                  <a:pt x="130013" y="140263"/>
                  <a:pt x="121638" y="146285"/>
                  <a:pt x="114978" y="149515"/>
                </a:cubicBezTo>
                <a:lnTo>
                  <a:pt x="114978" y="178669"/>
                </a:lnTo>
                <a:lnTo>
                  <a:pt x="140502" y="178669"/>
                </a:lnTo>
                <a:cubicBezTo>
                  <a:pt x="147561" y="178669"/>
                  <a:pt x="153264" y="184372"/>
                  <a:pt x="153264" y="191431"/>
                </a:cubicBezTo>
                <a:cubicBezTo>
                  <a:pt x="153264" y="198490"/>
                  <a:pt x="147561" y="204193"/>
                  <a:pt x="140502" y="204193"/>
                </a:cubicBezTo>
                <a:lnTo>
                  <a:pt x="63930" y="204193"/>
                </a:lnTo>
                <a:cubicBezTo>
                  <a:pt x="56871" y="204193"/>
                  <a:pt x="51168" y="198490"/>
                  <a:pt x="51168" y="191431"/>
                </a:cubicBezTo>
                <a:cubicBezTo>
                  <a:pt x="51168" y="184372"/>
                  <a:pt x="56871" y="178669"/>
                  <a:pt x="63930" y="178669"/>
                </a:cubicBezTo>
                <a:lnTo>
                  <a:pt x="89454" y="178669"/>
                </a:lnTo>
                <a:lnTo>
                  <a:pt x="89454" y="149515"/>
                </a:lnTo>
                <a:cubicBezTo>
                  <a:pt x="83073" y="146444"/>
                  <a:pt x="75136" y="140741"/>
                  <a:pt x="67400" y="130253"/>
                </a:cubicBezTo>
                <a:cubicBezTo>
                  <a:pt x="60061" y="128338"/>
                  <a:pt x="52085" y="125427"/>
                  <a:pt x="44308" y="121040"/>
                </a:cubicBezTo>
                <a:cubicBezTo>
                  <a:pt x="22732" y="108956"/>
                  <a:pt x="3270" y="86184"/>
                  <a:pt x="479" y="45305"/>
                </a:cubicBezTo>
                <a:cubicBezTo>
                  <a:pt x="-279" y="34099"/>
                  <a:pt x="8854" y="25484"/>
                  <a:pt x="19263" y="25484"/>
                </a:cubicBezTo>
                <a:lnTo>
                  <a:pt x="39044" y="25484"/>
                </a:lnTo>
                <a:cubicBezTo>
                  <a:pt x="38924" y="23410"/>
                  <a:pt x="38844" y="21337"/>
                  <a:pt x="38765" y="19183"/>
                </a:cubicBezTo>
                <a:cubicBezTo>
                  <a:pt x="38366" y="8614"/>
                  <a:pt x="46980" y="-40"/>
                  <a:pt x="57549" y="-40"/>
                </a:cubicBezTo>
                <a:close/>
                <a:moveTo>
                  <a:pt x="40480" y="44667"/>
                </a:moveTo>
                <a:lnTo>
                  <a:pt x="19582" y="44667"/>
                </a:lnTo>
                <a:cubicBezTo>
                  <a:pt x="22054" y="78447"/>
                  <a:pt x="37568" y="95356"/>
                  <a:pt x="53561" y="104330"/>
                </a:cubicBezTo>
                <a:cubicBezTo>
                  <a:pt x="47818" y="89454"/>
                  <a:pt x="43072" y="70032"/>
                  <a:pt x="40480" y="44667"/>
                </a:cubicBezTo>
                <a:close/>
                <a:moveTo>
                  <a:pt x="151549" y="102415"/>
                </a:moveTo>
                <a:cubicBezTo>
                  <a:pt x="167701" y="92924"/>
                  <a:pt x="182298" y="76054"/>
                  <a:pt x="184770" y="44667"/>
                </a:cubicBezTo>
                <a:lnTo>
                  <a:pt x="163912" y="44667"/>
                </a:lnTo>
                <a:cubicBezTo>
                  <a:pt x="161440" y="68955"/>
                  <a:pt x="156973" y="87819"/>
                  <a:pt x="151549" y="10241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2" name="Text 9"/>
          <p:cNvSpPr/>
          <p:nvPr/>
        </p:nvSpPr>
        <p:spPr>
          <a:xfrm>
            <a:off x="7808098" y="1361284"/>
            <a:ext cx="1820717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Recommandation Finale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50761" y="1701605"/>
            <a:ext cx="4262521" cy="1208140"/>
          </a:xfrm>
          <a:custGeom>
            <a:avLst/>
            <a:gdLst/>
            <a:ahLst/>
            <a:cxnLst/>
            <a:rect l="l" t="t" r="r" b="b"/>
            <a:pathLst>
              <a:path w="4262521" h="1208140">
                <a:moveTo>
                  <a:pt x="34033" y="0"/>
                </a:moveTo>
                <a:lnTo>
                  <a:pt x="4228487" y="0"/>
                </a:lnTo>
                <a:cubicBezTo>
                  <a:pt x="4247283" y="0"/>
                  <a:pt x="4262521" y="15237"/>
                  <a:pt x="4262521" y="34033"/>
                </a:cubicBezTo>
                <a:lnTo>
                  <a:pt x="4262521" y="1174106"/>
                </a:lnTo>
                <a:cubicBezTo>
                  <a:pt x="4262521" y="1192902"/>
                  <a:pt x="4247283" y="1208140"/>
                  <a:pt x="4228487" y="1208140"/>
                </a:cubicBezTo>
                <a:lnTo>
                  <a:pt x="34033" y="1208140"/>
                </a:lnTo>
                <a:cubicBezTo>
                  <a:pt x="15237" y="1208140"/>
                  <a:pt x="0" y="1192902"/>
                  <a:pt x="0" y="1174106"/>
                </a:cubicBezTo>
                <a:lnTo>
                  <a:pt x="0" y="34033"/>
                </a:lnTo>
                <a:cubicBezTo>
                  <a:pt x="0" y="15237"/>
                  <a:pt x="15237" y="0"/>
                  <a:pt x="3403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7552858" y="1803701"/>
            <a:ext cx="4160424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8" b="1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52858" y="2144022"/>
            <a:ext cx="4126392" cy="663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Choix optimal pour le projet cuisine : excellence technique sans coût de licence, conformité SQL stricte, transactions ACID robustes, fonctions analytiques avancées.</a:t>
            </a:r>
            <a:endParaRPr lang="en-US" sz="1600" dirty="0"/>
          </a:p>
        </p:txBody>
      </p:sp>
      <p:sp>
        <p:nvSpPr>
          <p:cNvPr id="9" name="Shape 13"/>
          <p:cNvSpPr/>
          <p:nvPr/>
        </p:nvSpPr>
        <p:spPr>
          <a:xfrm>
            <a:off x="7462460" y="3045873"/>
            <a:ext cx="104223" cy="119112"/>
          </a:xfrm>
          <a:custGeom>
            <a:avLst/>
            <a:gdLst/>
            <a:ahLst/>
            <a:cxnLst/>
            <a:rect l="l" t="t" r="r" b="b"/>
            <a:pathLst>
              <a:path w="104223" h="119112">
                <a:moveTo>
                  <a:pt x="101152" y="16308"/>
                </a:moveTo>
                <a:cubicBezTo>
                  <a:pt x="104479" y="18728"/>
                  <a:pt x="105224" y="23380"/>
                  <a:pt x="102804" y="26707"/>
                </a:cubicBezTo>
                <a:lnTo>
                  <a:pt x="43248" y="108597"/>
                </a:lnTo>
                <a:cubicBezTo>
                  <a:pt x="41968" y="110365"/>
                  <a:pt x="39991" y="111458"/>
                  <a:pt x="37804" y="111645"/>
                </a:cubicBezTo>
                <a:cubicBezTo>
                  <a:pt x="35617" y="111831"/>
                  <a:pt x="33500" y="111016"/>
                  <a:pt x="31965" y="109481"/>
                </a:cubicBezTo>
                <a:lnTo>
                  <a:pt x="2187" y="79703"/>
                </a:lnTo>
                <a:cubicBezTo>
                  <a:pt x="-721" y="76795"/>
                  <a:pt x="-721" y="72072"/>
                  <a:pt x="2187" y="69164"/>
                </a:cubicBezTo>
                <a:cubicBezTo>
                  <a:pt x="5095" y="66256"/>
                  <a:pt x="9817" y="66256"/>
                  <a:pt x="12725" y="69164"/>
                </a:cubicBezTo>
                <a:lnTo>
                  <a:pt x="36339" y="92777"/>
                </a:lnTo>
                <a:lnTo>
                  <a:pt x="90777" y="17937"/>
                </a:lnTo>
                <a:cubicBezTo>
                  <a:pt x="93196" y="14610"/>
                  <a:pt x="97849" y="13865"/>
                  <a:pt x="101176" y="1628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7" name="Text 14"/>
          <p:cNvSpPr/>
          <p:nvPr/>
        </p:nvSpPr>
        <p:spPr>
          <a:xfrm>
            <a:off x="7647722" y="3011841"/>
            <a:ext cx="412639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 technique :</a:t>
            </a:r>
            <a:r>
              <a:rPr lang="en-US" sz="93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Conformité SQL, transactions ACID, optimiseur qualité industrielle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466714" y="3454258"/>
            <a:ext cx="104223" cy="119112"/>
          </a:xfrm>
          <a:custGeom>
            <a:avLst/>
            <a:gdLst/>
            <a:ahLst/>
            <a:cxnLst/>
            <a:rect l="l" t="t" r="r" b="b"/>
            <a:pathLst>
              <a:path w="104223" h="119112">
                <a:moveTo>
                  <a:pt x="101152" y="16308"/>
                </a:moveTo>
                <a:cubicBezTo>
                  <a:pt x="104479" y="18728"/>
                  <a:pt x="105224" y="23380"/>
                  <a:pt x="102804" y="26707"/>
                </a:cubicBezTo>
                <a:lnTo>
                  <a:pt x="43248" y="108597"/>
                </a:lnTo>
                <a:cubicBezTo>
                  <a:pt x="41968" y="110365"/>
                  <a:pt x="39991" y="111458"/>
                  <a:pt x="37804" y="111645"/>
                </a:cubicBezTo>
                <a:cubicBezTo>
                  <a:pt x="35617" y="111831"/>
                  <a:pt x="33500" y="111016"/>
                  <a:pt x="31965" y="109481"/>
                </a:cubicBezTo>
                <a:lnTo>
                  <a:pt x="2187" y="79703"/>
                </a:lnTo>
                <a:cubicBezTo>
                  <a:pt x="-721" y="76795"/>
                  <a:pt x="-721" y="72072"/>
                  <a:pt x="2187" y="69164"/>
                </a:cubicBezTo>
                <a:cubicBezTo>
                  <a:pt x="5095" y="66256"/>
                  <a:pt x="9817" y="66256"/>
                  <a:pt x="12725" y="69164"/>
                </a:cubicBezTo>
                <a:lnTo>
                  <a:pt x="36339" y="92777"/>
                </a:lnTo>
                <a:lnTo>
                  <a:pt x="90777" y="17937"/>
                </a:lnTo>
                <a:cubicBezTo>
                  <a:pt x="93196" y="14610"/>
                  <a:pt x="97849" y="13865"/>
                  <a:pt x="101176" y="1628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9" name="Text 16"/>
          <p:cNvSpPr/>
          <p:nvPr/>
        </p:nvSpPr>
        <p:spPr>
          <a:xfrm>
            <a:off x="7653110" y="3420226"/>
            <a:ext cx="4117884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 économique :</a:t>
            </a:r>
            <a:r>
              <a:rPr lang="en-US" sz="93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Aucun coût de licence, pas de risque de capture propriétaire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470968" y="3862643"/>
            <a:ext cx="104223" cy="119112"/>
          </a:xfrm>
          <a:custGeom>
            <a:avLst/>
            <a:gdLst/>
            <a:ahLst/>
            <a:cxnLst/>
            <a:rect l="l" t="t" r="r" b="b"/>
            <a:pathLst>
              <a:path w="104223" h="119112">
                <a:moveTo>
                  <a:pt x="101152" y="16308"/>
                </a:moveTo>
                <a:cubicBezTo>
                  <a:pt x="104479" y="18728"/>
                  <a:pt x="105224" y="23380"/>
                  <a:pt x="102804" y="26707"/>
                </a:cubicBezTo>
                <a:lnTo>
                  <a:pt x="43248" y="108597"/>
                </a:lnTo>
                <a:cubicBezTo>
                  <a:pt x="41968" y="110365"/>
                  <a:pt x="39991" y="111458"/>
                  <a:pt x="37804" y="111645"/>
                </a:cubicBezTo>
                <a:cubicBezTo>
                  <a:pt x="35617" y="111831"/>
                  <a:pt x="33500" y="111016"/>
                  <a:pt x="31965" y="109481"/>
                </a:cubicBezTo>
                <a:lnTo>
                  <a:pt x="2187" y="79703"/>
                </a:lnTo>
                <a:cubicBezTo>
                  <a:pt x="-721" y="76795"/>
                  <a:pt x="-721" y="72072"/>
                  <a:pt x="2187" y="69164"/>
                </a:cubicBezTo>
                <a:cubicBezTo>
                  <a:pt x="5095" y="66256"/>
                  <a:pt x="9817" y="66256"/>
                  <a:pt x="12725" y="69164"/>
                </a:cubicBezTo>
                <a:lnTo>
                  <a:pt x="36339" y="92777"/>
                </a:lnTo>
                <a:lnTo>
                  <a:pt x="90777" y="17937"/>
                </a:lnTo>
                <a:cubicBezTo>
                  <a:pt x="93196" y="14610"/>
                  <a:pt x="97849" y="13865"/>
                  <a:pt x="101176" y="1628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1" name="Text 18"/>
          <p:cNvSpPr/>
          <p:nvPr/>
        </p:nvSpPr>
        <p:spPr>
          <a:xfrm>
            <a:off x="7662327" y="3828611"/>
            <a:ext cx="4109376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 opérationnelle :</a:t>
            </a:r>
            <a:r>
              <a:rPr lang="en-US" sz="938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Fiabilité éprouvée, extensibilité, communauté active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314633" y="4458205"/>
            <a:ext cx="4534777" cy="2399263"/>
          </a:xfrm>
          <a:custGeom>
            <a:avLst/>
            <a:gdLst/>
            <a:ahLst/>
            <a:cxnLst/>
            <a:rect l="l" t="t" r="r" b="b"/>
            <a:pathLst>
              <a:path w="4534777" h="2399263">
                <a:moveTo>
                  <a:pt x="34032" y="0"/>
                </a:moveTo>
                <a:lnTo>
                  <a:pt x="4500745" y="0"/>
                </a:lnTo>
                <a:cubicBezTo>
                  <a:pt x="4519541" y="0"/>
                  <a:pt x="4534777" y="15237"/>
                  <a:pt x="4534777" y="34032"/>
                </a:cubicBezTo>
                <a:lnTo>
                  <a:pt x="4534777" y="2331196"/>
                </a:lnTo>
                <a:cubicBezTo>
                  <a:pt x="4534777" y="2368763"/>
                  <a:pt x="4504278" y="2399263"/>
                  <a:pt x="4466710" y="2399263"/>
                </a:cubicBezTo>
                <a:lnTo>
                  <a:pt x="68067" y="2399263"/>
                </a:lnTo>
                <a:cubicBezTo>
                  <a:pt x="30500" y="2399263"/>
                  <a:pt x="0" y="2368763"/>
                  <a:pt x="0" y="2331196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524" dist="850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314633" y="4458205"/>
            <a:ext cx="4534777" cy="34032"/>
          </a:xfrm>
          <a:custGeom>
            <a:avLst/>
            <a:gdLst/>
            <a:ahLst/>
            <a:cxnLst/>
            <a:rect l="l" t="t" r="r" b="b"/>
            <a:pathLst>
              <a:path w="4534777" h="34032">
                <a:moveTo>
                  <a:pt x="34032" y="0"/>
                </a:moveTo>
                <a:lnTo>
                  <a:pt x="4500745" y="0"/>
                </a:lnTo>
                <a:cubicBezTo>
                  <a:pt x="4519541" y="0"/>
                  <a:pt x="4534777" y="15237"/>
                  <a:pt x="4534777" y="34032"/>
                </a:cubicBezTo>
                <a:lnTo>
                  <a:pt x="4534777" y="34032"/>
                </a:lnTo>
                <a:lnTo>
                  <a:pt x="0" y="34032"/>
                </a:ln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4" name="Shape 21"/>
          <p:cNvSpPr/>
          <p:nvPr/>
        </p:nvSpPr>
        <p:spPr>
          <a:xfrm>
            <a:off x="7472031" y="4645382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77270" y="1728"/>
                </a:moveTo>
                <a:cubicBezTo>
                  <a:pt x="82222" y="-565"/>
                  <a:pt x="87938" y="-565"/>
                  <a:pt x="92890" y="1728"/>
                </a:cubicBezTo>
                <a:lnTo>
                  <a:pt x="165541" y="35295"/>
                </a:lnTo>
                <a:cubicBezTo>
                  <a:pt x="168366" y="36591"/>
                  <a:pt x="170161" y="39416"/>
                  <a:pt x="170161" y="42540"/>
                </a:cubicBezTo>
                <a:cubicBezTo>
                  <a:pt x="170161" y="45664"/>
                  <a:pt x="168366" y="48489"/>
                  <a:pt x="165541" y="49785"/>
                </a:cubicBezTo>
                <a:lnTo>
                  <a:pt x="92890" y="83352"/>
                </a:lnTo>
                <a:cubicBezTo>
                  <a:pt x="87938" y="85645"/>
                  <a:pt x="82222" y="85645"/>
                  <a:pt x="77270" y="83352"/>
                </a:cubicBezTo>
                <a:lnTo>
                  <a:pt x="4620" y="49785"/>
                </a:lnTo>
                <a:cubicBezTo>
                  <a:pt x="1795" y="48456"/>
                  <a:pt x="0" y="45631"/>
                  <a:pt x="0" y="42540"/>
                </a:cubicBezTo>
                <a:cubicBezTo>
                  <a:pt x="0" y="39449"/>
                  <a:pt x="1795" y="36591"/>
                  <a:pt x="4620" y="35295"/>
                </a:cubicBezTo>
                <a:lnTo>
                  <a:pt x="77270" y="1728"/>
                </a:lnTo>
                <a:close/>
                <a:moveTo>
                  <a:pt x="15986" y="72584"/>
                </a:moveTo>
                <a:lnTo>
                  <a:pt x="70590" y="97809"/>
                </a:lnTo>
                <a:cubicBezTo>
                  <a:pt x="79796" y="102063"/>
                  <a:pt x="90398" y="102063"/>
                  <a:pt x="99604" y="97809"/>
                </a:cubicBezTo>
                <a:lnTo>
                  <a:pt x="154208" y="72584"/>
                </a:lnTo>
                <a:lnTo>
                  <a:pt x="165541" y="77835"/>
                </a:lnTo>
                <a:cubicBezTo>
                  <a:pt x="168366" y="79131"/>
                  <a:pt x="170161" y="81956"/>
                  <a:pt x="170161" y="85080"/>
                </a:cubicBezTo>
                <a:cubicBezTo>
                  <a:pt x="170161" y="88204"/>
                  <a:pt x="168366" y="91029"/>
                  <a:pt x="165541" y="92325"/>
                </a:cubicBezTo>
                <a:lnTo>
                  <a:pt x="92890" y="125892"/>
                </a:lnTo>
                <a:cubicBezTo>
                  <a:pt x="87938" y="128185"/>
                  <a:pt x="82222" y="128185"/>
                  <a:pt x="77270" y="125892"/>
                </a:cubicBezTo>
                <a:lnTo>
                  <a:pt x="4620" y="92325"/>
                </a:lnTo>
                <a:cubicBezTo>
                  <a:pt x="1795" y="90996"/>
                  <a:pt x="0" y="88171"/>
                  <a:pt x="0" y="85080"/>
                </a:cubicBezTo>
                <a:cubicBezTo>
                  <a:pt x="0" y="81989"/>
                  <a:pt x="1795" y="79131"/>
                  <a:pt x="4620" y="77835"/>
                </a:cubicBezTo>
                <a:lnTo>
                  <a:pt x="15953" y="72584"/>
                </a:lnTo>
                <a:close/>
                <a:moveTo>
                  <a:pt x="4620" y="120375"/>
                </a:moveTo>
                <a:lnTo>
                  <a:pt x="15953" y="115124"/>
                </a:lnTo>
                <a:lnTo>
                  <a:pt x="70557" y="140349"/>
                </a:lnTo>
                <a:cubicBezTo>
                  <a:pt x="79763" y="144603"/>
                  <a:pt x="90365" y="144603"/>
                  <a:pt x="99570" y="140349"/>
                </a:cubicBezTo>
                <a:lnTo>
                  <a:pt x="154175" y="115124"/>
                </a:lnTo>
                <a:lnTo>
                  <a:pt x="165508" y="120375"/>
                </a:lnTo>
                <a:cubicBezTo>
                  <a:pt x="168333" y="121671"/>
                  <a:pt x="170127" y="124496"/>
                  <a:pt x="170127" y="127620"/>
                </a:cubicBezTo>
                <a:cubicBezTo>
                  <a:pt x="170127" y="130744"/>
                  <a:pt x="168333" y="133569"/>
                  <a:pt x="165508" y="134865"/>
                </a:cubicBezTo>
                <a:lnTo>
                  <a:pt x="92857" y="168432"/>
                </a:lnTo>
                <a:cubicBezTo>
                  <a:pt x="87905" y="170725"/>
                  <a:pt x="82189" y="170725"/>
                  <a:pt x="77237" y="168432"/>
                </a:cubicBezTo>
                <a:lnTo>
                  <a:pt x="4620" y="134865"/>
                </a:lnTo>
                <a:cubicBezTo>
                  <a:pt x="1795" y="133536"/>
                  <a:pt x="0" y="130711"/>
                  <a:pt x="0" y="127620"/>
                </a:cubicBezTo>
                <a:cubicBezTo>
                  <a:pt x="0" y="124530"/>
                  <a:pt x="1795" y="121671"/>
                  <a:pt x="4620" y="120375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5" name="Text 22"/>
          <p:cNvSpPr/>
          <p:nvPr/>
        </p:nvSpPr>
        <p:spPr>
          <a:xfrm>
            <a:off x="7765558" y="4611350"/>
            <a:ext cx="1863258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Architecture Recommandée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467777" y="4951671"/>
            <a:ext cx="4245505" cy="544514"/>
          </a:xfrm>
          <a:custGeom>
            <a:avLst/>
            <a:gdLst/>
            <a:ahLst/>
            <a:cxnLst/>
            <a:rect l="l" t="t" r="r" b="b"/>
            <a:pathLst>
              <a:path w="4245505" h="544514">
                <a:moveTo>
                  <a:pt x="34032" y="0"/>
                </a:moveTo>
                <a:lnTo>
                  <a:pt x="4211472" y="0"/>
                </a:lnTo>
                <a:cubicBezTo>
                  <a:pt x="4230268" y="0"/>
                  <a:pt x="4245505" y="15237"/>
                  <a:pt x="4245505" y="34032"/>
                </a:cubicBezTo>
                <a:lnTo>
                  <a:pt x="4245505" y="510482"/>
                </a:lnTo>
                <a:cubicBezTo>
                  <a:pt x="4245505" y="529277"/>
                  <a:pt x="4230268" y="544514"/>
                  <a:pt x="4211472" y="544514"/>
                </a:cubicBez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7" name="Shape 24"/>
          <p:cNvSpPr/>
          <p:nvPr/>
        </p:nvSpPr>
        <p:spPr>
          <a:xfrm>
            <a:off x="7467777" y="4951671"/>
            <a:ext cx="34032" cy="544514"/>
          </a:xfrm>
          <a:custGeom>
            <a:avLst/>
            <a:gdLst/>
            <a:ahLst/>
            <a:cxnLst/>
            <a:rect l="l" t="t" r="r" b="b"/>
            <a:pathLst>
              <a:path w="34032" h="544514">
                <a:moveTo>
                  <a:pt x="34032" y="0"/>
                </a:moveTo>
                <a:lnTo>
                  <a:pt x="34032" y="0"/>
                </a:lnTo>
                <a:lnTo>
                  <a:pt x="34032" y="544514"/>
                </a:ln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8" name="Shape 25"/>
          <p:cNvSpPr/>
          <p:nvPr/>
        </p:nvSpPr>
        <p:spPr>
          <a:xfrm>
            <a:off x="7603906" y="5075884"/>
            <a:ext cx="119112" cy="119112"/>
          </a:xfrm>
          <a:custGeom>
            <a:avLst/>
            <a:gdLst/>
            <a:ahLst/>
            <a:cxnLst/>
            <a:rect l="l" t="t" r="r" b="b"/>
            <a:pathLst>
              <a:path w="119112" h="119112">
                <a:moveTo>
                  <a:pt x="14889" y="7445"/>
                </a:moveTo>
                <a:cubicBezTo>
                  <a:pt x="6677" y="7445"/>
                  <a:pt x="0" y="14121"/>
                  <a:pt x="0" y="22334"/>
                </a:cubicBezTo>
                <a:lnTo>
                  <a:pt x="0" y="81890"/>
                </a:lnTo>
                <a:cubicBezTo>
                  <a:pt x="0" y="90102"/>
                  <a:pt x="6677" y="96779"/>
                  <a:pt x="14889" y="96779"/>
                </a:cubicBezTo>
                <a:lnTo>
                  <a:pt x="48389" y="96779"/>
                </a:lnTo>
                <a:lnTo>
                  <a:pt x="44667" y="107946"/>
                </a:lnTo>
                <a:lnTo>
                  <a:pt x="27917" y="107946"/>
                </a:lnTo>
                <a:cubicBezTo>
                  <a:pt x="24823" y="107946"/>
                  <a:pt x="22334" y="110435"/>
                  <a:pt x="22334" y="113529"/>
                </a:cubicBezTo>
                <a:cubicBezTo>
                  <a:pt x="22334" y="116623"/>
                  <a:pt x="24823" y="119112"/>
                  <a:pt x="27917" y="119112"/>
                </a:cubicBezTo>
                <a:lnTo>
                  <a:pt x="91195" y="119112"/>
                </a:lnTo>
                <a:cubicBezTo>
                  <a:pt x="94290" y="119112"/>
                  <a:pt x="96779" y="116623"/>
                  <a:pt x="96779" y="113529"/>
                </a:cubicBezTo>
                <a:cubicBezTo>
                  <a:pt x="96779" y="110435"/>
                  <a:pt x="94290" y="107946"/>
                  <a:pt x="91195" y="107946"/>
                </a:cubicBezTo>
                <a:lnTo>
                  <a:pt x="74445" y="107946"/>
                </a:lnTo>
                <a:lnTo>
                  <a:pt x="70723" y="96779"/>
                </a:lnTo>
                <a:lnTo>
                  <a:pt x="104223" y="96779"/>
                </a:lnTo>
                <a:cubicBezTo>
                  <a:pt x="112436" y="96779"/>
                  <a:pt x="119112" y="90102"/>
                  <a:pt x="119112" y="81890"/>
                </a:cubicBezTo>
                <a:lnTo>
                  <a:pt x="119112" y="22334"/>
                </a:lnTo>
                <a:cubicBezTo>
                  <a:pt x="119112" y="14121"/>
                  <a:pt x="112436" y="7445"/>
                  <a:pt x="104223" y="7445"/>
                </a:cubicBezTo>
                <a:lnTo>
                  <a:pt x="14889" y="7445"/>
                </a:lnTo>
                <a:close/>
                <a:moveTo>
                  <a:pt x="22334" y="22334"/>
                </a:moveTo>
                <a:lnTo>
                  <a:pt x="96779" y="22334"/>
                </a:lnTo>
                <a:cubicBezTo>
                  <a:pt x="100897" y="22334"/>
                  <a:pt x="104223" y="25660"/>
                  <a:pt x="104223" y="29778"/>
                </a:cubicBezTo>
                <a:lnTo>
                  <a:pt x="104223" y="67001"/>
                </a:lnTo>
                <a:cubicBezTo>
                  <a:pt x="104223" y="71118"/>
                  <a:pt x="100897" y="74445"/>
                  <a:pt x="96779" y="74445"/>
                </a:cubicBezTo>
                <a:lnTo>
                  <a:pt x="22334" y="74445"/>
                </a:lnTo>
                <a:cubicBezTo>
                  <a:pt x="18216" y="74445"/>
                  <a:pt x="14889" y="71118"/>
                  <a:pt x="14889" y="67001"/>
                </a:cubicBezTo>
                <a:lnTo>
                  <a:pt x="14889" y="29778"/>
                </a:lnTo>
                <a:cubicBezTo>
                  <a:pt x="14889" y="25660"/>
                  <a:pt x="18216" y="22334"/>
                  <a:pt x="22334" y="22334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9" name="Text 26"/>
          <p:cNvSpPr/>
          <p:nvPr/>
        </p:nvSpPr>
        <p:spPr>
          <a:xfrm>
            <a:off x="7785632" y="5053767"/>
            <a:ext cx="388511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Couche Présentation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586890" y="5257960"/>
            <a:ext cx="4075344" cy="136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4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web (React/Vue.js) + Mobile (React Native/Flutter)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467777" y="5564248"/>
            <a:ext cx="4245505" cy="544514"/>
          </a:xfrm>
          <a:custGeom>
            <a:avLst/>
            <a:gdLst/>
            <a:ahLst/>
            <a:cxnLst/>
            <a:rect l="l" t="t" r="r" b="b"/>
            <a:pathLst>
              <a:path w="4245505" h="544514">
                <a:moveTo>
                  <a:pt x="34032" y="0"/>
                </a:moveTo>
                <a:lnTo>
                  <a:pt x="4211472" y="0"/>
                </a:lnTo>
                <a:cubicBezTo>
                  <a:pt x="4230268" y="0"/>
                  <a:pt x="4245505" y="15237"/>
                  <a:pt x="4245505" y="34032"/>
                </a:cubicBezTo>
                <a:lnTo>
                  <a:pt x="4245505" y="510482"/>
                </a:lnTo>
                <a:cubicBezTo>
                  <a:pt x="4245505" y="529277"/>
                  <a:pt x="4230268" y="544514"/>
                  <a:pt x="4211472" y="544514"/>
                </a:cubicBez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2" name="Shape 29"/>
          <p:cNvSpPr/>
          <p:nvPr/>
        </p:nvSpPr>
        <p:spPr>
          <a:xfrm>
            <a:off x="7467777" y="5564248"/>
            <a:ext cx="34032" cy="544514"/>
          </a:xfrm>
          <a:custGeom>
            <a:avLst/>
            <a:gdLst/>
            <a:ahLst/>
            <a:cxnLst/>
            <a:rect l="l" t="t" r="r" b="b"/>
            <a:pathLst>
              <a:path w="34032" h="544514">
                <a:moveTo>
                  <a:pt x="34032" y="0"/>
                </a:moveTo>
                <a:lnTo>
                  <a:pt x="34032" y="0"/>
                </a:lnTo>
                <a:lnTo>
                  <a:pt x="34032" y="544514"/>
                </a:ln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3" name="Shape 30"/>
          <p:cNvSpPr/>
          <p:nvPr/>
        </p:nvSpPr>
        <p:spPr>
          <a:xfrm>
            <a:off x="7589017" y="5688462"/>
            <a:ext cx="148890" cy="119112"/>
          </a:xfrm>
          <a:custGeom>
            <a:avLst/>
            <a:gdLst/>
            <a:ahLst/>
            <a:cxnLst/>
            <a:rect l="l" t="t" r="r" b="b"/>
            <a:pathLst>
              <a:path w="148890" h="119112">
                <a:moveTo>
                  <a:pt x="96756" y="48971"/>
                </a:moveTo>
                <a:cubicBezTo>
                  <a:pt x="99594" y="48203"/>
                  <a:pt x="102572" y="49553"/>
                  <a:pt x="103851" y="52181"/>
                </a:cubicBezTo>
                <a:lnTo>
                  <a:pt x="108178" y="60929"/>
                </a:lnTo>
                <a:cubicBezTo>
                  <a:pt x="110574" y="61254"/>
                  <a:pt x="112924" y="61906"/>
                  <a:pt x="115134" y="62813"/>
                </a:cubicBezTo>
                <a:lnTo>
                  <a:pt x="123277" y="57393"/>
                </a:lnTo>
                <a:cubicBezTo>
                  <a:pt x="125719" y="55764"/>
                  <a:pt x="128953" y="56090"/>
                  <a:pt x="131024" y="58160"/>
                </a:cubicBezTo>
                <a:lnTo>
                  <a:pt x="135490" y="62627"/>
                </a:lnTo>
                <a:cubicBezTo>
                  <a:pt x="137561" y="64698"/>
                  <a:pt x="137887" y="67955"/>
                  <a:pt x="136258" y="70374"/>
                </a:cubicBezTo>
                <a:lnTo>
                  <a:pt x="130837" y="78493"/>
                </a:lnTo>
                <a:cubicBezTo>
                  <a:pt x="131279" y="79587"/>
                  <a:pt x="131675" y="80727"/>
                  <a:pt x="132001" y="81913"/>
                </a:cubicBezTo>
                <a:cubicBezTo>
                  <a:pt x="132326" y="83099"/>
                  <a:pt x="132536" y="84263"/>
                  <a:pt x="132699" y="85449"/>
                </a:cubicBezTo>
                <a:lnTo>
                  <a:pt x="141469" y="89776"/>
                </a:lnTo>
                <a:cubicBezTo>
                  <a:pt x="144098" y="91079"/>
                  <a:pt x="145447" y="94057"/>
                  <a:pt x="144680" y="96872"/>
                </a:cubicBezTo>
                <a:lnTo>
                  <a:pt x="143051" y="102967"/>
                </a:lnTo>
                <a:cubicBezTo>
                  <a:pt x="142283" y="105782"/>
                  <a:pt x="139655" y="107690"/>
                  <a:pt x="136723" y="107504"/>
                </a:cubicBezTo>
                <a:lnTo>
                  <a:pt x="126952" y="106875"/>
                </a:lnTo>
                <a:cubicBezTo>
                  <a:pt x="125487" y="108760"/>
                  <a:pt x="123788" y="110505"/>
                  <a:pt x="121858" y="111994"/>
                </a:cubicBezTo>
                <a:lnTo>
                  <a:pt x="122486" y="121741"/>
                </a:lnTo>
                <a:cubicBezTo>
                  <a:pt x="122672" y="124672"/>
                  <a:pt x="120764" y="127325"/>
                  <a:pt x="117949" y="128069"/>
                </a:cubicBezTo>
                <a:lnTo>
                  <a:pt x="111854" y="129698"/>
                </a:lnTo>
                <a:cubicBezTo>
                  <a:pt x="109016" y="130465"/>
                  <a:pt x="106061" y="129116"/>
                  <a:pt x="104758" y="126487"/>
                </a:cubicBezTo>
                <a:lnTo>
                  <a:pt x="100431" y="117740"/>
                </a:lnTo>
                <a:cubicBezTo>
                  <a:pt x="98035" y="117414"/>
                  <a:pt x="95685" y="116763"/>
                  <a:pt x="93475" y="115855"/>
                </a:cubicBezTo>
                <a:lnTo>
                  <a:pt x="85333" y="121276"/>
                </a:lnTo>
                <a:cubicBezTo>
                  <a:pt x="82890" y="122904"/>
                  <a:pt x="79656" y="122579"/>
                  <a:pt x="77586" y="120508"/>
                </a:cubicBezTo>
                <a:lnTo>
                  <a:pt x="73119" y="116041"/>
                </a:lnTo>
                <a:cubicBezTo>
                  <a:pt x="71049" y="113971"/>
                  <a:pt x="70723" y="110737"/>
                  <a:pt x="72351" y="108295"/>
                </a:cubicBezTo>
                <a:lnTo>
                  <a:pt x="77772" y="100152"/>
                </a:lnTo>
                <a:cubicBezTo>
                  <a:pt x="77330" y="99059"/>
                  <a:pt x="76934" y="97919"/>
                  <a:pt x="76609" y="96732"/>
                </a:cubicBezTo>
                <a:cubicBezTo>
                  <a:pt x="76283" y="95546"/>
                  <a:pt x="76074" y="94359"/>
                  <a:pt x="75911" y="93196"/>
                </a:cubicBezTo>
                <a:lnTo>
                  <a:pt x="67140" y="88869"/>
                </a:lnTo>
                <a:cubicBezTo>
                  <a:pt x="64511" y="87566"/>
                  <a:pt x="63185" y="84588"/>
                  <a:pt x="63930" y="81773"/>
                </a:cubicBezTo>
                <a:lnTo>
                  <a:pt x="65558" y="75678"/>
                </a:lnTo>
                <a:cubicBezTo>
                  <a:pt x="66326" y="72863"/>
                  <a:pt x="68955" y="70956"/>
                  <a:pt x="71886" y="71142"/>
                </a:cubicBezTo>
                <a:lnTo>
                  <a:pt x="81634" y="71770"/>
                </a:lnTo>
                <a:cubicBezTo>
                  <a:pt x="83099" y="69885"/>
                  <a:pt x="84798" y="68141"/>
                  <a:pt x="86729" y="66652"/>
                </a:cubicBezTo>
                <a:lnTo>
                  <a:pt x="86101" y="56927"/>
                </a:lnTo>
                <a:cubicBezTo>
                  <a:pt x="85914" y="53996"/>
                  <a:pt x="87822" y="51344"/>
                  <a:pt x="90637" y="50599"/>
                </a:cubicBezTo>
                <a:lnTo>
                  <a:pt x="96732" y="48971"/>
                </a:lnTo>
                <a:close/>
                <a:moveTo>
                  <a:pt x="104316" y="79098"/>
                </a:moveTo>
                <a:cubicBezTo>
                  <a:pt x="98667" y="79104"/>
                  <a:pt x="94085" y="83696"/>
                  <a:pt x="94092" y="89346"/>
                </a:cubicBezTo>
                <a:cubicBezTo>
                  <a:pt x="94098" y="94995"/>
                  <a:pt x="98690" y="99577"/>
                  <a:pt x="104340" y="99570"/>
                </a:cubicBezTo>
                <a:cubicBezTo>
                  <a:pt x="109989" y="99564"/>
                  <a:pt x="114571" y="94972"/>
                  <a:pt x="114564" y="89323"/>
                </a:cubicBezTo>
                <a:cubicBezTo>
                  <a:pt x="114558" y="83673"/>
                  <a:pt x="109966" y="79092"/>
                  <a:pt x="104316" y="79098"/>
                </a:cubicBezTo>
                <a:close/>
                <a:moveTo>
                  <a:pt x="52321" y="-10585"/>
                </a:moveTo>
                <a:lnTo>
                  <a:pt x="58416" y="-8957"/>
                </a:lnTo>
                <a:cubicBezTo>
                  <a:pt x="61231" y="-8189"/>
                  <a:pt x="63139" y="-5537"/>
                  <a:pt x="62953" y="-2629"/>
                </a:cubicBezTo>
                <a:lnTo>
                  <a:pt x="62325" y="7096"/>
                </a:lnTo>
                <a:cubicBezTo>
                  <a:pt x="64256" y="8584"/>
                  <a:pt x="65954" y="10306"/>
                  <a:pt x="67419" y="12214"/>
                </a:cubicBezTo>
                <a:lnTo>
                  <a:pt x="77190" y="11586"/>
                </a:lnTo>
                <a:cubicBezTo>
                  <a:pt x="80098" y="11399"/>
                  <a:pt x="82751" y="13307"/>
                  <a:pt x="83518" y="16122"/>
                </a:cubicBezTo>
                <a:lnTo>
                  <a:pt x="85147" y="22217"/>
                </a:lnTo>
                <a:cubicBezTo>
                  <a:pt x="85891" y="25032"/>
                  <a:pt x="84565" y="28010"/>
                  <a:pt x="81936" y="29313"/>
                </a:cubicBezTo>
                <a:lnTo>
                  <a:pt x="73166" y="33640"/>
                </a:lnTo>
                <a:cubicBezTo>
                  <a:pt x="73003" y="34826"/>
                  <a:pt x="72770" y="36013"/>
                  <a:pt x="72468" y="37176"/>
                </a:cubicBezTo>
                <a:cubicBezTo>
                  <a:pt x="72165" y="38339"/>
                  <a:pt x="71747" y="39502"/>
                  <a:pt x="71305" y="40596"/>
                </a:cubicBezTo>
                <a:lnTo>
                  <a:pt x="76725" y="48738"/>
                </a:lnTo>
                <a:cubicBezTo>
                  <a:pt x="78354" y="51181"/>
                  <a:pt x="78028" y="54415"/>
                  <a:pt x="75957" y="56485"/>
                </a:cubicBezTo>
                <a:lnTo>
                  <a:pt x="71491" y="60952"/>
                </a:lnTo>
                <a:cubicBezTo>
                  <a:pt x="69420" y="63023"/>
                  <a:pt x="66186" y="63348"/>
                  <a:pt x="63744" y="61720"/>
                </a:cubicBezTo>
                <a:lnTo>
                  <a:pt x="55601" y="56299"/>
                </a:lnTo>
                <a:cubicBezTo>
                  <a:pt x="53391" y="57206"/>
                  <a:pt x="51042" y="57858"/>
                  <a:pt x="48645" y="58184"/>
                </a:cubicBezTo>
                <a:lnTo>
                  <a:pt x="44318" y="66931"/>
                </a:lnTo>
                <a:cubicBezTo>
                  <a:pt x="43015" y="69560"/>
                  <a:pt x="40038" y="70886"/>
                  <a:pt x="37223" y="70141"/>
                </a:cubicBezTo>
                <a:lnTo>
                  <a:pt x="31127" y="68513"/>
                </a:lnTo>
                <a:cubicBezTo>
                  <a:pt x="28289" y="67745"/>
                  <a:pt x="26405" y="65093"/>
                  <a:pt x="26591" y="62185"/>
                </a:cubicBezTo>
                <a:lnTo>
                  <a:pt x="27219" y="52437"/>
                </a:lnTo>
                <a:cubicBezTo>
                  <a:pt x="25288" y="50948"/>
                  <a:pt x="23590" y="49227"/>
                  <a:pt x="22124" y="47319"/>
                </a:cubicBezTo>
                <a:lnTo>
                  <a:pt x="12353" y="47947"/>
                </a:lnTo>
                <a:cubicBezTo>
                  <a:pt x="9445" y="48133"/>
                  <a:pt x="6793" y="46226"/>
                  <a:pt x="6025" y="43411"/>
                </a:cubicBezTo>
                <a:lnTo>
                  <a:pt x="4397" y="37316"/>
                </a:lnTo>
                <a:cubicBezTo>
                  <a:pt x="3652" y="34501"/>
                  <a:pt x="4979" y="31523"/>
                  <a:pt x="7607" y="30220"/>
                </a:cubicBezTo>
                <a:lnTo>
                  <a:pt x="16378" y="25893"/>
                </a:lnTo>
                <a:cubicBezTo>
                  <a:pt x="16541" y="24707"/>
                  <a:pt x="16773" y="23543"/>
                  <a:pt x="17076" y="22357"/>
                </a:cubicBezTo>
                <a:cubicBezTo>
                  <a:pt x="17402" y="21170"/>
                  <a:pt x="17774" y="20030"/>
                  <a:pt x="18239" y="18937"/>
                </a:cubicBezTo>
                <a:lnTo>
                  <a:pt x="12819" y="10818"/>
                </a:lnTo>
                <a:cubicBezTo>
                  <a:pt x="11190" y="8375"/>
                  <a:pt x="11516" y="5141"/>
                  <a:pt x="13586" y="3071"/>
                </a:cubicBezTo>
                <a:lnTo>
                  <a:pt x="18053" y="-1396"/>
                </a:lnTo>
                <a:cubicBezTo>
                  <a:pt x="20123" y="-3466"/>
                  <a:pt x="23357" y="-3792"/>
                  <a:pt x="25800" y="-2164"/>
                </a:cubicBezTo>
                <a:lnTo>
                  <a:pt x="33942" y="3257"/>
                </a:lnTo>
                <a:cubicBezTo>
                  <a:pt x="36152" y="2350"/>
                  <a:pt x="38502" y="1698"/>
                  <a:pt x="40898" y="1373"/>
                </a:cubicBezTo>
                <a:lnTo>
                  <a:pt x="45225" y="-7375"/>
                </a:lnTo>
                <a:cubicBezTo>
                  <a:pt x="46528" y="-10004"/>
                  <a:pt x="49483" y="-11330"/>
                  <a:pt x="52321" y="-10585"/>
                </a:cubicBezTo>
                <a:close/>
                <a:moveTo>
                  <a:pt x="44760" y="19542"/>
                </a:moveTo>
                <a:cubicBezTo>
                  <a:pt x="39111" y="19542"/>
                  <a:pt x="34524" y="24129"/>
                  <a:pt x="34524" y="29778"/>
                </a:cubicBezTo>
                <a:cubicBezTo>
                  <a:pt x="34524" y="35428"/>
                  <a:pt x="39111" y="40014"/>
                  <a:pt x="44760" y="40014"/>
                </a:cubicBezTo>
                <a:cubicBezTo>
                  <a:pt x="50410" y="40014"/>
                  <a:pt x="54996" y="35428"/>
                  <a:pt x="54996" y="29778"/>
                </a:cubicBezTo>
                <a:cubicBezTo>
                  <a:pt x="54996" y="24129"/>
                  <a:pt x="50410" y="19542"/>
                  <a:pt x="44760" y="19542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4" name="Text 31"/>
          <p:cNvSpPr/>
          <p:nvPr/>
        </p:nvSpPr>
        <p:spPr>
          <a:xfrm>
            <a:off x="7785632" y="5666345"/>
            <a:ext cx="388511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Couche Applicative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586890" y="5870537"/>
            <a:ext cx="4075344" cy="136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4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Backend (Node.js/Python/Java) avec ORM moderne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467777" y="6176826"/>
            <a:ext cx="4245505" cy="544514"/>
          </a:xfrm>
          <a:custGeom>
            <a:avLst/>
            <a:gdLst/>
            <a:ahLst/>
            <a:cxnLst/>
            <a:rect l="l" t="t" r="r" b="b"/>
            <a:pathLst>
              <a:path w="4245505" h="544514">
                <a:moveTo>
                  <a:pt x="34032" y="0"/>
                </a:moveTo>
                <a:lnTo>
                  <a:pt x="4211472" y="0"/>
                </a:lnTo>
                <a:cubicBezTo>
                  <a:pt x="4230268" y="0"/>
                  <a:pt x="4245505" y="15237"/>
                  <a:pt x="4245505" y="34032"/>
                </a:cubicBezTo>
                <a:lnTo>
                  <a:pt x="4245505" y="510482"/>
                </a:lnTo>
                <a:cubicBezTo>
                  <a:pt x="4245505" y="529277"/>
                  <a:pt x="4230268" y="544514"/>
                  <a:pt x="4211472" y="544514"/>
                </a:cubicBez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Shape 34"/>
          <p:cNvSpPr/>
          <p:nvPr/>
        </p:nvSpPr>
        <p:spPr>
          <a:xfrm>
            <a:off x="7467777" y="6176826"/>
            <a:ext cx="34032" cy="544514"/>
          </a:xfrm>
          <a:custGeom>
            <a:avLst/>
            <a:gdLst/>
            <a:ahLst/>
            <a:cxnLst/>
            <a:rect l="l" t="t" r="r" b="b"/>
            <a:pathLst>
              <a:path w="34032" h="544514">
                <a:moveTo>
                  <a:pt x="34032" y="0"/>
                </a:moveTo>
                <a:lnTo>
                  <a:pt x="34032" y="0"/>
                </a:lnTo>
                <a:lnTo>
                  <a:pt x="34032" y="544514"/>
                </a:lnTo>
                <a:lnTo>
                  <a:pt x="34032" y="544514"/>
                </a:lnTo>
                <a:cubicBezTo>
                  <a:pt x="15237" y="544514"/>
                  <a:pt x="0" y="529277"/>
                  <a:pt x="0" y="510482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8" name="Shape 35"/>
          <p:cNvSpPr/>
          <p:nvPr/>
        </p:nvSpPr>
        <p:spPr>
          <a:xfrm>
            <a:off x="7611350" y="6301040"/>
            <a:ext cx="104223" cy="119112"/>
          </a:xfrm>
          <a:custGeom>
            <a:avLst/>
            <a:gdLst/>
            <a:ahLst/>
            <a:cxnLst/>
            <a:rect l="l" t="t" r="r" b="b"/>
            <a:pathLst>
              <a:path w="104223" h="119112">
                <a:moveTo>
                  <a:pt x="104223" y="47878"/>
                </a:moveTo>
                <a:cubicBezTo>
                  <a:pt x="100780" y="50157"/>
                  <a:pt x="96825" y="51995"/>
                  <a:pt x="92708" y="53461"/>
                </a:cubicBezTo>
                <a:cubicBezTo>
                  <a:pt x="81773" y="57369"/>
                  <a:pt x="67419" y="59556"/>
                  <a:pt x="52112" y="59556"/>
                </a:cubicBezTo>
                <a:cubicBezTo>
                  <a:pt x="36804" y="59556"/>
                  <a:pt x="22427" y="57346"/>
                  <a:pt x="11516" y="53461"/>
                </a:cubicBezTo>
                <a:cubicBezTo>
                  <a:pt x="7421" y="51995"/>
                  <a:pt x="3443" y="50157"/>
                  <a:pt x="0" y="47878"/>
                </a:cubicBezTo>
                <a:lnTo>
                  <a:pt x="0" y="67001"/>
                </a:lnTo>
                <a:cubicBezTo>
                  <a:pt x="0" y="77283"/>
                  <a:pt x="23334" y="85612"/>
                  <a:pt x="52112" y="85612"/>
                </a:cubicBezTo>
                <a:cubicBezTo>
                  <a:pt x="80889" y="85612"/>
                  <a:pt x="104223" y="77283"/>
                  <a:pt x="104223" y="67001"/>
                </a:cubicBezTo>
                <a:lnTo>
                  <a:pt x="104223" y="47878"/>
                </a:lnTo>
                <a:close/>
                <a:moveTo>
                  <a:pt x="104223" y="29778"/>
                </a:moveTo>
                <a:lnTo>
                  <a:pt x="104223" y="18611"/>
                </a:lnTo>
                <a:cubicBezTo>
                  <a:pt x="104223" y="8329"/>
                  <a:pt x="80889" y="0"/>
                  <a:pt x="52112" y="0"/>
                </a:cubicBezTo>
                <a:cubicBezTo>
                  <a:pt x="23334" y="0"/>
                  <a:pt x="0" y="8329"/>
                  <a:pt x="0" y="18611"/>
                </a:cubicBezTo>
                <a:lnTo>
                  <a:pt x="0" y="29778"/>
                </a:lnTo>
                <a:cubicBezTo>
                  <a:pt x="0" y="40061"/>
                  <a:pt x="23334" y="48389"/>
                  <a:pt x="52112" y="48389"/>
                </a:cubicBezTo>
                <a:cubicBezTo>
                  <a:pt x="80889" y="48389"/>
                  <a:pt x="104223" y="40061"/>
                  <a:pt x="104223" y="29778"/>
                </a:cubicBezTo>
                <a:close/>
                <a:moveTo>
                  <a:pt x="92708" y="90684"/>
                </a:moveTo>
                <a:cubicBezTo>
                  <a:pt x="81797" y="94569"/>
                  <a:pt x="67443" y="96779"/>
                  <a:pt x="52112" y="96779"/>
                </a:cubicBezTo>
                <a:cubicBezTo>
                  <a:pt x="36781" y="96779"/>
                  <a:pt x="22427" y="94569"/>
                  <a:pt x="11516" y="90684"/>
                </a:cubicBezTo>
                <a:cubicBezTo>
                  <a:pt x="7421" y="89218"/>
                  <a:pt x="3443" y="87380"/>
                  <a:pt x="0" y="85100"/>
                </a:cubicBezTo>
                <a:lnTo>
                  <a:pt x="0" y="100501"/>
                </a:lnTo>
                <a:cubicBezTo>
                  <a:pt x="0" y="110784"/>
                  <a:pt x="23334" y="119112"/>
                  <a:pt x="52112" y="119112"/>
                </a:cubicBezTo>
                <a:cubicBezTo>
                  <a:pt x="80889" y="119112"/>
                  <a:pt x="104223" y="110784"/>
                  <a:pt x="104223" y="100501"/>
                </a:cubicBezTo>
                <a:lnTo>
                  <a:pt x="104223" y="85100"/>
                </a:lnTo>
                <a:cubicBezTo>
                  <a:pt x="100780" y="87380"/>
                  <a:pt x="96825" y="89218"/>
                  <a:pt x="92708" y="90684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9" name="Text 36"/>
          <p:cNvSpPr/>
          <p:nvPr/>
        </p:nvSpPr>
        <p:spPr>
          <a:xfrm>
            <a:off x="7785632" y="6278923"/>
            <a:ext cx="388511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Couche Données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586890" y="6483115"/>
            <a:ext cx="4075344" cy="136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4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14+ avec extensions pg_trgm, PostGIS si besoin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datensen.com/09d72768a55267c953428a1902b43bf55e52fac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4206" b="420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2C528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05917"/>
            <a:ext cx="1464945" cy="388620"/>
          </a:xfrm>
          <a:custGeom>
            <a:avLst/>
            <a:gdLst/>
            <a:ahLst/>
            <a:cxnLst/>
            <a:rect l="l" t="t" r="r" b="b"/>
            <a:pathLst>
              <a:path w="1464945" h="388620">
                <a:moveTo>
                  <a:pt x="38100" y="0"/>
                </a:moveTo>
                <a:lnTo>
                  <a:pt x="1426845" y="0"/>
                </a:lnTo>
                <a:cubicBezTo>
                  <a:pt x="1447887" y="0"/>
                  <a:pt x="1464945" y="17058"/>
                  <a:pt x="1464945" y="38100"/>
                </a:cubicBezTo>
                <a:lnTo>
                  <a:pt x="1464945" y="350520"/>
                </a:lnTo>
                <a:cubicBezTo>
                  <a:pt x="1464945" y="371562"/>
                  <a:pt x="1447887" y="388620"/>
                  <a:pt x="1426845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>
              <a:alpha val="20000"/>
            </a:srgbClr>
          </a:solidFill>
          <a:ln w="10160">
            <a:solidFill>
              <a:srgbClr val="C6A8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685925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CHAPITRE 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694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Implémentation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SQL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004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12943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 requêtes SQL dans 13 catégories 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sélections, jointures, agrégations, requêtes métier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REQUÊTES FONDAMENTALES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Sélections, Filtrages et Jointures SQL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58875"/>
            <a:ext cx="5715000" cy="2714625"/>
          </a:xfrm>
          <a:custGeom>
            <a:avLst/>
            <a:gdLst/>
            <a:ahLst/>
            <a:cxnLst/>
            <a:rect l="l" t="t" r="r" b="b"/>
            <a:pathLst>
              <a:path w="5715000" h="27146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2651130"/>
                </a:lnTo>
                <a:cubicBezTo>
                  <a:pt x="5715000" y="2686197"/>
                  <a:pt x="5686572" y="2714625"/>
                  <a:pt x="5651505" y="2714625"/>
                </a:cubicBezTo>
                <a:lnTo>
                  <a:pt x="63495" y="2714625"/>
                </a:lnTo>
                <a:cubicBezTo>
                  <a:pt x="28428" y="2714625"/>
                  <a:pt x="0" y="2686197"/>
                  <a:pt x="0" y="265113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1588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464344" y="1333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738188" y="1301750"/>
            <a:ext cx="277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Catégorie 1 : Requêtes de Sélection (R1.1-R1.6)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" y="1619250"/>
            <a:ext cx="5461000" cy="666750"/>
          </a:xfrm>
          <a:custGeom>
            <a:avLst/>
            <a:gdLst/>
            <a:ahLst/>
            <a:cxnLst/>
            <a:rect l="l" t="t" r="r" b="b"/>
            <a:pathLst>
              <a:path w="5461000" h="666750">
                <a:moveTo>
                  <a:pt x="31751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634999"/>
                </a:lnTo>
                <a:cubicBezTo>
                  <a:pt x="5461000" y="652535"/>
                  <a:pt x="5446785" y="666750"/>
                  <a:pt x="542924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0" name="Text 8"/>
          <p:cNvSpPr/>
          <p:nvPr/>
        </p:nvSpPr>
        <p:spPr>
          <a:xfrm>
            <a:off x="539750" y="17145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R1.1 : Sélection complète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750" y="18732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* FROM INGREDIENT;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750" y="20637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Inventaire complet des produits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500" y="2349500"/>
            <a:ext cx="5461000" cy="666750"/>
          </a:xfrm>
          <a:custGeom>
            <a:avLst/>
            <a:gdLst/>
            <a:ahLst/>
            <a:cxnLst/>
            <a:rect l="l" t="t" r="r" b="b"/>
            <a:pathLst>
              <a:path w="5461000" h="666750">
                <a:moveTo>
                  <a:pt x="31751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634999"/>
                </a:lnTo>
                <a:cubicBezTo>
                  <a:pt x="5461000" y="652535"/>
                  <a:pt x="5446785" y="666750"/>
                  <a:pt x="542924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4" name="Text 12"/>
          <p:cNvSpPr/>
          <p:nvPr/>
        </p:nvSpPr>
        <p:spPr>
          <a:xfrm>
            <a:off x="539750" y="24447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R1.3 : Alias de colonnes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750" y="260350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NOM_ING AS Produit, PRIX_UNIT AS Prix FROM INGREDIENT;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750" y="27940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Affichage utilisateur francisé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500" y="3079750"/>
            <a:ext cx="5461000" cy="666750"/>
          </a:xfrm>
          <a:custGeom>
            <a:avLst/>
            <a:gdLst/>
            <a:ahLst/>
            <a:cxnLst/>
            <a:rect l="l" t="t" r="r" b="b"/>
            <a:pathLst>
              <a:path w="5461000" h="666750">
                <a:moveTo>
                  <a:pt x="31751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634999"/>
                </a:lnTo>
                <a:cubicBezTo>
                  <a:pt x="5461000" y="652535"/>
                  <a:pt x="5446785" y="666750"/>
                  <a:pt x="542924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750" y="31750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R1.5 : Tri des résultats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750" y="33337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* FROM INGREDIENT ORDER BY PRIX_UNIT DESC;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750" y="3524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Produits classés par prix décroissant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17500" y="4016375"/>
            <a:ext cx="5715000" cy="2714625"/>
          </a:xfrm>
          <a:custGeom>
            <a:avLst/>
            <a:gdLst/>
            <a:ahLst/>
            <a:cxnLst/>
            <a:rect l="l" t="t" r="r" b="b"/>
            <a:pathLst>
              <a:path w="5715000" h="27146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2651130"/>
                </a:lnTo>
                <a:cubicBezTo>
                  <a:pt x="5715000" y="2686197"/>
                  <a:pt x="5686572" y="2714625"/>
                  <a:pt x="5651505" y="2714625"/>
                </a:cubicBezTo>
                <a:lnTo>
                  <a:pt x="63495" y="2714625"/>
                </a:lnTo>
                <a:cubicBezTo>
                  <a:pt x="28428" y="2714625"/>
                  <a:pt x="0" y="2686197"/>
                  <a:pt x="0" y="265113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500" y="40163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3" name="Shape 21"/>
          <p:cNvSpPr/>
          <p:nvPr/>
        </p:nvSpPr>
        <p:spPr>
          <a:xfrm>
            <a:off x="464344" y="4191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19844"/>
                </a:moveTo>
                <a:cubicBezTo>
                  <a:pt x="5922" y="19844"/>
                  <a:pt x="2294" y="22262"/>
                  <a:pt x="744" y="25983"/>
                </a:cubicBezTo>
                <a:cubicBezTo>
                  <a:pt x="-806" y="29704"/>
                  <a:pt x="62" y="33951"/>
                  <a:pt x="2915" y="36773"/>
                </a:cubicBezTo>
                <a:lnTo>
                  <a:pt x="59531" y="93421"/>
                </a:lnTo>
                <a:lnTo>
                  <a:pt x="59531" y="128984"/>
                </a:lnTo>
                <a:cubicBezTo>
                  <a:pt x="59531" y="131620"/>
                  <a:pt x="60585" y="134131"/>
                  <a:pt x="62446" y="135992"/>
                </a:cubicBezTo>
                <a:lnTo>
                  <a:pt x="82290" y="155835"/>
                </a:lnTo>
                <a:cubicBezTo>
                  <a:pt x="85142" y="158688"/>
                  <a:pt x="89390" y="159525"/>
                  <a:pt x="93111" y="157975"/>
                </a:cubicBezTo>
                <a:cubicBezTo>
                  <a:pt x="96831" y="156425"/>
                  <a:pt x="99219" y="152828"/>
                  <a:pt x="99219" y="148828"/>
                </a:cubicBezTo>
                <a:lnTo>
                  <a:pt x="99219" y="93421"/>
                </a:lnTo>
                <a:lnTo>
                  <a:pt x="155835" y="36804"/>
                </a:lnTo>
                <a:cubicBezTo>
                  <a:pt x="158688" y="33951"/>
                  <a:pt x="159525" y="29704"/>
                  <a:pt x="157975" y="25983"/>
                </a:cubicBezTo>
                <a:cubicBezTo>
                  <a:pt x="156425" y="22262"/>
                  <a:pt x="152828" y="19844"/>
                  <a:pt x="148828" y="19844"/>
                </a:cubicBezTo>
                <a:lnTo>
                  <a:pt x="9922" y="19844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4" name="Text 22"/>
          <p:cNvSpPr/>
          <p:nvPr/>
        </p:nvSpPr>
        <p:spPr>
          <a:xfrm>
            <a:off x="738188" y="4159250"/>
            <a:ext cx="2484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Catégorie 2 : Filtrage WHERE (R2.1-R2.9)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500" y="4476750"/>
            <a:ext cx="5461000" cy="666750"/>
          </a:xfrm>
          <a:custGeom>
            <a:avLst/>
            <a:gdLst/>
            <a:ahLst/>
            <a:cxnLst/>
            <a:rect l="l" t="t" r="r" b="b"/>
            <a:pathLst>
              <a:path w="5461000" h="666750">
                <a:moveTo>
                  <a:pt x="31751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634999"/>
                </a:lnTo>
                <a:cubicBezTo>
                  <a:pt x="5461000" y="652535"/>
                  <a:pt x="5446785" y="666750"/>
                  <a:pt x="542924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6" name="Text 24"/>
          <p:cNvSpPr/>
          <p:nvPr/>
        </p:nvSpPr>
        <p:spPr>
          <a:xfrm>
            <a:off x="539750" y="45720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R2.1 : Égalité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750" y="47307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* FROM INGREDIENT WHERE CAT_ING = 'Viandes';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750" y="4921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Sélection des viandes uniquement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500" y="5207000"/>
            <a:ext cx="5461000" cy="666750"/>
          </a:xfrm>
          <a:custGeom>
            <a:avLst/>
            <a:gdLst/>
            <a:ahLst/>
            <a:cxnLst/>
            <a:rect l="l" t="t" r="r" b="b"/>
            <a:pathLst>
              <a:path w="5461000" h="666750">
                <a:moveTo>
                  <a:pt x="31751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634999"/>
                </a:lnTo>
                <a:cubicBezTo>
                  <a:pt x="5461000" y="652535"/>
                  <a:pt x="5446785" y="666750"/>
                  <a:pt x="542924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750" y="5302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R2.4 : Intervalle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750" y="546100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* FROM INGREDIENT WHERE PRIX_UNIT BETWEEN 500 AND 1500;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750" y="56515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Fourchette de prix spécifique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4500" y="5937250"/>
            <a:ext cx="5461000" cy="666750"/>
          </a:xfrm>
          <a:custGeom>
            <a:avLst/>
            <a:gdLst/>
            <a:ahLst/>
            <a:cxnLst/>
            <a:rect l="l" t="t" r="r" b="b"/>
            <a:pathLst>
              <a:path w="5461000" h="666750">
                <a:moveTo>
                  <a:pt x="31751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634999"/>
                </a:lnTo>
                <a:cubicBezTo>
                  <a:pt x="5461000" y="652535"/>
                  <a:pt x="5446785" y="666750"/>
                  <a:pt x="542924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4" name="Text 32"/>
          <p:cNvSpPr/>
          <p:nvPr/>
        </p:nvSpPr>
        <p:spPr>
          <a:xfrm>
            <a:off x="539750" y="60325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R2.8 : Conditions combinées (ET)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750" y="61912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* FROM INGREDIENT WHERE CAT_ING = 'Légumes' AND PRIX_UNIT &lt; 1000;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750" y="63817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Légumes bon marché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59500" y="1158875"/>
            <a:ext cx="5715000" cy="3984625"/>
          </a:xfrm>
          <a:custGeom>
            <a:avLst/>
            <a:gdLst/>
            <a:ahLst/>
            <a:cxnLst/>
            <a:rect l="l" t="t" r="r" b="b"/>
            <a:pathLst>
              <a:path w="5715000" h="39846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921110"/>
                </a:lnTo>
                <a:cubicBezTo>
                  <a:pt x="5715000" y="3956188"/>
                  <a:pt x="5686563" y="3984625"/>
                  <a:pt x="5651485" y="3984625"/>
                </a:cubicBezTo>
                <a:lnTo>
                  <a:pt x="63515" y="3984625"/>
                </a:lnTo>
                <a:cubicBezTo>
                  <a:pt x="28437" y="3984625"/>
                  <a:pt x="0" y="3956188"/>
                  <a:pt x="0" y="392111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59500" y="11588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9" name="Shape 37"/>
          <p:cNvSpPr/>
          <p:nvPr/>
        </p:nvSpPr>
        <p:spPr>
          <a:xfrm>
            <a:off x="6296422" y="13335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30070" y="29766"/>
                </a:moveTo>
                <a:cubicBezTo>
                  <a:pt x="124923" y="29766"/>
                  <a:pt x="119931" y="31161"/>
                  <a:pt x="115559" y="33703"/>
                </a:cubicBezTo>
                <a:cubicBezTo>
                  <a:pt x="110660" y="28742"/>
                  <a:pt x="104955" y="24588"/>
                  <a:pt x="98661" y="21456"/>
                </a:cubicBezTo>
                <a:cubicBezTo>
                  <a:pt x="107404" y="14015"/>
                  <a:pt x="118535" y="9922"/>
                  <a:pt x="130070" y="9922"/>
                </a:cubicBezTo>
                <a:cubicBezTo>
                  <a:pt x="156859" y="9922"/>
                  <a:pt x="178594" y="31626"/>
                  <a:pt x="178594" y="58446"/>
                </a:cubicBezTo>
                <a:cubicBezTo>
                  <a:pt x="178594" y="71313"/>
                  <a:pt x="173478" y="83654"/>
                  <a:pt x="164393" y="92739"/>
                </a:cubicBezTo>
                <a:lnTo>
                  <a:pt x="142348" y="114784"/>
                </a:lnTo>
                <a:cubicBezTo>
                  <a:pt x="133263" y="123868"/>
                  <a:pt x="120923" y="128984"/>
                  <a:pt x="108055" y="128984"/>
                </a:cubicBezTo>
                <a:cubicBezTo>
                  <a:pt x="81266" y="128984"/>
                  <a:pt x="59531" y="107280"/>
                  <a:pt x="59531" y="80460"/>
                </a:cubicBezTo>
                <a:cubicBezTo>
                  <a:pt x="59531" y="79995"/>
                  <a:pt x="59531" y="79530"/>
                  <a:pt x="59562" y="79065"/>
                </a:cubicBezTo>
                <a:cubicBezTo>
                  <a:pt x="59717" y="73577"/>
                  <a:pt x="64275" y="69267"/>
                  <a:pt x="69763" y="69422"/>
                </a:cubicBezTo>
                <a:cubicBezTo>
                  <a:pt x="75251" y="69577"/>
                  <a:pt x="79561" y="74135"/>
                  <a:pt x="79406" y="79623"/>
                </a:cubicBezTo>
                <a:cubicBezTo>
                  <a:pt x="79406" y="79902"/>
                  <a:pt x="79406" y="80181"/>
                  <a:pt x="79406" y="80429"/>
                </a:cubicBezTo>
                <a:cubicBezTo>
                  <a:pt x="79406" y="96273"/>
                  <a:pt x="92242" y="109110"/>
                  <a:pt x="108086" y="109110"/>
                </a:cubicBezTo>
                <a:cubicBezTo>
                  <a:pt x="115683" y="109110"/>
                  <a:pt x="122969" y="106102"/>
                  <a:pt x="128364" y="100707"/>
                </a:cubicBezTo>
                <a:lnTo>
                  <a:pt x="150409" y="78662"/>
                </a:lnTo>
                <a:cubicBezTo>
                  <a:pt x="155773" y="73298"/>
                  <a:pt x="158812" y="65980"/>
                  <a:pt x="158812" y="58384"/>
                </a:cubicBezTo>
                <a:cubicBezTo>
                  <a:pt x="158812" y="42540"/>
                  <a:pt x="145976" y="29704"/>
                  <a:pt x="130132" y="29704"/>
                </a:cubicBezTo>
                <a:close/>
                <a:moveTo>
                  <a:pt x="85328" y="53733"/>
                </a:moveTo>
                <a:cubicBezTo>
                  <a:pt x="84739" y="53485"/>
                  <a:pt x="84150" y="53144"/>
                  <a:pt x="83623" y="52772"/>
                </a:cubicBezTo>
                <a:cubicBezTo>
                  <a:pt x="79716" y="50757"/>
                  <a:pt x="75251" y="49609"/>
                  <a:pt x="70569" y="49609"/>
                </a:cubicBezTo>
                <a:cubicBezTo>
                  <a:pt x="62973" y="49609"/>
                  <a:pt x="55687" y="52617"/>
                  <a:pt x="50292" y="58012"/>
                </a:cubicBezTo>
                <a:lnTo>
                  <a:pt x="28246" y="80057"/>
                </a:lnTo>
                <a:cubicBezTo>
                  <a:pt x="22882" y="85421"/>
                  <a:pt x="19844" y="92739"/>
                  <a:pt x="19844" y="100335"/>
                </a:cubicBezTo>
                <a:cubicBezTo>
                  <a:pt x="19844" y="116179"/>
                  <a:pt x="32680" y="129015"/>
                  <a:pt x="48524" y="129015"/>
                </a:cubicBezTo>
                <a:cubicBezTo>
                  <a:pt x="53640" y="129015"/>
                  <a:pt x="58632" y="127651"/>
                  <a:pt x="63004" y="125109"/>
                </a:cubicBezTo>
                <a:cubicBezTo>
                  <a:pt x="67903" y="130070"/>
                  <a:pt x="73608" y="134224"/>
                  <a:pt x="79933" y="137356"/>
                </a:cubicBezTo>
                <a:cubicBezTo>
                  <a:pt x="71189" y="144766"/>
                  <a:pt x="60089" y="148890"/>
                  <a:pt x="48524" y="148890"/>
                </a:cubicBezTo>
                <a:cubicBezTo>
                  <a:pt x="21735" y="148890"/>
                  <a:pt x="0" y="127186"/>
                  <a:pt x="0" y="100366"/>
                </a:cubicBezTo>
                <a:cubicBezTo>
                  <a:pt x="0" y="87499"/>
                  <a:pt x="5116" y="75158"/>
                  <a:pt x="14201" y="66073"/>
                </a:cubicBezTo>
                <a:lnTo>
                  <a:pt x="36246" y="44028"/>
                </a:lnTo>
                <a:cubicBezTo>
                  <a:pt x="45331" y="34944"/>
                  <a:pt x="57671" y="29828"/>
                  <a:pt x="70538" y="29828"/>
                </a:cubicBezTo>
                <a:cubicBezTo>
                  <a:pt x="97389" y="29828"/>
                  <a:pt x="119062" y="51718"/>
                  <a:pt x="119062" y="78476"/>
                </a:cubicBezTo>
                <a:cubicBezTo>
                  <a:pt x="119062" y="78879"/>
                  <a:pt x="119062" y="79282"/>
                  <a:pt x="119062" y="79685"/>
                </a:cubicBezTo>
                <a:cubicBezTo>
                  <a:pt x="118938" y="85173"/>
                  <a:pt x="114381" y="89483"/>
                  <a:pt x="108893" y="89359"/>
                </a:cubicBezTo>
                <a:cubicBezTo>
                  <a:pt x="103405" y="89235"/>
                  <a:pt x="99095" y="84677"/>
                  <a:pt x="99219" y="79189"/>
                </a:cubicBezTo>
                <a:cubicBezTo>
                  <a:pt x="99219" y="78941"/>
                  <a:pt x="99219" y="78724"/>
                  <a:pt x="99219" y="78476"/>
                </a:cubicBezTo>
                <a:cubicBezTo>
                  <a:pt x="99219" y="68027"/>
                  <a:pt x="93638" y="58849"/>
                  <a:pt x="85328" y="53795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0" name="Text 38"/>
          <p:cNvSpPr/>
          <p:nvPr/>
        </p:nvSpPr>
        <p:spPr>
          <a:xfrm>
            <a:off x="6580188" y="1301750"/>
            <a:ext cx="211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Catégorie 3 : Jointures (R3.1-R3.4)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86500" y="1619250"/>
            <a:ext cx="5461000" cy="984250"/>
          </a:xfrm>
          <a:custGeom>
            <a:avLst/>
            <a:gdLst/>
            <a:ahLst/>
            <a:cxnLst/>
            <a:rect l="l" t="t" r="r" b="b"/>
            <a:pathLst>
              <a:path w="5461000" h="984250">
                <a:moveTo>
                  <a:pt x="31752" y="0"/>
                </a:moveTo>
                <a:lnTo>
                  <a:pt x="5429248" y="0"/>
                </a:lnTo>
                <a:cubicBezTo>
                  <a:pt x="5446784" y="0"/>
                  <a:pt x="5461000" y="14216"/>
                  <a:pt x="5461000" y="31752"/>
                </a:cubicBezTo>
                <a:lnTo>
                  <a:pt x="5461000" y="952498"/>
                </a:lnTo>
                <a:cubicBezTo>
                  <a:pt x="5461000" y="970034"/>
                  <a:pt x="5446784" y="984250"/>
                  <a:pt x="5429248" y="984250"/>
                </a:cubicBezTo>
                <a:lnTo>
                  <a:pt x="31752" y="984250"/>
                </a:lnTo>
                <a:cubicBezTo>
                  <a:pt x="14216" y="984250"/>
                  <a:pt x="0" y="970034"/>
                  <a:pt x="0" y="952498"/>
                </a:cubicBezTo>
                <a:lnTo>
                  <a:pt x="0" y="31752"/>
                </a:lnTo>
                <a:cubicBezTo>
                  <a:pt x="0" y="14228"/>
                  <a:pt x="14228" y="0"/>
                  <a:pt x="3175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2" name="Text 40"/>
          <p:cNvSpPr/>
          <p:nvPr/>
        </p:nvSpPr>
        <p:spPr>
          <a:xfrm>
            <a:off x="6381750" y="17145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R3.1 : Jointure interne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1750" y="18732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I.NOM_ING, F.RAISON_SOC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81750" y="203200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INGREDIENT 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1750" y="21907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JOIN FOURNISSEUR F ON I.CODE_FOUR = F.CODE_FOUR;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81750" y="2381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Ingrédients avec leurs fournisseurs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86500" y="2667000"/>
            <a:ext cx="5461000" cy="1143000"/>
          </a:xfrm>
          <a:custGeom>
            <a:avLst/>
            <a:gdLst/>
            <a:ahLst/>
            <a:cxnLst/>
            <a:rect l="l" t="t" r="r" b="b"/>
            <a:pathLst>
              <a:path w="5461000" h="1143000">
                <a:moveTo>
                  <a:pt x="31753" y="0"/>
                </a:moveTo>
                <a:lnTo>
                  <a:pt x="5429247" y="0"/>
                </a:lnTo>
                <a:cubicBezTo>
                  <a:pt x="5446784" y="0"/>
                  <a:pt x="5461000" y="14216"/>
                  <a:pt x="5461000" y="31753"/>
                </a:cubicBezTo>
                <a:lnTo>
                  <a:pt x="5461000" y="1111247"/>
                </a:lnTo>
                <a:cubicBezTo>
                  <a:pt x="5461000" y="1128784"/>
                  <a:pt x="5446784" y="1143000"/>
                  <a:pt x="5429247" y="1143000"/>
                </a:cubicBezTo>
                <a:lnTo>
                  <a:pt x="31753" y="1143000"/>
                </a:lnTo>
                <a:cubicBezTo>
                  <a:pt x="14216" y="1143000"/>
                  <a:pt x="0" y="1128784"/>
                  <a:pt x="0" y="1111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8" name="Text 46"/>
          <p:cNvSpPr/>
          <p:nvPr/>
        </p:nvSpPr>
        <p:spPr>
          <a:xfrm>
            <a:off x="6381750" y="2762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R3.3 : Jointure multiple (3 tables)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81750" y="292100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R.NOM_REC, I.NOM_ING, C.QUANTITE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81750" y="30797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RECETTE 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1750" y="323850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JOIN COMPOSE C ON R.CODE_REC = C.CODE_REC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1750" y="33972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JOIN INGREDIENT I ON C.CODE_ING = I.CODE_ING;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1750" y="35877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Composition détaillée des recettes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86500" y="3873500"/>
            <a:ext cx="5461000" cy="1143000"/>
          </a:xfrm>
          <a:custGeom>
            <a:avLst/>
            <a:gdLst/>
            <a:ahLst/>
            <a:cxnLst/>
            <a:rect l="l" t="t" r="r" b="b"/>
            <a:pathLst>
              <a:path w="5461000" h="1143000">
                <a:moveTo>
                  <a:pt x="31753" y="0"/>
                </a:moveTo>
                <a:lnTo>
                  <a:pt x="5429247" y="0"/>
                </a:lnTo>
                <a:cubicBezTo>
                  <a:pt x="5446784" y="0"/>
                  <a:pt x="5461000" y="14216"/>
                  <a:pt x="5461000" y="31753"/>
                </a:cubicBezTo>
                <a:lnTo>
                  <a:pt x="5461000" y="1111247"/>
                </a:lnTo>
                <a:cubicBezTo>
                  <a:pt x="5461000" y="1128784"/>
                  <a:pt x="5446784" y="1143000"/>
                  <a:pt x="5429247" y="1143000"/>
                </a:cubicBezTo>
                <a:lnTo>
                  <a:pt x="31753" y="1143000"/>
                </a:lnTo>
                <a:cubicBezTo>
                  <a:pt x="14216" y="1143000"/>
                  <a:pt x="0" y="1128784"/>
                  <a:pt x="0" y="11112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55" name="Text 53"/>
          <p:cNvSpPr/>
          <p:nvPr/>
        </p:nvSpPr>
        <p:spPr>
          <a:xfrm>
            <a:off x="6381750" y="39687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R3.4 : Jointure externe gauche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81750" y="412750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F.RAISON_SOC, COUNT(I.CODE_ING) AS NbIngredients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81750" y="42862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FOURNISSEUR F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81750" y="444500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LEFT JOIN INGREDIENT I ON F.CODE_FOUR = I.CODE_FOUR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81750" y="46037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GROUP BY F.CODE_FOUR, F.RAISON_SOC;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81750" y="4794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Fournisseurs même sans produits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59500" y="5286375"/>
            <a:ext cx="5715000" cy="2143125"/>
          </a:xfrm>
          <a:custGeom>
            <a:avLst/>
            <a:gdLst/>
            <a:ahLst/>
            <a:cxnLst/>
            <a:rect l="l" t="t" r="r" b="b"/>
            <a:pathLst>
              <a:path w="5715000" h="2143125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2079624"/>
                </a:lnTo>
                <a:cubicBezTo>
                  <a:pt x="5715000" y="2114695"/>
                  <a:pt x="5686570" y="2143125"/>
                  <a:pt x="5651499" y="2143125"/>
                </a:cubicBezTo>
                <a:lnTo>
                  <a:pt x="63501" y="2143125"/>
                </a:lnTo>
                <a:cubicBezTo>
                  <a:pt x="28430" y="2143125"/>
                  <a:pt x="0" y="2114695"/>
                  <a:pt x="0" y="207962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59500" y="52863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63" name="Shape 61"/>
          <p:cNvSpPr/>
          <p:nvPr/>
        </p:nvSpPr>
        <p:spPr>
          <a:xfrm>
            <a:off x="6306344" y="5461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64" name="Text 62"/>
          <p:cNvSpPr/>
          <p:nvPr/>
        </p:nvSpPr>
        <p:spPr>
          <a:xfrm>
            <a:off x="6580188" y="5429250"/>
            <a:ext cx="227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Catégorie 4 : Agrégations (R4.1-R4.6)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86500" y="5746750"/>
            <a:ext cx="5461000" cy="666750"/>
          </a:xfrm>
          <a:custGeom>
            <a:avLst/>
            <a:gdLst/>
            <a:ahLst/>
            <a:cxnLst/>
            <a:rect l="l" t="t" r="r" b="b"/>
            <a:pathLst>
              <a:path w="5461000" h="666750">
                <a:moveTo>
                  <a:pt x="31751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634999"/>
                </a:lnTo>
                <a:cubicBezTo>
                  <a:pt x="5461000" y="652535"/>
                  <a:pt x="5446785" y="666750"/>
                  <a:pt x="5429249" y="666750"/>
                </a:cubicBezTo>
                <a:lnTo>
                  <a:pt x="31751" y="666750"/>
                </a:lnTo>
                <a:cubicBezTo>
                  <a:pt x="14215" y="666750"/>
                  <a:pt x="0" y="652535"/>
                  <a:pt x="0" y="6349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66" name="Text 64"/>
          <p:cNvSpPr/>
          <p:nvPr/>
        </p:nvSpPr>
        <p:spPr>
          <a:xfrm>
            <a:off x="6381750" y="584200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R4.2 : Valorisation totale du stock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81750" y="6000750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SUM(QTE_STOCK * PRIX_UNIT) AS ValeurTotale FROM INGREDIENT;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381750" y="6191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Valeur totale du stock en FCFA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286500" y="6477000"/>
            <a:ext cx="5461000" cy="825500"/>
          </a:xfrm>
          <a:custGeom>
            <a:avLst/>
            <a:gdLst/>
            <a:ahLst/>
            <a:cxnLst/>
            <a:rect l="l" t="t" r="r" b="b"/>
            <a:pathLst>
              <a:path w="5461000" h="825500">
                <a:moveTo>
                  <a:pt x="31749" y="0"/>
                </a:moveTo>
                <a:lnTo>
                  <a:pt x="5429251" y="0"/>
                </a:lnTo>
                <a:cubicBezTo>
                  <a:pt x="5446786" y="0"/>
                  <a:pt x="5461000" y="14214"/>
                  <a:pt x="5461000" y="31749"/>
                </a:cubicBezTo>
                <a:lnTo>
                  <a:pt x="5461000" y="793751"/>
                </a:lnTo>
                <a:cubicBezTo>
                  <a:pt x="5461000" y="811286"/>
                  <a:pt x="5446786" y="825500"/>
                  <a:pt x="5429251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70" name="Text 68"/>
          <p:cNvSpPr/>
          <p:nvPr/>
        </p:nvSpPr>
        <p:spPr>
          <a:xfrm>
            <a:off x="6381750" y="6572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R4.6 : Statistiques complètes par catégorie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381750" y="6731000"/>
            <a:ext cx="5326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CAT_ING, COUNT(*) AS Nb, AVG(PRIX_UNIT) AS PrixMoy, MIN(PRIX_UNIT) AS PrixMin, MAX(PRIX_UNIT) AS PrixMax FROM INGREDIENT GROUP BY CAT_ING;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381750" y="7080250"/>
            <a:ext cx="531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: Tableau de bord complet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954" y="318954"/>
            <a:ext cx="11617884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kern="0" spc="5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REQUÊTES AVANCÉES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954" y="574116"/>
            <a:ext cx="11697622" cy="31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Requêtes Avancées et Analyses Métier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8954" y="988756"/>
            <a:ext cx="765489" cy="31895"/>
          </a:xfrm>
          <a:custGeom>
            <a:avLst/>
            <a:gdLst/>
            <a:ahLst/>
            <a:cxnLst/>
            <a:rect l="l" t="t" r="r" b="b"/>
            <a:pathLst>
              <a:path w="765489" h="31895">
                <a:moveTo>
                  <a:pt x="0" y="0"/>
                </a:moveTo>
                <a:lnTo>
                  <a:pt x="765489" y="0"/>
                </a:lnTo>
                <a:lnTo>
                  <a:pt x="765489" y="31895"/>
                </a:lnTo>
                <a:lnTo>
                  <a:pt x="0" y="31895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18954" y="1164181"/>
            <a:ext cx="5709269" cy="1929669"/>
          </a:xfrm>
          <a:custGeom>
            <a:avLst/>
            <a:gdLst/>
            <a:ahLst/>
            <a:cxnLst/>
            <a:rect l="l" t="t" r="r" b="b"/>
            <a:pathLst>
              <a:path w="5709269" h="1929669">
                <a:moveTo>
                  <a:pt x="31895" y="0"/>
                </a:moveTo>
                <a:lnTo>
                  <a:pt x="5677373" y="0"/>
                </a:lnTo>
                <a:cubicBezTo>
                  <a:pt x="5694989" y="0"/>
                  <a:pt x="5709269" y="14280"/>
                  <a:pt x="5709269" y="31895"/>
                </a:cubicBezTo>
                <a:lnTo>
                  <a:pt x="5709269" y="1865874"/>
                </a:lnTo>
                <a:cubicBezTo>
                  <a:pt x="5709269" y="1901107"/>
                  <a:pt x="5680707" y="1929669"/>
                  <a:pt x="5645474" y="1929669"/>
                </a:cubicBezTo>
                <a:lnTo>
                  <a:pt x="63795" y="1929669"/>
                </a:lnTo>
                <a:cubicBezTo>
                  <a:pt x="28562" y="1929669"/>
                  <a:pt x="0" y="1901107"/>
                  <a:pt x="0" y="1865874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8954" y="1164181"/>
            <a:ext cx="5709269" cy="31895"/>
          </a:xfrm>
          <a:custGeom>
            <a:avLst/>
            <a:gdLst/>
            <a:ahLst/>
            <a:cxnLst/>
            <a:rect l="l" t="t" r="r" b="b"/>
            <a:pathLst>
              <a:path w="5709269" h="31895">
                <a:moveTo>
                  <a:pt x="31895" y="0"/>
                </a:moveTo>
                <a:lnTo>
                  <a:pt x="5677373" y="0"/>
                </a:lnTo>
                <a:cubicBezTo>
                  <a:pt x="5694989" y="0"/>
                  <a:pt x="5709269" y="14280"/>
                  <a:pt x="5709269" y="31895"/>
                </a:cubicBezTo>
                <a:lnTo>
                  <a:pt x="5709269" y="31895"/>
                </a:lnTo>
                <a:lnTo>
                  <a:pt x="0" y="31895"/>
                </a:ln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466470" y="1323657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146893" y="6759"/>
                </a:moveTo>
                <a:cubicBezTo>
                  <a:pt x="140072" y="-62"/>
                  <a:pt x="129045" y="-62"/>
                  <a:pt x="122224" y="6759"/>
                </a:cubicBezTo>
                <a:lnTo>
                  <a:pt x="114624" y="14359"/>
                </a:lnTo>
                <a:lnTo>
                  <a:pt x="145118" y="44853"/>
                </a:lnTo>
                <a:lnTo>
                  <a:pt x="152718" y="37253"/>
                </a:lnTo>
                <a:cubicBezTo>
                  <a:pt x="159539" y="30431"/>
                  <a:pt x="159539" y="19405"/>
                  <a:pt x="152718" y="12584"/>
                </a:cubicBezTo>
                <a:lnTo>
                  <a:pt x="146893" y="6759"/>
                </a:lnTo>
                <a:close/>
                <a:moveTo>
                  <a:pt x="53699" y="75284"/>
                </a:moveTo>
                <a:cubicBezTo>
                  <a:pt x="51799" y="77184"/>
                  <a:pt x="50335" y="79520"/>
                  <a:pt x="49494" y="82106"/>
                </a:cubicBezTo>
                <a:lnTo>
                  <a:pt x="40274" y="109765"/>
                </a:lnTo>
                <a:cubicBezTo>
                  <a:pt x="39371" y="112444"/>
                  <a:pt x="40087" y="115403"/>
                  <a:pt x="42081" y="117427"/>
                </a:cubicBezTo>
                <a:cubicBezTo>
                  <a:pt x="44074" y="119452"/>
                  <a:pt x="47033" y="120137"/>
                  <a:pt x="49743" y="119234"/>
                </a:cubicBezTo>
                <a:lnTo>
                  <a:pt x="77402" y="110014"/>
                </a:lnTo>
                <a:cubicBezTo>
                  <a:pt x="79956" y="109173"/>
                  <a:pt x="82293" y="107709"/>
                  <a:pt x="84224" y="105809"/>
                </a:cubicBezTo>
                <a:lnTo>
                  <a:pt x="134559" y="55412"/>
                </a:lnTo>
                <a:lnTo>
                  <a:pt x="104065" y="24918"/>
                </a:lnTo>
                <a:lnTo>
                  <a:pt x="53699" y="75284"/>
                </a:lnTo>
                <a:close/>
                <a:moveTo>
                  <a:pt x="29902" y="19935"/>
                </a:moveTo>
                <a:cubicBezTo>
                  <a:pt x="13394" y="19935"/>
                  <a:pt x="0" y="33328"/>
                  <a:pt x="0" y="49836"/>
                </a:cubicBezTo>
                <a:lnTo>
                  <a:pt x="0" y="129575"/>
                </a:lnTo>
                <a:cubicBezTo>
                  <a:pt x="0" y="146083"/>
                  <a:pt x="13394" y="159477"/>
                  <a:pt x="29902" y="159477"/>
                </a:cubicBezTo>
                <a:lnTo>
                  <a:pt x="109640" y="159477"/>
                </a:lnTo>
                <a:cubicBezTo>
                  <a:pt x="126149" y="159477"/>
                  <a:pt x="139542" y="146083"/>
                  <a:pt x="139542" y="129575"/>
                </a:cubicBezTo>
                <a:lnTo>
                  <a:pt x="139542" y="99673"/>
                </a:lnTo>
                <a:cubicBezTo>
                  <a:pt x="139542" y="94160"/>
                  <a:pt x="135088" y="89706"/>
                  <a:pt x="129575" y="89706"/>
                </a:cubicBezTo>
                <a:cubicBezTo>
                  <a:pt x="124062" y="89706"/>
                  <a:pt x="119608" y="94160"/>
                  <a:pt x="119608" y="99673"/>
                </a:cubicBezTo>
                <a:lnTo>
                  <a:pt x="119608" y="129575"/>
                </a:lnTo>
                <a:cubicBezTo>
                  <a:pt x="119608" y="135088"/>
                  <a:pt x="115153" y="139542"/>
                  <a:pt x="109640" y="139542"/>
                </a:cubicBezTo>
                <a:lnTo>
                  <a:pt x="29902" y="139542"/>
                </a:lnTo>
                <a:cubicBezTo>
                  <a:pt x="24389" y="139542"/>
                  <a:pt x="19935" y="135088"/>
                  <a:pt x="19935" y="129575"/>
                </a:cubicBezTo>
                <a:lnTo>
                  <a:pt x="19935" y="49836"/>
                </a:lnTo>
                <a:cubicBezTo>
                  <a:pt x="19935" y="44323"/>
                  <a:pt x="24389" y="39869"/>
                  <a:pt x="29902" y="39869"/>
                </a:cubicBezTo>
                <a:lnTo>
                  <a:pt x="59804" y="39869"/>
                </a:lnTo>
                <a:cubicBezTo>
                  <a:pt x="65317" y="39869"/>
                  <a:pt x="69771" y="35415"/>
                  <a:pt x="69771" y="29902"/>
                </a:cubicBezTo>
                <a:cubicBezTo>
                  <a:pt x="69771" y="24389"/>
                  <a:pt x="65317" y="19935"/>
                  <a:pt x="59804" y="19935"/>
                </a:cubicBezTo>
                <a:lnTo>
                  <a:pt x="29902" y="19935"/>
                </a:ln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741567" y="1307710"/>
            <a:ext cx="3149666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Catégories 5-7 : Modifications (UPDATE, DELETE, INSERT)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6535" y="1594768"/>
            <a:ext cx="5454106" cy="414640"/>
          </a:xfrm>
          <a:custGeom>
            <a:avLst/>
            <a:gdLst/>
            <a:ahLst/>
            <a:cxnLst/>
            <a:rect l="l" t="t" r="r" b="b"/>
            <a:pathLst>
              <a:path w="5454106" h="414640">
                <a:moveTo>
                  <a:pt x="31894" y="0"/>
                </a:moveTo>
                <a:lnTo>
                  <a:pt x="5422212" y="0"/>
                </a:lnTo>
                <a:cubicBezTo>
                  <a:pt x="5439826" y="0"/>
                  <a:pt x="5454106" y="14279"/>
                  <a:pt x="5454106" y="31894"/>
                </a:cubicBezTo>
                <a:lnTo>
                  <a:pt x="5454106" y="382746"/>
                </a:lnTo>
                <a:cubicBezTo>
                  <a:pt x="5454106" y="400360"/>
                  <a:pt x="5439826" y="414640"/>
                  <a:pt x="5422212" y="414640"/>
                </a:cubicBezTo>
                <a:lnTo>
                  <a:pt x="31894" y="414640"/>
                </a:lnTo>
                <a:cubicBezTo>
                  <a:pt x="14279" y="414640"/>
                  <a:pt x="0" y="400360"/>
                  <a:pt x="0" y="382746"/>
                </a:cubicBezTo>
                <a:lnTo>
                  <a:pt x="0" y="31894"/>
                </a:lnTo>
                <a:cubicBezTo>
                  <a:pt x="0" y="14291"/>
                  <a:pt x="14291" y="0"/>
                  <a:pt x="318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0" name="Text 8"/>
          <p:cNvSpPr/>
          <p:nvPr/>
        </p:nvSpPr>
        <p:spPr>
          <a:xfrm>
            <a:off x="510326" y="1658559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R5.2 : Mise à jour calculée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0326" y="1818035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UPDATE INGREDIENT SET PRIX_UNIT = PRIX_UNIT * 1.10 WHERE CAT_ING = 'Viandes';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6535" y="2073198"/>
            <a:ext cx="5454106" cy="414640"/>
          </a:xfrm>
          <a:custGeom>
            <a:avLst/>
            <a:gdLst/>
            <a:ahLst/>
            <a:cxnLst/>
            <a:rect l="l" t="t" r="r" b="b"/>
            <a:pathLst>
              <a:path w="5454106" h="414640">
                <a:moveTo>
                  <a:pt x="31894" y="0"/>
                </a:moveTo>
                <a:lnTo>
                  <a:pt x="5422212" y="0"/>
                </a:lnTo>
                <a:cubicBezTo>
                  <a:pt x="5439826" y="0"/>
                  <a:pt x="5454106" y="14279"/>
                  <a:pt x="5454106" y="31894"/>
                </a:cubicBezTo>
                <a:lnTo>
                  <a:pt x="5454106" y="382746"/>
                </a:lnTo>
                <a:cubicBezTo>
                  <a:pt x="5454106" y="400360"/>
                  <a:pt x="5439826" y="414640"/>
                  <a:pt x="5422212" y="414640"/>
                </a:cubicBezTo>
                <a:lnTo>
                  <a:pt x="31894" y="414640"/>
                </a:lnTo>
                <a:cubicBezTo>
                  <a:pt x="14279" y="414640"/>
                  <a:pt x="0" y="400360"/>
                  <a:pt x="0" y="382746"/>
                </a:cubicBezTo>
                <a:lnTo>
                  <a:pt x="0" y="31894"/>
                </a:lnTo>
                <a:cubicBezTo>
                  <a:pt x="0" y="14291"/>
                  <a:pt x="14291" y="0"/>
                  <a:pt x="318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3" name="Text 11"/>
          <p:cNvSpPr/>
          <p:nvPr/>
        </p:nvSpPr>
        <p:spPr>
          <a:xfrm>
            <a:off x="510326" y="2136989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R6.3 : Suppression avec sous-requête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0326" y="2296466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DELETE FROM INGREDIENT WHERE CODE_FOUR IN (SELECT CODE_FOUR FROM FOURNISSEUR WHERE SPECIALITE = 'Chocolat');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6535" y="2551629"/>
            <a:ext cx="5454106" cy="414640"/>
          </a:xfrm>
          <a:custGeom>
            <a:avLst/>
            <a:gdLst/>
            <a:ahLst/>
            <a:cxnLst/>
            <a:rect l="l" t="t" r="r" b="b"/>
            <a:pathLst>
              <a:path w="5454106" h="414640">
                <a:moveTo>
                  <a:pt x="31894" y="0"/>
                </a:moveTo>
                <a:lnTo>
                  <a:pt x="5422212" y="0"/>
                </a:lnTo>
                <a:cubicBezTo>
                  <a:pt x="5439826" y="0"/>
                  <a:pt x="5454106" y="14279"/>
                  <a:pt x="5454106" y="31894"/>
                </a:cubicBezTo>
                <a:lnTo>
                  <a:pt x="5454106" y="382746"/>
                </a:lnTo>
                <a:cubicBezTo>
                  <a:pt x="5454106" y="400360"/>
                  <a:pt x="5439826" y="414640"/>
                  <a:pt x="5422212" y="414640"/>
                </a:cubicBezTo>
                <a:lnTo>
                  <a:pt x="31894" y="414640"/>
                </a:lnTo>
                <a:cubicBezTo>
                  <a:pt x="14279" y="414640"/>
                  <a:pt x="0" y="400360"/>
                  <a:pt x="0" y="382746"/>
                </a:cubicBezTo>
                <a:lnTo>
                  <a:pt x="0" y="31894"/>
                </a:lnTo>
                <a:cubicBezTo>
                  <a:pt x="0" y="14291"/>
                  <a:pt x="14291" y="0"/>
                  <a:pt x="318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6" name="Text 14"/>
          <p:cNvSpPr/>
          <p:nvPr/>
        </p:nvSpPr>
        <p:spPr>
          <a:xfrm>
            <a:off x="510326" y="2615419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R7.3 : Insertion multiple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0326" y="2774896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INSERT INTO INGREDIENT (CODE_ING, NOM_ING, CAT_ING) VALUES (42, 'Ingrédient A', 'Fruits'), (43, 'Ingrédient B', 'Viandes');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8954" y="3237379"/>
            <a:ext cx="5709269" cy="1770192"/>
          </a:xfrm>
          <a:custGeom>
            <a:avLst/>
            <a:gdLst/>
            <a:ahLst/>
            <a:cxnLst/>
            <a:rect l="l" t="t" r="r" b="b"/>
            <a:pathLst>
              <a:path w="5709269" h="1770192">
                <a:moveTo>
                  <a:pt x="31895" y="0"/>
                </a:moveTo>
                <a:lnTo>
                  <a:pt x="5677373" y="0"/>
                </a:lnTo>
                <a:cubicBezTo>
                  <a:pt x="5694989" y="0"/>
                  <a:pt x="5709269" y="14280"/>
                  <a:pt x="5709269" y="31895"/>
                </a:cubicBezTo>
                <a:lnTo>
                  <a:pt x="5709269" y="1706395"/>
                </a:lnTo>
                <a:cubicBezTo>
                  <a:pt x="5709269" y="1741629"/>
                  <a:pt x="5680706" y="1770192"/>
                  <a:pt x="5645471" y="1770192"/>
                </a:cubicBezTo>
                <a:lnTo>
                  <a:pt x="63798" y="1770192"/>
                </a:lnTo>
                <a:cubicBezTo>
                  <a:pt x="28563" y="1770192"/>
                  <a:pt x="0" y="1741629"/>
                  <a:pt x="0" y="1706395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954" y="3237379"/>
            <a:ext cx="5709269" cy="31895"/>
          </a:xfrm>
          <a:custGeom>
            <a:avLst/>
            <a:gdLst/>
            <a:ahLst/>
            <a:cxnLst/>
            <a:rect l="l" t="t" r="r" b="b"/>
            <a:pathLst>
              <a:path w="5709269" h="31895">
                <a:moveTo>
                  <a:pt x="31895" y="0"/>
                </a:moveTo>
                <a:lnTo>
                  <a:pt x="5677373" y="0"/>
                </a:lnTo>
                <a:cubicBezTo>
                  <a:pt x="5694989" y="0"/>
                  <a:pt x="5709269" y="14280"/>
                  <a:pt x="5709269" y="31895"/>
                </a:cubicBezTo>
                <a:lnTo>
                  <a:pt x="5709269" y="31895"/>
                </a:lnTo>
                <a:lnTo>
                  <a:pt x="0" y="31895"/>
                </a:ln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0" name="Shape 18"/>
          <p:cNvSpPr/>
          <p:nvPr/>
        </p:nvSpPr>
        <p:spPr>
          <a:xfrm>
            <a:off x="476437" y="3396855"/>
            <a:ext cx="139542" cy="159477"/>
          </a:xfrm>
          <a:custGeom>
            <a:avLst/>
            <a:gdLst/>
            <a:ahLst/>
            <a:cxnLst/>
            <a:rect l="l" t="t" r="r" b="b"/>
            <a:pathLst>
              <a:path w="139542" h="159477">
                <a:moveTo>
                  <a:pt x="24918" y="32394"/>
                </a:moveTo>
                <a:cubicBezTo>
                  <a:pt x="29044" y="32394"/>
                  <a:pt x="32394" y="29044"/>
                  <a:pt x="32394" y="24918"/>
                </a:cubicBezTo>
                <a:cubicBezTo>
                  <a:pt x="32394" y="20792"/>
                  <a:pt x="29044" y="17443"/>
                  <a:pt x="24918" y="17443"/>
                </a:cubicBezTo>
                <a:cubicBezTo>
                  <a:pt x="20792" y="17443"/>
                  <a:pt x="17443" y="20792"/>
                  <a:pt x="17443" y="24918"/>
                </a:cubicBezTo>
                <a:cubicBezTo>
                  <a:pt x="17443" y="29044"/>
                  <a:pt x="20792" y="32394"/>
                  <a:pt x="24918" y="32394"/>
                </a:cubicBezTo>
                <a:close/>
                <a:moveTo>
                  <a:pt x="49836" y="24918"/>
                </a:moveTo>
                <a:cubicBezTo>
                  <a:pt x="49836" y="35135"/>
                  <a:pt x="43700" y="43918"/>
                  <a:pt x="34886" y="47750"/>
                </a:cubicBezTo>
                <a:lnTo>
                  <a:pt x="34886" y="69771"/>
                </a:lnTo>
                <a:lnTo>
                  <a:pt x="89706" y="69771"/>
                </a:lnTo>
                <a:cubicBezTo>
                  <a:pt x="97960" y="69771"/>
                  <a:pt x="104657" y="63074"/>
                  <a:pt x="104657" y="54820"/>
                </a:cubicBezTo>
                <a:lnTo>
                  <a:pt x="104657" y="47750"/>
                </a:lnTo>
                <a:cubicBezTo>
                  <a:pt x="95842" y="43918"/>
                  <a:pt x="89706" y="35135"/>
                  <a:pt x="89706" y="24918"/>
                </a:cubicBezTo>
                <a:cubicBezTo>
                  <a:pt x="89706" y="11151"/>
                  <a:pt x="100857" y="0"/>
                  <a:pt x="114624" y="0"/>
                </a:cubicBezTo>
                <a:cubicBezTo>
                  <a:pt x="128391" y="0"/>
                  <a:pt x="139542" y="11151"/>
                  <a:pt x="139542" y="24918"/>
                </a:cubicBezTo>
                <a:cubicBezTo>
                  <a:pt x="139542" y="35135"/>
                  <a:pt x="133406" y="43918"/>
                  <a:pt x="124591" y="47750"/>
                </a:cubicBezTo>
                <a:lnTo>
                  <a:pt x="124591" y="54820"/>
                </a:lnTo>
                <a:cubicBezTo>
                  <a:pt x="124591" y="74101"/>
                  <a:pt x="108986" y="89706"/>
                  <a:pt x="89706" y="89706"/>
                </a:cubicBezTo>
                <a:lnTo>
                  <a:pt x="34886" y="89706"/>
                </a:lnTo>
                <a:lnTo>
                  <a:pt x="34886" y="111727"/>
                </a:lnTo>
                <a:cubicBezTo>
                  <a:pt x="43700" y="115558"/>
                  <a:pt x="49836" y="124342"/>
                  <a:pt x="49836" y="134559"/>
                </a:cubicBezTo>
                <a:cubicBezTo>
                  <a:pt x="49836" y="148326"/>
                  <a:pt x="38686" y="159477"/>
                  <a:pt x="24918" y="159477"/>
                </a:cubicBezTo>
                <a:cubicBezTo>
                  <a:pt x="11151" y="159477"/>
                  <a:pt x="0" y="148326"/>
                  <a:pt x="0" y="134559"/>
                </a:cubicBezTo>
                <a:cubicBezTo>
                  <a:pt x="0" y="124342"/>
                  <a:pt x="6136" y="115558"/>
                  <a:pt x="14951" y="111727"/>
                </a:cubicBezTo>
                <a:lnTo>
                  <a:pt x="14951" y="47781"/>
                </a:lnTo>
                <a:cubicBezTo>
                  <a:pt x="6136" y="43918"/>
                  <a:pt x="0" y="35135"/>
                  <a:pt x="0" y="24918"/>
                </a:cubicBezTo>
                <a:cubicBezTo>
                  <a:pt x="0" y="11151"/>
                  <a:pt x="11151" y="0"/>
                  <a:pt x="24918" y="0"/>
                </a:cubicBezTo>
                <a:cubicBezTo>
                  <a:pt x="38686" y="0"/>
                  <a:pt x="49836" y="11151"/>
                  <a:pt x="49836" y="24918"/>
                </a:cubicBezTo>
                <a:close/>
                <a:moveTo>
                  <a:pt x="122099" y="24918"/>
                </a:moveTo>
                <a:cubicBezTo>
                  <a:pt x="122099" y="20792"/>
                  <a:pt x="118750" y="17443"/>
                  <a:pt x="114624" y="17443"/>
                </a:cubicBezTo>
                <a:cubicBezTo>
                  <a:pt x="110498" y="17443"/>
                  <a:pt x="107148" y="20792"/>
                  <a:pt x="107148" y="24918"/>
                </a:cubicBezTo>
                <a:cubicBezTo>
                  <a:pt x="107148" y="29044"/>
                  <a:pt x="110498" y="32394"/>
                  <a:pt x="114624" y="32394"/>
                </a:cubicBezTo>
                <a:cubicBezTo>
                  <a:pt x="118750" y="32394"/>
                  <a:pt x="122099" y="29044"/>
                  <a:pt x="122099" y="24918"/>
                </a:cubicBezTo>
                <a:close/>
                <a:moveTo>
                  <a:pt x="24918" y="142034"/>
                </a:moveTo>
                <a:cubicBezTo>
                  <a:pt x="29044" y="142034"/>
                  <a:pt x="32394" y="138684"/>
                  <a:pt x="32394" y="134559"/>
                </a:cubicBezTo>
                <a:cubicBezTo>
                  <a:pt x="32394" y="130433"/>
                  <a:pt x="29044" y="127083"/>
                  <a:pt x="24918" y="127083"/>
                </a:cubicBezTo>
                <a:cubicBezTo>
                  <a:pt x="20792" y="127083"/>
                  <a:pt x="17443" y="130433"/>
                  <a:pt x="17443" y="134559"/>
                </a:cubicBezTo>
                <a:cubicBezTo>
                  <a:pt x="17443" y="138684"/>
                  <a:pt x="20792" y="142034"/>
                  <a:pt x="24918" y="142034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21" name="Text 19"/>
          <p:cNvSpPr/>
          <p:nvPr/>
        </p:nvSpPr>
        <p:spPr>
          <a:xfrm>
            <a:off x="741567" y="3380908"/>
            <a:ext cx="2152937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Catégorie 8 : Sous-requêtes (R8.1-R8.5)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6535" y="3667966"/>
            <a:ext cx="5454106" cy="574116"/>
          </a:xfrm>
          <a:custGeom>
            <a:avLst/>
            <a:gdLst/>
            <a:ahLst/>
            <a:cxnLst/>
            <a:rect l="l" t="t" r="r" b="b"/>
            <a:pathLst>
              <a:path w="5454106" h="574116">
                <a:moveTo>
                  <a:pt x="31898" y="0"/>
                </a:moveTo>
                <a:lnTo>
                  <a:pt x="5422208" y="0"/>
                </a:lnTo>
                <a:cubicBezTo>
                  <a:pt x="5439825" y="0"/>
                  <a:pt x="5454106" y="14281"/>
                  <a:pt x="5454106" y="31898"/>
                </a:cubicBezTo>
                <a:lnTo>
                  <a:pt x="5454106" y="542219"/>
                </a:lnTo>
                <a:cubicBezTo>
                  <a:pt x="5454106" y="559835"/>
                  <a:pt x="5439825" y="574116"/>
                  <a:pt x="5422208" y="574116"/>
                </a:cubicBezTo>
                <a:lnTo>
                  <a:pt x="31898" y="574116"/>
                </a:lnTo>
                <a:cubicBezTo>
                  <a:pt x="14281" y="574116"/>
                  <a:pt x="0" y="559835"/>
                  <a:pt x="0" y="542219"/>
                </a:cubicBezTo>
                <a:lnTo>
                  <a:pt x="0" y="31898"/>
                </a:lnTo>
                <a:cubicBezTo>
                  <a:pt x="0" y="14293"/>
                  <a:pt x="14293" y="0"/>
                  <a:pt x="3189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3" name="Text 21"/>
          <p:cNvSpPr/>
          <p:nvPr/>
        </p:nvSpPr>
        <p:spPr>
          <a:xfrm>
            <a:off x="510326" y="3731757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R8.2 : Sous-requête corrélée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0326" y="3891233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NOM_ING, PRIX_UNIT FROM INGREDIENT I WHERE PRIX_UNIT &gt; (SELECT AVG(PRIX_UNIT) FROM INGREDIENT WHERE CAT_ING = I.CAT_ING);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0326" y="4050710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Produits chers dans leur catégorie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6535" y="4305873"/>
            <a:ext cx="5454106" cy="574116"/>
          </a:xfrm>
          <a:custGeom>
            <a:avLst/>
            <a:gdLst/>
            <a:ahLst/>
            <a:cxnLst/>
            <a:rect l="l" t="t" r="r" b="b"/>
            <a:pathLst>
              <a:path w="5454106" h="574116">
                <a:moveTo>
                  <a:pt x="31898" y="0"/>
                </a:moveTo>
                <a:lnTo>
                  <a:pt x="5422208" y="0"/>
                </a:lnTo>
                <a:cubicBezTo>
                  <a:pt x="5439825" y="0"/>
                  <a:pt x="5454106" y="14281"/>
                  <a:pt x="5454106" y="31898"/>
                </a:cubicBezTo>
                <a:lnTo>
                  <a:pt x="5454106" y="542219"/>
                </a:lnTo>
                <a:cubicBezTo>
                  <a:pt x="5454106" y="559835"/>
                  <a:pt x="5439825" y="574116"/>
                  <a:pt x="5422208" y="574116"/>
                </a:cubicBezTo>
                <a:lnTo>
                  <a:pt x="31898" y="574116"/>
                </a:lnTo>
                <a:cubicBezTo>
                  <a:pt x="14281" y="574116"/>
                  <a:pt x="0" y="559835"/>
                  <a:pt x="0" y="542219"/>
                </a:cubicBezTo>
                <a:lnTo>
                  <a:pt x="0" y="31898"/>
                </a:lnTo>
                <a:cubicBezTo>
                  <a:pt x="0" y="14293"/>
                  <a:pt x="14293" y="0"/>
                  <a:pt x="3189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7" name="Text 25"/>
          <p:cNvSpPr/>
          <p:nvPr/>
        </p:nvSpPr>
        <p:spPr>
          <a:xfrm>
            <a:off x="510326" y="4369664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R8.5 : Opérateur NOT EXISTS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0326" y="4529141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* FROM INGREDIENT I WHERE NOT EXISTS (SELECT 1 FROM COMPOSE C WHERE C.CODE_ING = I.CODE_ING);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0326" y="4688617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Produits non utilisés en cuisine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18954" y="5151100"/>
            <a:ext cx="5709269" cy="1451239"/>
          </a:xfrm>
          <a:custGeom>
            <a:avLst/>
            <a:gdLst/>
            <a:ahLst/>
            <a:cxnLst/>
            <a:rect l="l" t="t" r="r" b="b"/>
            <a:pathLst>
              <a:path w="5709269" h="1451239">
                <a:moveTo>
                  <a:pt x="31895" y="0"/>
                </a:moveTo>
                <a:lnTo>
                  <a:pt x="5677373" y="0"/>
                </a:lnTo>
                <a:cubicBezTo>
                  <a:pt x="5694989" y="0"/>
                  <a:pt x="5709269" y="14280"/>
                  <a:pt x="5709269" y="31895"/>
                </a:cubicBezTo>
                <a:lnTo>
                  <a:pt x="5709269" y="1387442"/>
                </a:lnTo>
                <a:cubicBezTo>
                  <a:pt x="5709269" y="1422676"/>
                  <a:pt x="5680706" y="1451239"/>
                  <a:pt x="5645472" y="1451239"/>
                </a:cubicBezTo>
                <a:lnTo>
                  <a:pt x="63796" y="1451239"/>
                </a:lnTo>
                <a:cubicBezTo>
                  <a:pt x="28563" y="1451239"/>
                  <a:pt x="0" y="1422676"/>
                  <a:pt x="0" y="1387442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8954" y="5151100"/>
            <a:ext cx="5709269" cy="31895"/>
          </a:xfrm>
          <a:custGeom>
            <a:avLst/>
            <a:gdLst/>
            <a:ahLst/>
            <a:cxnLst/>
            <a:rect l="l" t="t" r="r" b="b"/>
            <a:pathLst>
              <a:path w="5709269" h="31895">
                <a:moveTo>
                  <a:pt x="31895" y="0"/>
                </a:moveTo>
                <a:lnTo>
                  <a:pt x="5677373" y="0"/>
                </a:lnTo>
                <a:cubicBezTo>
                  <a:pt x="5694989" y="0"/>
                  <a:pt x="5709269" y="14280"/>
                  <a:pt x="5709269" y="31895"/>
                </a:cubicBezTo>
                <a:lnTo>
                  <a:pt x="5709269" y="31895"/>
                </a:lnTo>
                <a:lnTo>
                  <a:pt x="0" y="31895"/>
                </a:ln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470" y="5310577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19935" y="19935"/>
                </a:moveTo>
                <a:cubicBezTo>
                  <a:pt x="8939" y="19935"/>
                  <a:pt x="0" y="28874"/>
                  <a:pt x="0" y="39869"/>
                </a:cubicBezTo>
                <a:lnTo>
                  <a:pt x="0" y="119608"/>
                </a:lnTo>
                <a:cubicBezTo>
                  <a:pt x="0" y="130603"/>
                  <a:pt x="8939" y="139542"/>
                  <a:pt x="19935" y="139542"/>
                </a:cubicBezTo>
                <a:lnTo>
                  <a:pt x="139542" y="139542"/>
                </a:lnTo>
                <a:cubicBezTo>
                  <a:pt x="150537" y="139542"/>
                  <a:pt x="159477" y="130603"/>
                  <a:pt x="159477" y="119608"/>
                </a:cubicBezTo>
                <a:lnTo>
                  <a:pt x="159477" y="39869"/>
                </a:lnTo>
                <a:cubicBezTo>
                  <a:pt x="159477" y="28874"/>
                  <a:pt x="150537" y="19935"/>
                  <a:pt x="139542" y="19935"/>
                </a:cubicBezTo>
                <a:lnTo>
                  <a:pt x="19935" y="19935"/>
                </a:lnTo>
                <a:close/>
                <a:moveTo>
                  <a:pt x="27410" y="39869"/>
                </a:moveTo>
                <a:lnTo>
                  <a:pt x="132067" y="39869"/>
                </a:lnTo>
                <a:cubicBezTo>
                  <a:pt x="136209" y="39869"/>
                  <a:pt x="139542" y="43202"/>
                  <a:pt x="139542" y="47345"/>
                </a:cubicBezTo>
                <a:cubicBezTo>
                  <a:pt x="139542" y="51487"/>
                  <a:pt x="136209" y="54820"/>
                  <a:pt x="132067" y="54820"/>
                </a:cubicBezTo>
                <a:lnTo>
                  <a:pt x="27410" y="54820"/>
                </a:lnTo>
                <a:cubicBezTo>
                  <a:pt x="23267" y="54820"/>
                  <a:pt x="19935" y="51487"/>
                  <a:pt x="19935" y="47345"/>
                </a:cubicBezTo>
                <a:cubicBezTo>
                  <a:pt x="19935" y="43202"/>
                  <a:pt x="23267" y="39869"/>
                  <a:pt x="27410" y="39869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3" name="Text 31"/>
          <p:cNvSpPr/>
          <p:nvPr/>
        </p:nvSpPr>
        <p:spPr>
          <a:xfrm>
            <a:off x="741567" y="5294629"/>
            <a:ext cx="1977512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Catégories 10-11 : Fenêtrage et Vues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6535" y="5581687"/>
            <a:ext cx="5454106" cy="414640"/>
          </a:xfrm>
          <a:custGeom>
            <a:avLst/>
            <a:gdLst/>
            <a:ahLst/>
            <a:cxnLst/>
            <a:rect l="l" t="t" r="r" b="b"/>
            <a:pathLst>
              <a:path w="5454106" h="414640">
                <a:moveTo>
                  <a:pt x="31894" y="0"/>
                </a:moveTo>
                <a:lnTo>
                  <a:pt x="5422212" y="0"/>
                </a:lnTo>
                <a:cubicBezTo>
                  <a:pt x="5439826" y="0"/>
                  <a:pt x="5454106" y="14279"/>
                  <a:pt x="5454106" y="31894"/>
                </a:cubicBezTo>
                <a:lnTo>
                  <a:pt x="5454106" y="382746"/>
                </a:lnTo>
                <a:cubicBezTo>
                  <a:pt x="5454106" y="400360"/>
                  <a:pt x="5439826" y="414640"/>
                  <a:pt x="5422212" y="414640"/>
                </a:cubicBezTo>
                <a:lnTo>
                  <a:pt x="31894" y="414640"/>
                </a:lnTo>
                <a:cubicBezTo>
                  <a:pt x="14279" y="414640"/>
                  <a:pt x="0" y="400360"/>
                  <a:pt x="0" y="382746"/>
                </a:cubicBezTo>
                <a:lnTo>
                  <a:pt x="0" y="31894"/>
                </a:lnTo>
                <a:cubicBezTo>
                  <a:pt x="0" y="14291"/>
                  <a:pt x="14291" y="0"/>
                  <a:pt x="318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5" name="Text 33"/>
          <p:cNvSpPr/>
          <p:nvPr/>
        </p:nvSpPr>
        <p:spPr>
          <a:xfrm>
            <a:off x="510326" y="5645478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R10.3 : Classement par groupe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0326" y="5804955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CAT_ING, NOM_ING, PRIX_UNIT, DENSE_RANK() OVER (PARTITION BY CAT_ING ORDER BY PRIX_UNIT DESC) AS Rang FROM INGREDIENT;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6535" y="6060118"/>
            <a:ext cx="5454106" cy="414640"/>
          </a:xfrm>
          <a:custGeom>
            <a:avLst/>
            <a:gdLst/>
            <a:ahLst/>
            <a:cxnLst/>
            <a:rect l="l" t="t" r="r" b="b"/>
            <a:pathLst>
              <a:path w="5454106" h="414640">
                <a:moveTo>
                  <a:pt x="31894" y="0"/>
                </a:moveTo>
                <a:lnTo>
                  <a:pt x="5422212" y="0"/>
                </a:lnTo>
                <a:cubicBezTo>
                  <a:pt x="5439826" y="0"/>
                  <a:pt x="5454106" y="14279"/>
                  <a:pt x="5454106" y="31894"/>
                </a:cubicBezTo>
                <a:lnTo>
                  <a:pt x="5454106" y="382746"/>
                </a:lnTo>
                <a:cubicBezTo>
                  <a:pt x="5454106" y="400360"/>
                  <a:pt x="5439826" y="414640"/>
                  <a:pt x="5422212" y="414640"/>
                </a:cubicBezTo>
                <a:lnTo>
                  <a:pt x="31894" y="414640"/>
                </a:lnTo>
                <a:cubicBezTo>
                  <a:pt x="14279" y="414640"/>
                  <a:pt x="0" y="400360"/>
                  <a:pt x="0" y="382746"/>
                </a:cubicBezTo>
                <a:lnTo>
                  <a:pt x="0" y="31894"/>
                </a:lnTo>
                <a:cubicBezTo>
                  <a:pt x="0" y="14291"/>
                  <a:pt x="14291" y="0"/>
                  <a:pt x="318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8" name="Text 36"/>
          <p:cNvSpPr/>
          <p:nvPr/>
        </p:nvSpPr>
        <p:spPr>
          <a:xfrm>
            <a:off x="510326" y="6123908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R11.1 : Vue stock critique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0326" y="6283385"/>
            <a:ext cx="5374368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05DF72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* FROM V_STOCK_CRITIQUE ORDER BY MANQUE DESC;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59392" y="1148233"/>
            <a:ext cx="5709269" cy="4258030"/>
          </a:xfrm>
          <a:custGeom>
            <a:avLst/>
            <a:gdLst/>
            <a:ahLst/>
            <a:cxnLst/>
            <a:rect l="l" t="t" r="r" b="b"/>
            <a:pathLst>
              <a:path w="5709269" h="4258030">
                <a:moveTo>
                  <a:pt x="63785" y="0"/>
                </a:moveTo>
                <a:lnTo>
                  <a:pt x="5645484" y="0"/>
                </a:lnTo>
                <a:cubicBezTo>
                  <a:pt x="5680711" y="0"/>
                  <a:pt x="5709269" y="28558"/>
                  <a:pt x="5709269" y="63785"/>
                </a:cubicBezTo>
                <a:lnTo>
                  <a:pt x="5709269" y="4194245"/>
                </a:lnTo>
                <a:cubicBezTo>
                  <a:pt x="5709269" y="4229472"/>
                  <a:pt x="5680711" y="4258030"/>
                  <a:pt x="5645484" y="4258030"/>
                </a:cubicBezTo>
                <a:lnTo>
                  <a:pt x="63785" y="4258030"/>
                </a:lnTo>
                <a:cubicBezTo>
                  <a:pt x="28558" y="4258030"/>
                  <a:pt x="0" y="4229472"/>
                  <a:pt x="0" y="4194245"/>
                </a:cubicBezTo>
                <a:lnTo>
                  <a:pt x="0" y="63785"/>
                </a:lnTo>
                <a:cubicBezTo>
                  <a:pt x="0" y="28558"/>
                  <a:pt x="28558" y="0"/>
                  <a:pt x="63785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6908" y="1307710"/>
            <a:ext cx="159477" cy="159477"/>
          </a:xfrm>
          <a:custGeom>
            <a:avLst/>
            <a:gdLst/>
            <a:ahLst/>
            <a:cxnLst/>
            <a:rect l="l" t="t" r="r" b="b"/>
            <a:pathLst>
              <a:path w="159477" h="159477">
                <a:moveTo>
                  <a:pt x="19935" y="19935"/>
                </a:moveTo>
                <a:cubicBezTo>
                  <a:pt x="19935" y="14421"/>
                  <a:pt x="15480" y="9967"/>
                  <a:pt x="9967" y="9967"/>
                </a:cubicBezTo>
                <a:cubicBezTo>
                  <a:pt x="4454" y="9967"/>
                  <a:pt x="0" y="14421"/>
                  <a:pt x="0" y="19935"/>
                </a:cubicBezTo>
                <a:lnTo>
                  <a:pt x="0" y="124591"/>
                </a:lnTo>
                <a:cubicBezTo>
                  <a:pt x="0" y="138359"/>
                  <a:pt x="11151" y="149509"/>
                  <a:pt x="24918" y="149509"/>
                </a:cubicBezTo>
                <a:lnTo>
                  <a:pt x="149509" y="149509"/>
                </a:lnTo>
                <a:cubicBezTo>
                  <a:pt x="155023" y="149509"/>
                  <a:pt x="159477" y="145055"/>
                  <a:pt x="159477" y="139542"/>
                </a:cubicBezTo>
                <a:cubicBezTo>
                  <a:pt x="159477" y="134029"/>
                  <a:pt x="155023" y="129575"/>
                  <a:pt x="149509" y="129575"/>
                </a:cubicBezTo>
                <a:lnTo>
                  <a:pt x="24918" y="129575"/>
                </a:lnTo>
                <a:cubicBezTo>
                  <a:pt x="22177" y="129575"/>
                  <a:pt x="19935" y="127332"/>
                  <a:pt x="19935" y="124591"/>
                </a:cubicBezTo>
                <a:lnTo>
                  <a:pt x="19935" y="19935"/>
                </a:lnTo>
                <a:close/>
                <a:moveTo>
                  <a:pt x="146582" y="46909"/>
                </a:moveTo>
                <a:cubicBezTo>
                  <a:pt x="150475" y="43015"/>
                  <a:pt x="150475" y="36692"/>
                  <a:pt x="146582" y="32799"/>
                </a:cubicBezTo>
                <a:cubicBezTo>
                  <a:pt x="142688" y="28905"/>
                  <a:pt x="136365" y="28905"/>
                  <a:pt x="132472" y="32799"/>
                </a:cubicBezTo>
                <a:lnTo>
                  <a:pt x="99673" y="65628"/>
                </a:lnTo>
                <a:lnTo>
                  <a:pt x="81794" y="47781"/>
                </a:lnTo>
                <a:cubicBezTo>
                  <a:pt x="77901" y="43887"/>
                  <a:pt x="71578" y="43887"/>
                  <a:pt x="67684" y="47781"/>
                </a:cubicBezTo>
                <a:lnTo>
                  <a:pt x="37782" y="77683"/>
                </a:lnTo>
                <a:cubicBezTo>
                  <a:pt x="33889" y="81576"/>
                  <a:pt x="33889" y="87899"/>
                  <a:pt x="37782" y="91793"/>
                </a:cubicBezTo>
                <a:cubicBezTo>
                  <a:pt x="41676" y="95686"/>
                  <a:pt x="47999" y="95686"/>
                  <a:pt x="51892" y="91793"/>
                </a:cubicBezTo>
                <a:lnTo>
                  <a:pt x="74755" y="68930"/>
                </a:lnTo>
                <a:lnTo>
                  <a:pt x="92634" y="86809"/>
                </a:lnTo>
                <a:cubicBezTo>
                  <a:pt x="96527" y="90702"/>
                  <a:pt x="102850" y="90702"/>
                  <a:pt x="106744" y="86809"/>
                </a:cubicBezTo>
                <a:lnTo>
                  <a:pt x="146613" y="4694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2" name="Text 40"/>
          <p:cNvSpPr/>
          <p:nvPr/>
        </p:nvSpPr>
        <p:spPr>
          <a:xfrm>
            <a:off x="6582006" y="1275814"/>
            <a:ext cx="2503785" cy="22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Catégorie 13 : Requêtes Métier Avancées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86974" y="1594768"/>
            <a:ext cx="5454106" cy="1212024"/>
          </a:xfrm>
          <a:custGeom>
            <a:avLst/>
            <a:gdLst/>
            <a:ahLst/>
            <a:cxnLst/>
            <a:rect l="l" t="t" r="r" b="b"/>
            <a:pathLst>
              <a:path w="5454106" h="1212024">
                <a:moveTo>
                  <a:pt x="31900" y="0"/>
                </a:moveTo>
                <a:lnTo>
                  <a:pt x="5422205" y="0"/>
                </a:lnTo>
                <a:cubicBezTo>
                  <a:pt x="5439824" y="0"/>
                  <a:pt x="5454106" y="14282"/>
                  <a:pt x="5454106" y="31900"/>
                </a:cubicBezTo>
                <a:lnTo>
                  <a:pt x="5454106" y="1180123"/>
                </a:lnTo>
                <a:cubicBezTo>
                  <a:pt x="5454106" y="1197741"/>
                  <a:pt x="5439824" y="1212024"/>
                  <a:pt x="5422205" y="1212024"/>
                </a:cubicBezTo>
                <a:lnTo>
                  <a:pt x="31900" y="1212024"/>
                </a:lnTo>
                <a:cubicBezTo>
                  <a:pt x="14282" y="1212024"/>
                  <a:pt x="0" y="1197741"/>
                  <a:pt x="0" y="1180123"/>
                </a:cubicBezTo>
                <a:lnTo>
                  <a:pt x="0" y="31900"/>
                </a:lnTo>
                <a:cubicBezTo>
                  <a:pt x="0" y="14294"/>
                  <a:pt x="14294" y="0"/>
                  <a:pt x="319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382660" y="1690454"/>
            <a:ext cx="5310577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R13.1 : Rentabilité des menus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2660" y="1881826"/>
            <a:ext cx="5310577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7BF1A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M.NOM_MENU, M.PRIX_MENU, SUM(COALESCE(CMP.QUANTITE * I.PRIX_UNIT, 0)) AS COUT_TOTAL, M.PRIX_MENU - SUM(COALESCE(CMP.QUANTITE * I.PRIX_UNIT, 0)) AS MARGE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82660" y="2136989"/>
            <a:ext cx="5310577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7BF1A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MENU M JOIN CONSTITUTION C ON M.CODE_MENU = C.CODE_MENU JOIN RECETTE R ON C.CODE_REC = R.CODE_REC LEFT JOIN COMPOSE CMP ON R.CODE_REC = CMP.CODE_REC LEFT JOIN INGREDIENT I ON CMP.CODE_ING = I.CODE_ING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82660" y="2392152"/>
            <a:ext cx="5310577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7BF1A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GROUP BY M.CODE_MENU, M.NOM_MENU, M.PRIX_MENU ORDER BY MARGE DESC;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2660" y="2583524"/>
            <a:ext cx="5310577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rentabilité par menu (tri marge décroissante)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86974" y="2902477"/>
            <a:ext cx="5454106" cy="1084442"/>
          </a:xfrm>
          <a:custGeom>
            <a:avLst/>
            <a:gdLst/>
            <a:ahLst/>
            <a:cxnLst/>
            <a:rect l="l" t="t" r="r" b="b"/>
            <a:pathLst>
              <a:path w="5454106" h="1084442">
                <a:moveTo>
                  <a:pt x="31893" y="0"/>
                </a:moveTo>
                <a:lnTo>
                  <a:pt x="5422213" y="0"/>
                </a:lnTo>
                <a:cubicBezTo>
                  <a:pt x="5439827" y="0"/>
                  <a:pt x="5454106" y="14279"/>
                  <a:pt x="5454106" y="31893"/>
                </a:cubicBezTo>
                <a:lnTo>
                  <a:pt x="5454106" y="1052549"/>
                </a:lnTo>
                <a:cubicBezTo>
                  <a:pt x="5454106" y="1070163"/>
                  <a:pt x="5439827" y="1084442"/>
                  <a:pt x="5422213" y="1084442"/>
                </a:cubicBezTo>
                <a:lnTo>
                  <a:pt x="31893" y="1084442"/>
                </a:lnTo>
                <a:cubicBezTo>
                  <a:pt x="14279" y="1084442"/>
                  <a:pt x="0" y="1070163"/>
                  <a:pt x="0" y="1052549"/>
                </a:cubicBezTo>
                <a:lnTo>
                  <a:pt x="0" y="31893"/>
                </a:lnTo>
                <a:cubicBezTo>
                  <a:pt x="0" y="14291"/>
                  <a:pt x="14291" y="0"/>
                  <a:pt x="3189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382660" y="2998164"/>
            <a:ext cx="5310577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R13.2 : Analyse ABC (80/20)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2660" y="3189536"/>
            <a:ext cx="5310577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7BF1A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WITH VALEURS AS (SELECT NOM_ING, (QTE_STOCK * PRIX_UNIT) AS VALEUR, SUM(QTE_STOCK * PRIX_UNIT) OVER () AS TOTAL FROM INGREDIENT),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2660" y="3317117"/>
            <a:ext cx="5310577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7BF1A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CLASSEMENT AS (SELECT NOM_ING, VALEUR, SUM(VALEUR) OVER (ORDER BY VALEUR DESC) AS CUMULE, ROUND(SUM(VALEUR) OVER (ORDER BY VALEUR DESC) / TOTAL * 100, 2) AS PCT FROM VALEURS)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2660" y="3572280"/>
            <a:ext cx="5310577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7BF1A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NOM_ING, VALEUR, PCT, CASE WHEN PCT &lt;= 80 THEN 'A' WHEN PCT &lt;= 95 THEN 'B' ELSE 'C' END AS CLASSE FROM CLASSEMENT ORDER BY VALEUR DESC;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82660" y="3763652"/>
            <a:ext cx="5310577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ABC : A=80% valeur, B=15%, C=5%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86974" y="4082606"/>
            <a:ext cx="5454106" cy="829279"/>
          </a:xfrm>
          <a:custGeom>
            <a:avLst/>
            <a:gdLst/>
            <a:ahLst/>
            <a:cxnLst/>
            <a:rect l="l" t="t" r="r" b="b"/>
            <a:pathLst>
              <a:path w="5454106" h="829279">
                <a:moveTo>
                  <a:pt x="31894" y="0"/>
                </a:moveTo>
                <a:lnTo>
                  <a:pt x="5422212" y="0"/>
                </a:lnTo>
                <a:cubicBezTo>
                  <a:pt x="5439826" y="0"/>
                  <a:pt x="5454106" y="14279"/>
                  <a:pt x="5454106" y="31894"/>
                </a:cubicBezTo>
                <a:lnTo>
                  <a:pt x="5454106" y="797385"/>
                </a:lnTo>
                <a:cubicBezTo>
                  <a:pt x="5454106" y="815000"/>
                  <a:pt x="5439826" y="829279"/>
                  <a:pt x="5422212" y="829279"/>
                </a:cubicBezTo>
                <a:lnTo>
                  <a:pt x="31894" y="829279"/>
                </a:lnTo>
                <a:cubicBezTo>
                  <a:pt x="14279" y="829279"/>
                  <a:pt x="0" y="815000"/>
                  <a:pt x="0" y="797385"/>
                </a:cubicBezTo>
                <a:lnTo>
                  <a:pt x="0" y="31894"/>
                </a:lnTo>
                <a:cubicBezTo>
                  <a:pt x="0" y="14291"/>
                  <a:pt x="14291" y="0"/>
                  <a:pt x="318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382660" y="4178292"/>
            <a:ext cx="5310577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-- R13.4 : Recettes réalisables immédiatement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82660" y="4369664"/>
            <a:ext cx="5310577" cy="255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7BF1A8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 R.NOM_REC FROM RECETTE R WHERE NOT EXISTS (SELECT 1 FROM COMPOSE C JOIN INGREDIENT I ON C.CODE_ING = I.CODE_ING WHERE C.CODE_REC = R.CODE_REC AND C.QUANTITE &gt; I.QTE_STOCK);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82660" y="4688617"/>
            <a:ext cx="5310577" cy="12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3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Plats préparables immédiatement (stock suffisant)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62582" y="5538233"/>
            <a:ext cx="5707674" cy="1058926"/>
          </a:xfrm>
          <a:custGeom>
            <a:avLst/>
            <a:gdLst/>
            <a:ahLst/>
            <a:cxnLst/>
            <a:rect l="l" t="t" r="r" b="b"/>
            <a:pathLst>
              <a:path w="5707674" h="1058926">
                <a:moveTo>
                  <a:pt x="63790" y="0"/>
                </a:moveTo>
                <a:lnTo>
                  <a:pt x="5643884" y="0"/>
                </a:lnTo>
                <a:cubicBezTo>
                  <a:pt x="5679114" y="0"/>
                  <a:pt x="5707674" y="28560"/>
                  <a:pt x="5707674" y="63790"/>
                </a:cubicBezTo>
                <a:lnTo>
                  <a:pt x="5707674" y="995136"/>
                </a:lnTo>
                <a:cubicBezTo>
                  <a:pt x="5707674" y="1030366"/>
                  <a:pt x="5679114" y="1058926"/>
                  <a:pt x="5643884" y="1058926"/>
                </a:cubicBezTo>
                <a:lnTo>
                  <a:pt x="63790" y="1058926"/>
                </a:lnTo>
                <a:cubicBezTo>
                  <a:pt x="28560" y="1058926"/>
                  <a:pt x="0" y="1030366"/>
                  <a:pt x="0" y="995136"/>
                </a:cubicBezTo>
                <a:lnTo>
                  <a:pt x="0" y="63790"/>
                </a:lnTo>
                <a:cubicBezTo>
                  <a:pt x="0" y="28583"/>
                  <a:pt x="28583" y="0"/>
                  <a:pt x="63790" y="0"/>
                </a:cubicBezTo>
                <a:close/>
              </a:path>
            </a:pathLst>
          </a:custGeom>
          <a:solidFill>
            <a:srgbClr val="C6A84E">
              <a:alpha val="10196"/>
            </a:srgbClr>
          </a:solidFill>
          <a:ln w="10160">
            <a:solidFill>
              <a:srgbClr val="C6A84E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5248" y="5700898"/>
            <a:ext cx="95686" cy="127581"/>
          </a:xfrm>
          <a:custGeom>
            <a:avLst/>
            <a:gdLst/>
            <a:ahLst/>
            <a:cxnLst/>
            <a:rect l="l" t="t" r="r" b="b"/>
            <a:pathLst>
              <a:path w="95686" h="127581">
                <a:moveTo>
                  <a:pt x="72986" y="95686"/>
                </a:moveTo>
                <a:cubicBezTo>
                  <a:pt x="74805" y="90129"/>
                  <a:pt x="78443" y="85096"/>
                  <a:pt x="82554" y="80760"/>
                </a:cubicBezTo>
                <a:cubicBezTo>
                  <a:pt x="90702" y="72188"/>
                  <a:pt x="95686" y="60601"/>
                  <a:pt x="95686" y="47843"/>
                </a:cubicBezTo>
                <a:cubicBezTo>
                  <a:pt x="95686" y="21430"/>
                  <a:pt x="74256" y="0"/>
                  <a:pt x="47843" y="0"/>
                </a:cubicBezTo>
                <a:cubicBezTo>
                  <a:pt x="21430" y="0"/>
                  <a:pt x="0" y="21430"/>
                  <a:pt x="0" y="47843"/>
                </a:cubicBezTo>
                <a:cubicBezTo>
                  <a:pt x="0" y="60601"/>
                  <a:pt x="4984" y="72188"/>
                  <a:pt x="13132" y="80760"/>
                </a:cubicBezTo>
                <a:cubicBezTo>
                  <a:pt x="17243" y="85096"/>
                  <a:pt x="20906" y="90129"/>
                  <a:pt x="22701" y="95686"/>
                </a:cubicBezTo>
                <a:lnTo>
                  <a:pt x="72961" y="95686"/>
                </a:lnTo>
                <a:close/>
                <a:moveTo>
                  <a:pt x="71765" y="107647"/>
                </a:moveTo>
                <a:lnTo>
                  <a:pt x="23922" y="107647"/>
                </a:lnTo>
                <a:lnTo>
                  <a:pt x="23922" y="111634"/>
                </a:lnTo>
                <a:cubicBezTo>
                  <a:pt x="23922" y="122648"/>
                  <a:pt x="32842" y="131568"/>
                  <a:pt x="43856" y="131568"/>
                </a:cubicBezTo>
                <a:lnTo>
                  <a:pt x="51830" y="131568"/>
                </a:lnTo>
                <a:cubicBezTo>
                  <a:pt x="62844" y="131568"/>
                  <a:pt x="71765" y="122648"/>
                  <a:pt x="71765" y="111634"/>
                </a:cubicBezTo>
                <a:lnTo>
                  <a:pt x="71765" y="107647"/>
                </a:lnTo>
                <a:close/>
                <a:moveTo>
                  <a:pt x="45850" y="27908"/>
                </a:moveTo>
                <a:cubicBezTo>
                  <a:pt x="35932" y="27908"/>
                  <a:pt x="27908" y="35932"/>
                  <a:pt x="27908" y="45850"/>
                </a:cubicBezTo>
                <a:cubicBezTo>
                  <a:pt x="27908" y="49164"/>
                  <a:pt x="25242" y="51830"/>
                  <a:pt x="21928" y="51830"/>
                </a:cubicBezTo>
                <a:cubicBezTo>
                  <a:pt x="18614" y="51830"/>
                  <a:pt x="15948" y="49164"/>
                  <a:pt x="15948" y="45850"/>
                </a:cubicBezTo>
                <a:cubicBezTo>
                  <a:pt x="15948" y="29329"/>
                  <a:pt x="29329" y="15948"/>
                  <a:pt x="45850" y="15948"/>
                </a:cubicBezTo>
                <a:cubicBezTo>
                  <a:pt x="49164" y="15948"/>
                  <a:pt x="51830" y="18614"/>
                  <a:pt x="51830" y="21928"/>
                </a:cubicBezTo>
                <a:cubicBezTo>
                  <a:pt x="51830" y="25242"/>
                  <a:pt x="49164" y="27908"/>
                  <a:pt x="45850" y="27908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61" name="Text 59"/>
          <p:cNvSpPr/>
          <p:nvPr/>
        </p:nvSpPr>
        <p:spPr>
          <a:xfrm>
            <a:off x="6548515" y="5669002"/>
            <a:ext cx="653855" cy="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Points Clés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93353" y="5924165"/>
            <a:ext cx="5501949" cy="542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 requêtes SQL</a:t>
            </a:r>
            <a:r>
              <a:rPr lang="en-US" sz="879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couvrant l'ensemble des besoins métier : gestion des stocks, analyse des coûts, planification des menus, évaluation des compétences des chefs. Les </a:t>
            </a:r>
            <a:r>
              <a:rPr lang="en-US" sz="879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de fenêtrage</a:t>
            </a:r>
            <a:r>
              <a:rPr lang="en-US" sz="879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les </a:t>
            </a:r>
            <a:r>
              <a:rPr lang="en-US" sz="879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CTEs récursives</a:t>
            </a:r>
            <a:r>
              <a:rPr lang="en-US" sz="879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permettent des analyses décisionnelles avancées.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scoffier.edu/18a34206b48723dcb29d3b9be877251173d13b64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8000"/>
                </a:srgbClr>
              </a:gs>
              <a:gs pos="50000">
                <a:srgbClr val="2C5282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034542"/>
            <a:ext cx="1474470" cy="388620"/>
          </a:xfrm>
          <a:custGeom>
            <a:avLst/>
            <a:gdLst/>
            <a:ahLst/>
            <a:cxnLst/>
            <a:rect l="l" t="t" r="r" b="b"/>
            <a:pathLst>
              <a:path w="1474470" h="388620">
                <a:moveTo>
                  <a:pt x="38100" y="0"/>
                </a:moveTo>
                <a:lnTo>
                  <a:pt x="1436370" y="0"/>
                </a:lnTo>
                <a:cubicBezTo>
                  <a:pt x="1457412" y="0"/>
                  <a:pt x="1474470" y="17058"/>
                  <a:pt x="1474470" y="38100"/>
                </a:cubicBezTo>
                <a:lnTo>
                  <a:pt x="1474470" y="350520"/>
                </a:lnTo>
                <a:cubicBezTo>
                  <a:pt x="1474470" y="371562"/>
                  <a:pt x="1457412" y="388620"/>
                  <a:pt x="1436370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6A84E">
              <a:alpha val="20000"/>
            </a:srgbClr>
          </a:solidFill>
          <a:ln w="10160">
            <a:solidFill>
              <a:srgbClr val="C6A84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211455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CHAPITRE 08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55568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74141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084318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Synthèse des résultats, apports méthodologiques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perspectives d'évolution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SYNTHÈSE ET PERSPECTIVES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Bilan du Projet et Perspectives d'Évolution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58875"/>
            <a:ext cx="5699125" cy="4238625"/>
          </a:xfrm>
          <a:custGeom>
            <a:avLst/>
            <a:gdLst/>
            <a:ahLst/>
            <a:cxnLst/>
            <a:rect l="l" t="t" r="r" b="b"/>
            <a:pathLst>
              <a:path w="5699125" h="4238625">
                <a:moveTo>
                  <a:pt x="31750" y="0"/>
                </a:moveTo>
                <a:lnTo>
                  <a:pt x="5667375" y="0"/>
                </a:lnTo>
                <a:cubicBezTo>
                  <a:pt x="5684910" y="0"/>
                  <a:pt x="5699125" y="14215"/>
                  <a:pt x="5699125" y="31750"/>
                </a:cubicBezTo>
                <a:lnTo>
                  <a:pt x="5699125" y="4175130"/>
                </a:lnTo>
                <a:cubicBezTo>
                  <a:pt x="5699125" y="4210197"/>
                  <a:pt x="5670697" y="4238625"/>
                  <a:pt x="5635630" y="4238625"/>
                </a:cubicBezTo>
                <a:lnTo>
                  <a:pt x="63495" y="4238625"/>
                </a:lnTo>
                <a:cubicBezTo>
                  <a:pt x="28428" y="4238625"/>
                  <a:pt x="0" y="4210197"/>
                  <a:pt x="0" y="417513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15887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" name="Shape 5"/>
          <p:cNvSpPr/>
          <p:nvPr/>
        </p:nvSpPr>
        <p:spPr>
          <a:xfrm>
            <a:off x="484187" y="133350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6552" y="9922"/>
                </a:moveTo>
                <a:lnTo>
                  <a:pt x="99219" y="9922"/>
                </a:lnTo>
                <a:cubicBezTo>
                  <a:pt x="110164" y="9922"/>
                  <a:pt x="119062" y="18821"/>
                  <a:pt x="119062" y="2976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22510" y="9922"/>
                </a:lnTo>
                <a:cubicBezTo>
                  <a:pt x="25921" y="4000"/>
                  <a:pt x="32339" y="0"/>
                  <a:pt x="39688" y="0"/>
                </a:cubicBezTo>
                <a:lnTo>
                  <a:pt x="79375" y="0"/>
                </a:lnTo>
                <a:cubicBezTo>
                  <a:pt x="86723" y="0"/>
                  <a:pt x="93142" y="4000"/>
                  <a:pt x="96552" y="9922"/>
                </a:cubicBezTo>
                <a:close/>
                <a:moveTo>
                  <a:pt x="76895" y="34727"/>
                </a:moveTo>
                <a:cubicBezTo>
                  <a:pt x="81018" y="34727"/>
                  <a:pt x="84336" y="31409"/>
                  <a:pt x="84336" y="27285"/>
                </a:cubicBezTo>
                <a:cubicBezTo>
                  <a:pt x="84336" y="23161"/>
                  <a:pt x="81018" y="19844"/>
                  <a:pt x="76895" y="19844"/>
                </a:cubicBezTo>
                <a:lnTo>
                  <a:pt x="42168" y="19844"/>
                </a:lnTo>
                <a:cubicBezTo>
                  <a:pt x="38044" y="19844"/>
                  <a:pt x="34727" y="23161"/>
                  <a:pt x="34727" y="27285"/>
                </a:cubicBezTo>
                <a:cubicBezTo>
                  <a:pt x="34727" y="31409"/>
                  <a:pt x="38044" y="34727"/>
                  <a:pt x="42168" y="34727"/>
                </a:cubicBezTo>
                <a:lnTo>
                  <a:pt x="76895" y="34727"/>
                </a:lnTo>
                <a:close/>
                <a:moveTo>
                  <a:pt x="85700" y="80832"/>
                </a:moveTo>
                <a:cubicBezTo>
                  <a:pt x="87871" y="77360"/>
                  <a:pt x="86816" y="72771"/>
                  <a:pt x="83344" y="70569"/>
                </a:cubicBezTo>
                <a:cubicBezTo>
                  <a:pt x="79871" y="68368"/>
                  <a:pt x="75282" y="69453"/>
                  <a:pt x="73081" y="72926"/>
                </a:cubicBezTo>
                <a:lnTo>
                  <a:pt x="54043" y="103405"/>
                </a:lnTo>
                <a:lnTo>
                  <a:pt x="45672" y="92242"/>
                </a:lnTo>
                <a:cubicBezTo>
                  <a:pt x="43191" y="88956"/>
                  <a:pt x="38540" y="88274"/>
                  <a:pt x="35254" y="90754"/>
                </a:cubicBezTo>
                <a:cubicBezTo>
                  <a:pt x="31967" y="93235"/>
                  <a:pt x="31285" y="97885"/>
                  <a:pt x="33765" y="101172"/>
                </a:cubicBezTo>
                <a:lnTo>
                  <a:pt x="48648" y="121016"/>
                </a:lnTo>
                <a:cubicBezTo>
                  <a:pt x="50105" y="122969"/>
                  <a:pt x="52462" y="124085"/>
                  <a:pt x="54911" y="123992"/>
                </a:cubicBezTo>
                <a:cubicBezTo>
                  <a:pt x="57361" y="123899"/>
                  <a:pt x="59593" y="122597"/>
                  <a:pt x="60896" y="120489"/>
                </a:cubicBezTo>
                <a:lnTo>
                  <a:pt x="85700" y="80801"/>
                </a:ln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738188" y="1301750"/>
            <a:ext cx="1174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Résultats Obtenus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" y="1619250"/>
            <a:ext cx="2674938" cy="857250"/>
          </a:xfrm>
          <a:custGeom>
            <a:avLst/>
            <a:gdLst/>
            <a:ahLst/>
            <a:cxnLst/>
            <a:rect l="l" t="t" r="r" b="b"/>
            <a:pathLst>
              <a:path w="2674938" h="857250">
                <a:moveTo>
                  <a:pt x="31753" y="0"/>
                </a:moveTo>
                <a:lnTo>
                  <a:pt x="2643185" y="0"/>
                </a:lnTo>
                <a:cubicBezTo>
                  <a:pt x="2660721" y="0"/>
                  <a:pt x="2674938" y="14216"/>
                  <a:pt x="2674938" y="31753"/>
                </a:cubicBezTo>
                <a:lnTo>
                  <a:pt x="2674938" y="825497"/>
                </a:lnTo>
                <a:cubicBezTo>
                  <a:pt x="2674938" y="843034"/>
                  <a:pt x="2660721" y="857250"/>
                  <a:pt x="2643185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10" name="Shape 8"/>
          <p:cNvSpPr/>
          <p:nvPr/>
        </p:nvSpPr>
        <p:spPr>
          <a:xfrm>
            <a:off x="1698625" y="1714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92125" y="1968500"/>
            <a:ext cx="2579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1969" y="2222500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Entités principales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14688" y="1619250"/>
            <a:ext cx="2674938" cy="857250"/>
          </a:xfrm>
          <a:custGeom>
            <a:avLst/>
            <a:gdLst/>
            <a:ahLst/>
            <a:cxnLst/>
            <a:rect l="l" t="t" r="r" b="b"/>
            <a:pathLst>
              <a:path w="2674938" h="857250">
                <a:moveTo>
                  <a:pt x="31753" y="0"/>
                </a:moveTo>
                <a:lnTo>
                  <a:pt x="2643185" y="0"/>
                </a:lnTo>
                <a:cubicBezTo>
                  <a:pt x="2660721" y="0"/>
                  <a:pt x="2674938" y="14216"/>
                  <a:pt x="2674938" y="31753"/>
                </a:cubicBezTo>
                <a:lnTo>
                  <a:pt x="2674938" y="825497"/>
                </a:lnTo>
                <a:cubicBezTo>
                  <a:pt x="2674938" y="843034"/>
                  <a:pt x="2660721" y="857250"/>
                  <a:pt x="2643185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14" name="Shape 12"/>
          <p:cNvSpPr/>
          <p:nvPr/>
        </p:nvSpPr>
        <p:spPr>
          <a:xfrm>
            <a:off x="4445000" y="1714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62313" y="1968500"/>
            <a:ext cx="2579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82156" y="2222500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Tables d'association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500" y="2571750"/>
            <a:ext cx="2674938" cy="857250"/>
          </a:xfrm>
          <a:custGeom>
            <a:avLst/>
            <a:gdLst/>
            <a:ahLst/>
            <a:cxnLst/>
            <a:rect l="l" t="t" r="r" b="b"/>
            <a:pathLst>
              <a:path w="2674938" h="857250">
                <a:moveTo>
                  <a:pt x="31753" y="0"/>
                </a:moveTo>
                <a:lnTo>
                  <a:pt x="2643185" y="0"/>
                </a:lnTo>
                <a:cubicBezTo>
                  <a:pt x="2660721" y="0"/>
                  <a:pt x="2674938" y="14216"/>
                  <a:pt x="2674938" y="31753"/>
                </a:cubicBezTo>
                <a:lnTo>
                  <a:pt x="2674938" y="825497"/>
                </a:lnTo>
                <a:cubicBezTo>
                  <a:pt x="2674938" y="843034"/>
                  <a:pt x="2660721" y="857250"/>
                  <a:pt x="2643185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8" name="Shape 16"/>
          <p:cNvSpPr/>
          <p:nvPr/>
        </p:nvSpPr>
        <p:spPr>
          <a:xfrm>
            <a:off x="1710531" y="2667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2125" y="2921000"/>
            <a:ext cx="2579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3FN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1969" y="3175000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Normalisation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4688" y="2571750"/>
            <a:ext cx="2674938" cy="857250"/>
          </a:xfrm>
          <a:custGeom>
            <a:avLst/>
            <a:gdLst/>
            <a:ahLst/>
            <a:cxnLst/>
            <a:rect l="l" t="t" r="r" b="b"/>
            <a:pathLst>
              <a:path w="2674938" h="857250">
                <a:moveTo>
                  <a:pt x="31753" y="0"/>
                </a:moveTo>
                <a:lnTo>
                  <a:pt x="2643185" y="0"/>
                </a:lnTo>
                <a:cubicBezTo>
                  <a:pt x="2660721" y="0"/>
                  <a:pt x="2674938" y="14216"/>
                  <a:pt x="2674938" y="31753"/>
                </a:cubicBezTo>
                <a:lnTo>
                  <a:pt x="2674938" y="825497"/>
                </a:lnTo>
                <a:cubicBezTo>
                  <a:pt x="2674938" y="843034"/>
                  <a:pt x="2660721" y="857250"/>
                  <a:pt x="2643185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5000" y="2667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62313" y="2921000"/>
            <a:ext cx="2579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82156" y="3175000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Requêtes SQL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500" y="3524250"/>
            <a:ext cx="5445125" cy="349250"/>
          </a:xfrm>
          <a:custGeom>
            <a:avLst/>
            <a:gdLst/>
            <a:ahLst/>
            <a:cxnLst/>
            <a:rect l="l" t="t" r="r" b="b"/>
            <a:pathLst>
              <a:path w="5445125" h="349250">
                <a:moveTo>
                  <a:pt x="31750" y="0"/>
                </a:moveTo>
                <a:lnTo>
                  <a:pt x="5413375" y="0"/>
                </a:lnTo>
                <a:cubicBezTo>
                  <a:pt x="5430910" y="0"/>
                  <a:pt x="5445125" y="14215"/>
                  <a:pt x="5445125" y="31750"/>
                </a:cubicBezTo>
                <a:lnTo>
                  <a:pt x="5445125" y="317500"/>
                </a:lnTo>
                <a:cubicBezTo>
                  <a:pt x="5445125" y="335035"/>
                  <a:pt x="5430910" y="349250"/>
                  <a:pt x="54133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563563" y="3651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27" name="Text 25"/>
          <p:cNvSpPr/>
          <p:nvPr/>
        </p:nvSpPr>
        <p:spPr>
          <a:xfrm>
            <a:off x="793750" y="3619500"/>
            <a:ext cx="4960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Modélisation conceptuelle</a:t>
            </a: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réalisée avec la méthode Merise capturant fidèlement les besoins métier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4500" y="3937000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31750" y="0"/>
                </a:moveTo>
                <a:lnTo>
                  <a:pt x="5413375" y="0"/>
                </a:lnTo>
                <a:cubicBezTo>
                  <a:pt x="5430898" y="0"/>
                  <a:pt x="5445125" y="14227"/>
                  <a:pt x="5445125" y="31750"/>
                </a:cubicBezTo>
                <a:lnTo>
                  <a:pt x="5445125" y="476250"/>
                </a:lnTo>
                <a:cubicBezTo>
                  <a:pt x="5445125" y="493773"/>
                  <a:pt x="5430898" y="508000"/>
                  <a:pt x="5413375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63563" y="4064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0" name="Text 28"/>
          <p:cNvSpPr/>
          <p:nvPr/>
        </p:nvSpPr>
        <p:spPr>
          <a:xfrm>
            <a:off x="793353" y="4032250"/>
            <a:ext cx="50561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Matrices de dépendances fonctionnelles</a:t>
            </a: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comme outil précieux pour identifier les liens entre données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4500" y="4508500"/>
            <a:ext cx="5445125" cy="349250"/>
          </a:xfrm>
          <a:custGeom>
            <a:avLst/>
            <a:gdLst/>
            <a:ahLst/>
            <a:cxnLst/>
            <a:rect l="l" t="t" r="r" b="b"/>
            <a:pathLst>
              <a:path w="5445125" h="349250">
                <a:moveTo>
                  <a:pt x="31750" y="0"/>
                </a:moveTo>
                <a:lnTo>
                  <a:pt x="5413375" y="0"/>
                </a:lnTo>
                <a:cubicBezTo>
                  <a:pt x="5430910" y="0"/>
                  <a:pt x="5445125" y="14215"/>
                  <a:pt x="5445125" y="31750"/>
                </a:cubicBezTo>
                <a:lnTo>
                  <a:pt x="5445125" y="317500"/>
                </a:lnTo>
                <a:cubicBezTo>
                  <a:pt x="5445125" y="335035"/>
                  <a:pt x="5430910" y="349250"/>
                  <a:pt x="54133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2" name="Shape 30"/>
          <p:cNvSpPr/>
          <p:nvPr/>
        </p:nvSpPr>
        <p:spPr>
          <a:xfrm>
            <a:off x="563563" y="4635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3" name="Text 31"/>
          <p:cNvSpPr/>
          <p:nvPr/>
        </p:nvSpPr>
        <p:spPr>
          <a:xfrm>
            <a:off x="793750" y="4603750"/>
            <a:ext cx="430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Schéma entièrement normalisé</a:t>
            </a: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3FN/BCNF éliminant les redondances et anomalies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500" y="4921250"/>
            <a:ext cx="5445125" cy="349250"/>
          </a:xfrm>
          <a:custGeom>
            <a:avLst/>
            <a:gdLst/>
            <a:ahLst/>
            <a:cxnLst/>
            <a:rect l="l" t="t" r="r" b="b"/>
            <a:pathLst>
              <a:path w="5445125" h="349250">
                <a:moveTo>
                  <a:pt x="31750" y="0"/>
                </a:moveTo>
                <a:lnTo>
                  <a:pt x="5413375" y="0"/>
                </a:lnTo>
                <a:cubicBezTo>
                  <a:pt x="5430910" y="0"/>
                  <a:pt x="5445125" y="14215"/>
                  <a:pt x="5445125" y="31750"/>
                </a:cubicBezTo>
                <a:lnTo>
                  <a:pt x="5445125" y="317500"/>
                </a:lnTo>
                <a:cubicBezTo>
                  <a:pt x="5445125" y="335035"/>
                  <a:pt x="5430910" y="349250"/>
                  <a:pt x="54133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563563" y="5048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6" name="Text 34"/>
          <p:cNvSpPr/>
          <p:nvPr/>
        </p:nvSpPr>
        <p:spPr>
          <a:xfrm>
            <a:off x="793750" y="5016500"/>
            <a:ext cx="424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SQL complet</a:t>
            </a: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 création et d'interrogation avec 62 requêtes dans 13 catégories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17500" y="5524500"/>
            <a:ext cx="5699125" cy="1174750"/>
          </a:xfrm>
          <a:custGeom>
            <a:avLst/>
            <a:gdLst/>
            <a:ahLst/>
            <a:cxnLst/>
            <a:rect l="l" t="t" r="r" b="b"/>
            <a:pathLst>
              <a:path w="5699125" h="1174750">
                <a:moveTo>
                  <a:pt x="63495" y="0"/>
                </a:moveTo>
                <a:lnTo>
                  <a:pt x="5635630" y="0"/>
                </a:lnTo>
                <a:cubicBezTo>
                  <a:pt x="5670697" y="0"/>
                  <a:pt x="5699125" y="28428"/>
                  <a:pt x="5699125" y="63495"/>
                </a:cubicBezTo>
                <a:lnTo>
                  <a:pt x="5699125" y="1111255"/>
                </a:lnTo>
                <a:cubicBezTo>
                  <a:pt x="5699125" y="1146322"/>
                  <a:pt x="5670697" y="1174750"/>
                  <a:pt x="5635630" y="1174750"/>
                </a:cubicBezTo>
                <a:lnTo>
                  <a:pt x="63495" y="1174750"/>
                </a:lnTo>
                <a:cubicBezTo>
                  <a:pt x="28428" y="1174750"/>
                  <a:pt x="0" y="1146322"/>
                  <a:pt x="0" y="11112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38" name="Shape 36"/>
          <p:cNvSpPr/>
          <p:nvPr/>
        </p:nvSpPr>
        <p:spPr>
          <a:xfrm>
            <a:off x="454422" y="56832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39" name="Text 37"/>
          <p:cNvSpPr/>
          <p:nvPr/>
        </p:nvSpPr>
        <p:spPr>
          <a:xfrm>
            <a:off x="738188" y="5651500"/>
            <a:ext cx="161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Apports Méthodologiques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0375" y="598963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1" name="Text 39"/>
          <p:cNvSpPr/>
          <p:nvPr/>
        </p:nvSpPr>
        <p:spPr>
          <a:xfrm>
            <a:off x="627063" y="5969000"/>
            <a:ext cx="531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Algèbre relationnelle :</a:t>
            </a: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Formulation précise des requêtes indépendante de toute implémentation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60375" y="621188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3" name="Text 41"/>
          <p:cNvSpPr/>
          <p:nvPr/>
        </p:nvSpPr>
        <p:spPr>
          <a:xfrm>
            <a:off x="627063" y="6191250"/>
            <a:ext cx="531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Normalisation :</a:t>
            </a: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Garantie d'intégrité, cohérence et maintenance facilitée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60375" y="643413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5" name="Text 43"/>
          <p:cNvSpPr/>
          <p:nvPr/>
        </p:nvSpPr>
        <p:spPr>
          <a:xfrm>
            <a:off x="627063" y="6413500"/>
            <a:ext cx="531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Méthode Merise :</a:t>
            </a:r>
            <a:r>
              <a:rPr lang="en-US" sz="87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Démarche structurée de conception de systèmes d'information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5375" y="1158875"/>
            <a:ext cx="5699125" cy="3825875"/>
          </a:xfrm>
          <a:custGeom>
            <a:avLst/>
            <a:gdLst/>
            <a:ahLst/>
            <a:cxnLst/>
            <a:rect l="l" t="t" r="r" b="b"/>
            <a:pathLst>
              <a:path w="5699125" h="3825875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762365"/>
                </a:lnTo>
                <a:cubicBezTo>
                  <a:pt x="5699125" y="3797441"/>
                  <a:pt x="5670691" y="3825875"/>
                  <a:pt x="5635615" y="3825875"/>
                </a:cubicBezTo>
                <a:lnTo>
                  <a:pt x="63510" y="3825875"/>
                </a:lnTo>
                <a:cubicBezTo>
                  <a:pt x="28434" y="3825875"/>
                  <a:pt x="0" y="3797441"/>
                  <a:pt x="0" y="376236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5375" y="1158875"/>
            <a:ext cx="5699125" cy="31750"/>
          </a:xfrm>
          <a:custGeom>
            <a:avLst/>
            <a:gdLst/>
            <a:ahLst/>
            <a:cxnLst/>
            <a:rect l="l" t="t" r="r" b="b"/>
            <a:pathLst>
              <a:path w="5699125" h="31750">
                <a:moveTo>
                  <a:pt x="31750" y="0"/>
                </a:moveTo>
                <a:lnTo>
                  <a:pt x="5667375" y="0"/>
                </a:lnTo>
                <a:cubicBezTo>
                  <a:pt x="5684898" y="0"/>
                  <a:pt x="5699125" y="14227"/>
                  <a:pt x="5699125" y="31750"/>
                </a:cubicBezTo>
                <a:lnTo>
                  <a:pt x="5699125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8" name="Shape 46"/>
          <p:cNvSpPr/>
          <p:nvPr/>
        </p:nvSpPr>
        <p:spPr>
          <a:xfrm>
            <a:off x="6322219" y="1333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49" name="Text 47"/>
          <p:cNvSpPr/>
          <p:nvPr/>
        </p:nvSpPr>
        <p:spPr>
          <a:xfrm>
            <a:off x="6596063" y="1301750"/>
            <a:ext cx="154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Perspectives d'Évolution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8250" y="1619250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1" name="Shape 49"/>
          <p:cNvSpPr/>
          <p:nvPr/>
        </p:nvSpPr>
        <p:spPr>
          <a:xfrm>
            <a:off x="6318250" y="161925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1714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53" name="Shape 51"/>
          <p:cNvSpPr/>
          <p:nvPr/>
        </p:nvSpPr>
        <p:spPr>
          <a:xfrm>
            <a:off x="6520656" y="1817688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5209" y="-3473"/>
                </a:moveTo>
                <a:cubicBezTo>
                  <a:pt x="2322" y="-3473"/>
                  <a:pt x="0" y="-1150"/>
                  <a:pt x="0" y="1736"/>
                </a:cubicBezTo>
                <a:cubicBezTo>
                  <a:pt x="0" y="4623"/>
                  <a:pt x="2322" y="6945"/>
                  <a:pt x="5209" y="6945"/>
                </a:cubicBezTo>
                <a:lnTo>
                  <a:pt x="15041" y="6945"/>
                </a:lnTo>
                <a:cubicBezTo>
                  <a:pt x="15887" y="6945"/>
                  <a:pt x="16604" y="7553"/>
                  <a:pt x="16756" y="8378"/>
                </a:cubicBezTo>
                <a:lnTo>
                  <a:pt x="28063" y="70517"/>
                </a:lnTo>
                <a:cubicBezTo>
                  <a:pt x="29409" y="77939"/>
                  <a:pt x="35877" y="83344"/>
                  <a:pt x="43430" y="83344"/>
                </a:cubicBezTo>
                <a:lnTo>
                  <a:pt x="98971" y="83344"/>
                </a:lnTo>
                <a:cubicBezTo>
                  <a:pt x="101857" y="83344"/>
                  <a:pt x="104180" y="81021"/>
                  <a:pt x="104180" y="78135"/>
                </a:cubicBezTo>
                <a:cubicBezTo>
                  <a:pt x="104180" y="75248"/>
                  <a:pt x="101857" y="72926"/>
                  <a:pt x="98971" y="72926"/>
                </a:cubicBezTo>
                <a:lnTo>
                  <a:pt x="43430" y="72926"/>
                </a:lnTo>
                <a:cubicBezTo>
                  <a:pt x="40912" y="72926"/>
                  <a:pt x="38764" y="71124"/>
                  <a:pt x="38308" y="68650"/>
                </a:cubicBezTo>
                <a:lnTo>
                  <a:pt x="37201" y="62508"/>
                </a:lnTo>
                <a:lnTo>
                  <a:pt x="103094" y="62508"/>
                </a:lnTo>
                <a:cubicBezTo>
                  <a:pt x="109779" y="62508"/>
                  <a:pt x="115509" y="57755"/>
                  <a:pt x="116746" y="51178"/>
                </a:cubicBezTo>
                <a:lnTo>
                  <a:pt x="123475" y="15171"/>
                </a:lnTo>
                <a:cubicBezTo>
                  <a:pt x="124278" y="10895"/>
                  <a:pt x="121000" y="6945"/>
                  <a:pt x="116638" y="6945"/>
                </a:cubicBezTo>
                <a:lnTo>
                  <a:pt x="27065" y="6945"/>
                </a:lnTo>
                <a:lnTo>
                  <a:pt x="26978" y="6511"/>
                </a:lnTo>
                <a:cubicBezTo>
                  <a:pt x="25936" y="738"/>
                  <a:pt x="20901" y="-3473"/>
                  <a:pt x="15019" y="-3473"/>
                </a:cubicBezTo>
                <a:lnTo>
                  <a:pt x="5209" y="-3473"/>
                </a:lnTo>
                <a:close/>
                <a:moveTo>
                  <a:pt x="45145" y="111125"/>
                </a:moveTo>
                <a:cubicBezTo>
                  <a:pt x="50894" y="111125"/>
                  <a:pt x="55563" y="106457"/>
                  <a:pt x="55563" y="100707"/>
                </a:cubicBezTo>
                <a:cubicBezTo>
                  <a:pt x="55563" y="94957"/>
                  <a:pt x="50894" y="90289"/>
                  <a:pt x="45145" y="90289"/>
                </a:cubicBezTo>
                <a:cubicBezTo>
                  <a:pt x="39395" y="90289"/>
                  <a:pt x="34727" y="94957"/>
                  <a:pt x="34727" y="100707"/>
                </a:cubicBezTo>
                <a:cubicBezTo>
                  <a:pt x="34727" y="106457"/>
                  <a:pt x="39395" y="111125"/>
                  <a:pt x="45145" y="111125"/>
                </a:cubicBezTo>
                <a:close/>
                <a:moveTo>
                  <a:pt x="93762" y="111125"/>
                </a:moveTo>
                <a:cubicBezTo>
                  <a:pt x="99512" y="111125"/>
                  <a:pt x="104180" y="106457"/>
                  <a:pt x="104180" y="100707"/>
                </a:cubicBezTo>
                <a:cubicBezTo>
                  <a:pt x="104180" y="94957"/>
                  <a:pt x="99512" y="90289"/>
                  <a:pt x="93762" y="90289"/>
                </a:cubicBezTo>
                <a:cubicBezTo>
                  <a:pt x="88012" y="90289"/>
                  <a:pt x="83344" y="94957"/>
                  <a:pt x="83344" y="100707"/>
                </a:cubicBezTo>
                <a:cubicBezTo>
                  <a:pt x="83344" y="106457"/>
                  <a:pt x="88012" y="111125"/>
                  <a:pt x="93762" y="111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842125" y="1714500"/>
            <a:ext cx="454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Commandes Fournisseurs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42125" y="1936750"/>
            <a:ext cx="453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Ajout d'un module de gestion des commandes avec historique complet et suivi des livraisons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18250" y="2286000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7" name="Shape 55"/>
          <p:cNvSpPr/>
          <p:nvPr/>
        </p:nvSpPr>
        <p:spPr>
          <a:xfrm>
            <a:off x="6318250" y="228600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8" name="Shape 56"/>
          <p:cNvSpPr/>
          <p:nvPr/>
        </p:nvSpPr>
        <p:spPr>
          <a:xfrm>
            <a:off x="6429375" y="23812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9" name="Shape 57"/>
          <p:cNvSpPr/>
          <p:nvPr/>
        </p:nvSpPr>
        <p:spPr>
          <a:xfrm>
            <a:off x="6548438" y="2484438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3891" y="0"/>
                </a:moveTo>
                <a:cubicBezTo>
                  <a:pt x="6229" y="0"/>
                  <a:pt x="0" y="6229"/>
                  <a:pt x="0" y="13891"/>
                </a:cubicBezTo>
                <a:lnTo>
                  <a:pt x="0" y="97234"/>
                </a:lnTo>
                <a:cubicBezTo>
                  <a:pt x="0" y="104896"/>
                  <a:pt x="6229" y="111125"/>
                  <a:pt x="13891" y="111125"/>
                </a:cubicBezTo>
                <a:lnTo>
                  <a:pt x="69453" y="111125"/>
                </a:lnTo>
                <a:cubicBezTo>
                  <a:pt x="77115" y="111125"/>
                  <a:pt x="83344" y="104896"/>
                  <a:pt x="83344" y="97234"/>
                </a:cubicBezTo>
                <a:lnTo>
                  <a:pt x="83344" y="13891"/>
                </a:lnTo>
                <a:cubicBezTo>
                  <a:pt x="83344" y="6229"/>
                  <a:pt x="77115" y="0"/>
                  <a:pt x="69453" y="0"/>
                </a:cubicBezTo>
                <a:lnTo>
                  <a:pt x="13891" y="0"/>
                </a:lnTo>
                <a:close/>
                <a:moveTo>
                  <a:pt x="20836" y="13891"/>
                </a:moveTo>
                <a:lnTo>
                  <a:pt x="62508" y="13891"/>
                </a:lnTo>
                <a:cubicBezTo>
                  <a:pt x="66349" y="13891"/>
                  <a:pt x="69453" y="16994"/>
                  <a:pt x="69453" y="20836"/>
                </a:cubicBezTo>
                <a:lnTo>
                  <a:pt x="69453" y="27781"/>
                </a:lnTo>
                <a:cubicBezTo>
                  <a:pt x="69453" y="31623"/>
                  <a:pt x="66349" y="34727"/>
                  <a:pt x="62508" y="34727"/>
                </a:cubicBezTo>
                <a:lnTo>
                  <a:pt x="20836" y="34727"/>
                </a:lnTo>
                <a:cubicBezTo>
                  <a:pt x="16994" y="34727"/>
                  <a:pt x="13891" y="31623"/>
                  <a:pt x="13891" y="27781"/>
                </a:cubicBezTo>
                <a:lnTo>
                  <a:pt x="13891" y="20836"/>
                </a:lnTo>
                <a:cubicBezTo>
                  <a:pt x="13891" y="16994"/>
                  <a:pt x="16994" y="13891"/>
                  <a:pt x="20836" y="13891"/>
                </a:cubicBezTo>
                <a:close/>
                <a:moveTo>
                  <a:pt x="24309" y="50354"/>
                </a:moveTo>
                <a:cubicBezTo>
                  <a:pt x="24309" y="53228"/>
                  <a:pt x="21975" y="55563"/>
                  <a:pt x="19100" y="55563"/>
                </a:cubicBezTo>
                <a:cubicBezTo>
                  <a:pt x="16225" y="55563"/>
                  <a:pt x="13891" y="53228"/>
                  <a:pt x="13891" y="50354"/>
                </a:cubicBezTo>
                <a:cubicBezTo>
                  <a:pt x="13891" y="47479"/>
                  <a:pt x="16225" y="45145"/>
                  <a:pt x="19100" y="45145"/>
                </a:cubicBezTo>
                <a:cubicBezTo>
                  <a:pt x="21975" y="45145"/>
                  <a:pt x="24309" y="47479"/>
                  <a:pt x="24309" y="50354"/>
                </a:cubicBezTo>
                <a:close/>
                <a:moveTo>
                  <a:pt x="41672" y="55563"/>
                </a:moveTo>
                <a:cubicBezTo>
                  <a:pt x="38797" y="55563"/>
                  <a:pt x="36463" y="53228"/>
                  <a:pt x="36463" y="50354"/>
                </a:cubicBezTo>
                <a:cubicBezTo>
                  <a:pt x="36463" y="47479"/>
                  <a:pt x="38797" y="45145"/>
                  <a:pt x="41672" y="45145"/>
                </a:cubicBezTo>
                <a:cubicBezTo>
                  <a:pt x="44547" y="45145"/>
                  <a:pt x="46881" y="47479"/>
                  <a:pt x="46881" y="50354"/>
                </a:cubicBezTo>
                <a:cubicBezTo>
                  <a:pt x="46881" y="53228"/>
                  <a:pt x="44547" y="55563"/>
                  <a:pt x="41672" y="55563"/>
                </a:cubicBezTo>
                <a:close/>
                <a:moveTo>
                  <a:pt x="69453" y="50354"/>
                </a:moveTo>
                <a:cubicBezTo>
                  <a:pt x="69453" y="53228"/>
                  <a:pt x="67119" y="55563"/>
                  <a:pt x="64244" y="55563"/>
                </a:cubicBezTo>
                <a:cubicBezTo>
                  <a:pt x="61369" y="55563"/>
                  <a:pt x="59035" y="53228"/>
                  <a:pt x="59035" y="50354"/>
                </a:cubicBezTo>
                <a:cubicBezTo>
                  <a:pt x="59035" y="47479"/>
                  <a:pt x="61369" y="45145"/>
                  <a:pt x="64244" y="45145"/>
                </a:cubicBezTo>
                <a:cubicBezTo>
                  <a:pt x="67119" y="45145"/>
                  <a:pt x="69453" y="47479"/>
                  <a:pt x="69453" y="50354"/>
                </a:cubicBezTo>
                <a:close/>
                <a:moveTo>
                  <a:pt x="19100" y="76398"/>
                </a:moveTo>
                <a:cubicBezTo>
                  <a:pt x="16225" y="76398"/>
                  <a:pt x="13891" y="74064"/>
                  <a:pt x="13891" y="71189"/>
                </a:cubicBezTo>
                <a:cubicBezTo>
                  <a:pt x="13891" y="68315"/>
                  <a:pt x="16225" y="65980"/>
                  <a:pt x="19100" y="65980"/>
                </a:cubicBezTo>
                <a:cubicBezTo>
                  <a:pt x="21975" y="65980"/>
                  <a:pt x="24309" y="68315"/>
                  <a:pt x="24309" y="71189"/>
                </a:cubicBezTo>
                <a:cubicBezTo>
                  <a:pt x="24309" y="74064"/>
                  <a:pt x="21975" y="76398"/>
                  <a:pt x="19100" y="76398"/>
                </a:cubicBezTo>
                <a:close/>
                <a:moveTo>
                  <a:pt x="46881" y="71189"/>
                </a:moveTo>
                <a:cubicBezTo>
                  <a:pt x="46881" y="74064"/>
                  <a:pt x="44547" y="76398"/>
                  <a:pt x="41672" y="76398"/>
                </a:cubicBezTo>
                <a:cubicBezTo>
                  <a:pt x="38797" y="76398"/>
                  <a:pt x="36463" y="74064"/>
                  <a:pt x="36463" y="71189"/>
                </a:cubicBezTo>
                <a:cubicBezTo>
                  <a:pt x="36463" y="68315"/>
                  <a:pt x="38797" y="65980"/>
                  <a:pt x="41672" y="65980"/>
                </a:cubicBezTo>
                <a:cubicBezTo>
                  <a:pt x="44547" y="65980"/>
                  <a:pt x="46881" y="68315"/>
                  <a:pt x="46881" y="71189"/>
                </a:cubicBezTo>
                <a:close/>
                <a:moveTo>
                  <a:pt x="64244" y="76398"/>
                </a:moveTo>
                <a:cubicBezTo>
                  <a:pt x="61369" y="76398"/>
                  <a:pt x="59035" y="74064"/>
                  <a:pt x="59035" y="71189"/>
                </a:cubicBezTo>
                <a:cubicBezTo>
                  <a:pt x="59035" y="68315"/>
                  <a:pt x="61369" y="65980"/>
                  <a:pt x="64244" y="65980"/>
                </a:cubicBezTo>
                <a:cubicBezTo>
                  <a:pt x="67119" y="65980"/>
                  <a:pt x="69453" y="68315"/>
                  <a:pt x="69453" y="71189"/>
                </a:cubicBezTo>
                <a:cubicBezTo>
                  <a:pt x="69453" y="74064"/>
                  <a:pt x="67119" y="76398"/>
                  <a:pt x="64244" y="76398"/>
                </a:cubicBezTo>
                <a:close/>
                <a:moveTo>
                  <a:pt x="13891" y="92025"/>
                </a:moveTo>
                <a:cubicBezTo>
                  <a:pt x="13891" y="89139"/>
                  <a:pt x="16213" y="86816"/>
                  <a:pt x="19100" y="86816"/>
                </a:cubicBezTo>
                <a:lnTo>
                  <a:pt x="43408" y="86816"/>
                </a:lnTo>
                <a:cubicBezTo>
                  <a:pt x="46295" y="86816"/>
                  <a:pt x="48617" y="89139"/>
                  <a:pt x="48617" y="92025"/>
                </a:cubicBezTo>
                <a:cubicBezTo>
                  <a:pt x="48617" y="94912"/>
                  <a:pt x="46295" y="97234"/>
                  <a:pt x="43408" y="97234"/>
                </a:cubicBezTo>
                <a:lnTo>
                  <a:pt x="19100" y="97234"/>
                </a:lnTo>
                <a:cubicBezTo>
                  <a:pt x="16213" y="97234"/>
                  <a:pt x="13891" y="94912"/>
                  <a:pt x="13891" y="92025"/>
                </a:cubicBezTo>
                <a:close/>
                <a:moveTo>
                  <a:pt x="64244" y="86816"/>
                </a:moveTo>
                <a:cubicBezTo>
                  <a:pt x="67131" y="86816"/>
                  <a:pt x="69453" y="89139"/>
                  <a:pt x="69453" y="92025"/>
                </a:cubicBezTo>
                <a:cubicBezTo>
                  <a:pt x="69453" y="94912"/>
                  <a:pt x="67131" y="97234"/>
                  <a:pt x="64244" y="97234"/>
                </a:cubicBezTo>
                <a:cubicBezTo>
                  <a:pt x="61357" y="97234"/>
                  <a:pt x="59035" y="94912"/>
                  <a:pt x="59035" y="92025"/>
                </a:cubicBezTo>
                <a:cubicBezTo>
                  <a:pt x="59035" y="89139"/>
                  <a:pt x="61357" y="86816"/>
                  <a:pt x="64244" y="868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842125" y="23812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Comptabilité Analytique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42125" y="2603500"/>
            <a:ext cx="380206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Intégration de la gestion des coûts, calcul des marges par recette et par menu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18250" y="2952750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3" name="Shape 61"/>
          <p:cNvSpPr/>
          <p:nvPr/>
        </p:nvSpPr>
        <p:spPr>
          <a:xfrm>
            <a:off x="6318250" y="295275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4" name="Shape 62"/>
          <p:cNvSpPr/>
          <p:nvPr/>
        </p:nvSpPr>
        <p:spPr>
          <a:xfrm>
            <a:off x="6429375" y="3048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5" name="Shape 63"/>
          <p:cNvSpPr/>
          <p:nvPr/>
        </p:nvSpPr>
        <p:spPr>
          <a:xfrm>
            <a:off x="6541492" y="315118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27781" y="0"/>
                </a:moveTo>
                <a:cubicBezTo>
                  <a:pt x="31623" y="0"/>
                  <a:pt x="34727" y="3104"/>
                  <a:pt x="34727" y="6945"/>
                </a:cubicBezTo>
                <a:lnTo>
                  <a:pt x="34727" y="13891"/>
                </a:lnTo>
                <a:lnTo>
                  <a:pt x="62508" y="13891"/>
                </a:lnTo>
                <a:lnTo>
                  <a:pt x="62508" y="6945"/>
                </a:lnTo>
                <a:cubicBezTo>
                  <a:pt x="62508" y="3104"/>
                  <a:pt x="65611" y="0"/>
                  <a:pt x="69453" y="0"/>
                </a:cubicBezTo>
                <a:cubicBezTo>
                  <a:pt x="73295" y="0"/>
                  <a:pt x="76398" y="3104"/>
                  <a:pt x="76398" y="6945"/>
                </a:cubicBezTo>
                <a:lnTo>
                  <a:pt x="76398" y="13891"/>
                </a:lnTo>
                <a:lnTo>
                  <a:pt x="83344" y="13891"/>
                </a:lnTo>
                <a:cubicBezTo>
                  <a:pt x="91005" y="13891"/>
                  <a:pt x="97234" y="20120"/>
                  <a:pt x="97234" y="27781"/>
                </a:cubicBezTo>
                <a:lnTo>
                  <a:pt x="97234" y="90289"/>
                </a:lnTo>
                <a:cubicBezTo>
                  <a:pt x="97234" y="97951"/>
                  <a:pt x="91005" y="104180"/>
                  <a:pt x="83344" y="104180"/>
                </a:cubicBezTo>
                <a:lnTo>
                  <a:pt x="13891" y="104180"/>
                </a:lnTo>
                <a:cubicBezTo>
                  <a:pt x="6229" y="104180"/>
                  <a:pt x="0" y="97951"/>
                  <a:pt x="0" y="90289"/>
                </a:cubicBezTo>
                <a:lnTo>
                  <a:pt x="0" y="27781"/>
                </a:lnTo>
                <a:cubicBezTo>
                  <a:pt x="0" y="20120"/>
                  <a:pt x="6229" y="13891"/>
                  <a:pt x="13891" y="13891"/>
                </a:cubicBezTo>
                <a:lnTo>
                  <a:pt x="20836" y="13891"/>
                </a:lnTo>
                <a:lnTo>
                  <a:pt x="20836" y="6945"/>
                </a:lnTo>
                <a:cubicBezTo>
                  <a:pt x="20836" y="3104"/>
                  <a:pt x="23940" y="0"/>
                  <a:pt x="27781" y="0"/>
                </a:cubicBezTo>
                <a:close/>
                <a:moveTo>
                  <a:pt x="13891" y="52090"/>
                </a:moveTo>
                <a:lnTo>
                  <a:pt x="13891" y="59035"/>
                </a:lnTo>
                <a:cubicBezTo>
                  <a:pt x="13891" y="60945"/>
                  <a:pt x="15453" y="62508"/>
                  <a:pt x="17363" y="62508"/>
                </a:cubicBezTo>
                <a:lnTo>
                  <a:pt x="24309" y="62508"/>
                </a:lnTo>
                <a:cubicBezTo>
                  <a:pt x="26219" y="62508"/>
                  <a:pt x="27781" y="60945"/>
                  <a:pt x="27781" y="59035"/>
                </a:cubicBezTo>
                <a:lnTo>
                  <a:pt x="27781" y="52090"/>
                </a:lnTo>
                <a:cubicBezTo>
                  <a:pt x="27781" y="50180"/>
                  <a:pt x="26219" y="48617"/>
                  <a:pt x="24309" y="48617"/>
                </a:cubicBezTo>
                <a:lnTo>
                  <a:pt x="17363" y="48617"/>
                </a:lnTo>
                <a:cubicBezTo>
                  <a:pt x="15453" y="48617"/>
                  <a:pt x="13891" y="50180"/>
                  <a:pt x="13891" y="52090"/>
                </a:cubicBezTo>
                <a:close/>
                <a:moveTo>
                  <a:pt x="41672" y="52090"/>
                </a:moveTo>
                <a:lnTo>
                  <a:pt x="41672" y="59035"/>
                </a:lnTo>
                <a:cubicBezTo>
                  <a:pt x="41672" y="60945"/>
                  <a:pt x="43235" y="62508"/>
                  <a:pt x="45145" y="62508"/>
                </a:cubicBezTo>
                <a:lnTo>
                  <a:pt x="52090" y="62508"/>
                </a:lnTo>
                <a:cubicBezTo>
                  <a:pt x="54000" y="62508"/>
                  <a:pt x="55563" y="60945"/>
                  <a:pt x="55563" y="59035"/>
                </a:cubicBezTo>
                <a:lnTo>
                  <a:pt x="55563" y="52090"/>
                </a:lnTo>
                <a:cubicBezTo>
                  <a:pt x="55563" y="50180"/>
                  <a:pt x="54000" y="48617"/>
                  <a:pt x="52090" y="48617"/>
                </a:cubicBezTo>
                <a:lnTo>
                  <a:pt x="45145" y="48617"/>
                </a:lnTo>
                <a:cubicBezTo>
                  <a:pt x="43235" y="48617"/>
                  <a:pt x="41672" y="50180"/>
                  <a:pt x="41672" y="52090"/>
                </a:cubicBezTo>
                <a:close/>
                <a:moveTo>
                  <a:pt x="72926" y="48617"/>
                </a:moveTo>
                <a:cubicBezTo>
                  <a:pt x="71016" y="48617"/>
                  <a:pt x="69453" y="50180"/>
                  <a:pt x="69453" y="52090"/>
                </a:cubicBezTo>
                <a:lnTo>
                  <a:pt x="69453" y="59035"/>
                </a:lnTo>
                <a:cubicBezTo>
                  <a:pt x="69453" y="60945"/>
                  <a:pt x="71016" y="62508"/>
                  <a:pt x="72926" y="62508"/>
                </a:cubicBezTo>
                <a:lnTo>
                  <a:pt x="79871" y="62508"/>
                </a:lnTo>
                <a:cubicBezTo>
                  <a:pt x="81781" y="62508"/>
                  <a:pt x="83344" y="60945"/>
                  <a:pt x="83344" y="59035"/>
                </a:cubicBezTo>
                <a:lnTo>
                  <a:pt x="83344" y="52090"/>
                </a:lnTo>
                <a:cubicBezTo>
                  <a:pt x="83344" y="50180"/>
                  <a:pt x="81781" y="48617"/>
                  <a:pt x="79871" y="48617"/>
                </a:cubicBezTo>
                <a:lnTo>
                  <a:pt x="72926" y="48617"/>
                </a:lnTo>
                <a:close/>
                <a:moveTo>
                  <a:pt x="13891" y="79871"/>
                </a:moveTo>
                <a:lnTo>
                  <a:pt x="13891" y="86816"/>
                </a:lnTo>
                <a:cubicBezTo>
                  <a:pt x="13891" y="88726"/>
                  <a:pt x="15453" y="90289"/>
                  <a:pt x="17363" y="90289"/>
                </a:cubicBezTo>
                <a:lnTo>
                  <a:pt x="24309" y="90289"/>
                </a:lnTo>
                <a:cubicBezTo>
                  <a:pt x="26219" y="90289"/>
                  <a:pt x="27781" y="88726"/>
                  <a:pt x="27781" y="86816"/>
                </a:cubicBezTo>
                <a:lnTo>
                  <a:pt x="27781" y="79871"/>
                </a:lnTo>
                <a:cubicBezTo>
                  <a:pt x="27781" y="77961"/>
                  <a:pt x="26219" y="76398"/>
                  <a:pt x="24309" y="76398"/>
                </a:cubicBezTo>
                <a:lnTo>
                  <a:pt x="17363" y="76398"/>
                </a:lnTo>
                <a:cubicBezTo>
                  <a:pt x="15453" y="76398"/>
                  <a:pt x="13891" y="77961"/>
                  <a:pt x="13891" y="79871"/>
                </a:cubicBezTo>
                <a:close/>
                <a:moveTo>
                  <a:pt x="45145" y="76398"/>
                </a:moveTo>
                <a:cubicBezTo>
                  <a:pt x="43235" y="76398"/>
                  <a:pt x="41672" y="77961"/>
                  <a:pt x="41672" y="79871"/>
                </a:cubicBezTo>
                <a:lnTo>
                  <a:pt x="41672" y="86816"/>
                </a:lnTo>
                <a:cubicBezTo>
                  <a:pt x="41672" y="88726"/>
                  <a:pt x="43235" y="90289"/>
                  <a:pt x="45145" y="90289"/>
                </a:cubicBezTo>
                <a:lnTo>
                  <a:pt x="52090" y="90289"/>
                </a:lnTo>
                <a:cubicBezTo>
                  <a:pt x="54000" y="90289"/>
                  <a:pt x="55563" y="88726"/>
                  <a:pt x="55563" y="86816"/>
                </a:cubicBezTo>
                <a:lnTo>
                  <a:pt x="55563" y="79871"/>
                </a:lnTo>
                <a:cubicBezTo>
                  <a:pt x="55563" y="77961"/>
                  <a:pt x="54000" y="76398"/>
                  <a:pt x="52090" y="76398"/>
                </a:cubicBezTo>
                <a:lnTo>
                  <a:pt x="45145" y="76398"/>
                </a:lnTo>
                <a:close/>
                <a:moveTo>
                  <a:pt x="69453" y="79871"/>
                </a:moveTo>
                <a:lnTo>
                  <a:pt x="69453" y="86816"/>
                </a:lnTo>
                <a:cubicBezTo>
                  <a:pt x="69453" y="88726"/>
                  <a:pt x="71016" y="90289"/>
                  <a:pt x="72926" y="90289"/>
                </a:cubicBezTo>
                <a:lnTo>
                  <a:pt x="79871" y="90289"/>
                </a:lnTo>
                <a:cubicBezTo>
                  <a:pt x="81781" y="90289"/>
                  <a:pt x="83344" y="88726"/>
                  <a:pt x="83344" y="86816"/>
                </a:cubicBezTo>
                <a:lnTo>
                  <a:pt x="83344" y="79871"/>
                </a:lnTo>
                <a:cubicBezTo>
                  <a:pt x="83344" y="77961"/>
                  <a:pt x="81781" y="76398"/>
                  <a:pt x="79871" y="76398"/>
                </a:cubicBezTo>
                <a:lnTo>
                  <a:pt x="72926" y="76398"/>
                </a:lnTo>
                <a:cubicBezTo>
                  <a:pt x="71016" y="76398"/>
                  <a:pt x="69453" y="77961"/>
                  <a:pt x="69453" y="798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6842125" y="3048000"/>
            <a:ext cx="388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Planification des Productions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42125" y="3270250"/>
            <a:ext cx="3873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Développement d'un module de planification avec optimisation des ressources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18250" y="3619500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9" name="Shape 67"/>
          <p:cNvSpPr/>
          <p:nvPr/>
        </p:nvSpPr>
        <p:spPr>
          <a:xfrm>
            <a:off x="6318250" y="361950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0" name="Shape 68"/>
          <p:cNvSpPr/>
          <p:nvPr/>
        </p:nvSpPr>
        <p:spPr>
          <a:xfrm>
            <a:off x="6429375" y="37147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C5282"/>
          </a:solidFill>
          <a:ln/>
        </p:spPr>
      </p:sp>
      <p:sp>
        <p:nvSpPr>
          <p:cNvPr id="71" name="Shape 69"/>
          <p:cNvSpPr/>
          <p:nvPr/>
        </p:nvSpPr>
        <p:spPr>
          <a:xfrm>
            <a:off x="6534547" y="381793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6945"/>
                </a:moveTo>
                <a:cubicBezTo>
                  <a:pt x="6229" y="6945"/>
                  <a:pt x="0" y="13174"/>
                  <a:pt x="0" y="20836"/>
                </a:cubicBezTo>
                <a:lnTo>
                  <a:pt x="0" y="76398"/>
                </a:lnTo>
                <a:cubicBezTo>
                  <a:pt x="0" y="84060"/>
                  <a:pt x="6229" y="90289"/>
                  <a:pt x="13891" y="90289"/>
                </a:cubicBezTo>
                <a:lnTo>
                  <a:pt x="45145" y="90289"/>
                </a:lnTo>
                <a:lnTo>
                  <a:pt x="41672" y="100707"/>
                </a:lnTo>
                <a:lnTo>
                  <a:pt x="26045" y="100707"/>
                </a:lnTo>
                <a:cubicBezTo>
                  <a:pt x="23158" y="100707"/>
                  <a:pt x="20836" y="103029"/>
                  <a:pt x="20836" y="105916"/>
                </a:cubicBezTo>
                <a:cubicBezTo>
                  <a:pt x="20836" y="108803"/>
                  <a:pt x="23158" y="111125"/>
                  <a:pt x="26045" y="111125"/>
                </a:cubicBezTo>
                <a:lnTo>
                  <a:pt x="85080" y="111125"/>
                </a:lnTo>
                <a:cubicBezTo>
                  <a:pt x="87967" y="111125"/>
                  <a:pt x="90289" y="108803"/>
                  <a:pt x="90289" y="105916"/>
                </a:cubicBezTo>
                <a:cubicBezTo>
                  <a:pt x="90289" y="103029"/>
                  <a:pt x="87967" y="100707"/>
                  <a:pt x="85080" y="100707"/>
                </a:cubicBezTo>
                <a:lnTo>
                  <a:pt x="69453" y="100707"/>
                </a:lnTo>
                <a:lnTo>
                  <a:pt x="65980" y="90289"/>
                </a:lnTo>
                <a:lnTo>
                  <a:pt x="97234" y="90289"/>
                </a:lnTo>
                <a:cubicBezTo>
                  <a:pt x="104896" y="90289"/>
                  <a:pt x="111125" y="84060"/>
                  <a:pt x="111125" y="76398"/>
                </a:cubicBezTo>
                <a:lnTo>
                  <a:pt x="111125" y="20836"/>
                </a:lnTo>
                <a:cubicBezTo>
                  <a:pt x="111125" y="13174"/>
                  <a:pt x="104896" y="6945"/>
                  <a:pt x="97234" y="6945"/>
                </a:cubicBezTo>
                <a:lnTo>
                  <a:pt x="13891" y="6945"/>
                </a:lnTo>
                <a:close/>
                <a:moveTo>
                  <a:pt x="20836" y="20836"/>
                </a:moveTo>
                <a:lnTo>
                  <a:pt x="90289" y="20836"/>
                </a:lnTo>
                <a:cubicBezTo>
                  <a:pt x="94131" y="20836"/>
                  <a:pt x="97234" y="23940"/>
                  <a:pt x="97234" y="27781"/>
                </a:cubicBezTo>
                <a:lnTo>
                  <a:pt x="97234" y="62508"/>
                </a:lnTo>
                <a:cubicBezTo>
                  <a:pt x="97234" y="66349"/>
                  <a:pt x="94131" y="69453"/>
                  <a:pt x="90289" y="69453"/>
                </a:cubicBezTo>
                <a:lnTo>
                  <a:pt x="20836" y="69453"/>
                </a:lnTo>
                <a:cubicBezTo>
                  <a:pt x="16994" y="69453"/>
                  <a:pt x="13891" y="66349"/>
                  <a:pt x="13891" y="62508"/>
                </a:cubicBezTo>
                <a:lnTo>
                  <a:pt x="13891" y="27781"/>
                </a:lnTo>
                <a:cubicBezTo>
                  <a:pt x="13891" y="23940"/>
                  <a:pt x="16994" y="20836"/>
                  <a:pt x="20836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842125" y="3714750"/>
            <a:ext cx="382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Interfaces Utilisateur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842125" y="3937000"/>
            <a:ext cx="381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Création d'interfaces web et mobile pour faciliter l'exploitation par les équipes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318250" y="4286250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31750" y="0"/>
                </a:moveTo>
                <a:lnTo>
                  <a:pt x="5397497" y="0"/>
                </a:lnTo>
                <a:cubicBezTo>
                  <a:pt x="5415034" y="0"/>
                  <a:pt x="5429250" y="14216"/>
                  <a:pt x="5429250" y="31753"/>
                </a:cubicBezTo>
                <a:lnTo>
                  <a:pt x="5429250" y="539747"/>
                </a:lnTo>
                <a:cubicBezTo>
                  <a:pt x="5429250" y="557284"/>
                  <a:pt x="5415034" y="571500"/>
                  <a:pt x="5397497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5" name="Shape 73"/>
          <p:cNvSpPr/>
          <p:nvPr/>
        </p:nvSpPr>
        <p:spPr>
          <a:xfrm>
            <a:off x="6318250" y="428625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76" name="Shape 74"/>
          <p:cNvSpPr/>
          <p:nvPr/>
        </p:nvSpPr>
        <p:spPr>
          <a:xfrm>
            <a:off x="6429375" y="4381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77" name="Shape 75"/>
          <p:cNvSpPr/>
          <p:nvPr/>
        </p:nvSpPr>
        <p:spPr>
          <a:xfrm>
            <a:off x="6534547" y="44846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6561" y="0"/>
                  <a:pt x="57559" y="217"/>
                  <a:pt x="58471" y="629"/>
                </a:cubicBezTo>
                <a:lnTo>
                  <a:pt x="99361" y="17971"/>
                </a:lnTo>
                <a:cubicBezTo>
                  <a:pt x="104136" y="19989"/>
                  <a:pt x="107696" y="24699"/>
                  <a:pt x="107674" y="30386"/>
                </a:cubicBezTo>
                <a:cubicBezTo>
                  <a:pt x="107566" y="51916"/>
                  <a:pt x="98710" y="91309"/>
                  <a:pt x="61314" y="109215"/>
                </a:cubicBezTo>
                <a:cubicBezTo>
                  <a:pt x="57690" y="110951"/>
                  <a:pt x="53479" y="110951"/>
                  <a:pt x="49854" y="109215"/>
                </a:cubicBezTo>
                <a:cubicBezTo>
                  <a:pt x="12436" y="91309"/>
                  <a:pt x="3603" y="51916"/>
                  <a:pt x="3494" y="30386"/>
                </a:cubicBezTo>
                <a:cubicBezTo>
                  <a:pt x="3473" y="24699"/>
                  <a:pt x="7032" y="19989"/>
                  <a:pt x="11807" y="17971"/>
                </a:cubicBezTo>
                <a:lnTo>
                  <a:pt x="52676" y="629"/>
                </a:lnTo>
                <a:cubicBezTo>
                  <a:pt x="53587" y="217"/>
                  <a:pt x="54564" y="0"/>
                  <a:pt x="55563" y="0"/>
                </a:cubicBezTo>
                <a:close/>
                <a:moveTo>
                  <a:pt x="55563" y="14498"/>
                </a:moveTo>
                <a:lnTo>
                  <a:pt x="55563" y="96562"/>
                </a:lnTo>
                <a:cubicBezTo>
                  <a:pt x="85514" y="82063"/>
                  <a:pt x="93566" y="49941"/>
                  <a:pt x="93762" y="30711"/>
                </a:cubicBezTo>
                <a:lnTo>
                  <a:pt x="55563" y="14520"/>
                </a:lnTo>
                <a:lnTo>
                  <a:pt x="55563" y="145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6842125" y="4381500"/>
            <a:ext cx="400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C5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 et Contrôle d'Accès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842125" y="4603750"/>
            <a:ext cx="400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Implémentation de mécanismes de sécurité avec authentification et autorisations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178550" y="5114925"/>
            <a:ext cx="5689600" cy="1371600"/>
          </a:xfrm>
          <a:custGeom>
            <a:avLst/>
            <a:gdLst/>
            <a:ahLst/>
            <a:cxnLst/>
            <a:rect l="l" t="t" r="r" b="b"/>
            <a:pathLst>
              <a:path w="5689600" h="1371600">
                <a:moveTo>
                  <a:pt x="63505" y="0"/>
                </a:moveTo>
                <a:lnTo>
                  <a:pt x="5626095" y="0"/>
                </a:lnTo>
                <a:cubicBezTo>
                  <a:pt x="5661168" y="0"/>
                  <a:pt x="5689600" y="28432"/>
                  <a:pt x="5689600" y="63505"/>
                </a:cubicBezTo>
                <a:lnTo>
                  <a:pt x="5689600" y="1308095"/>
                </a:lnTo>
                <a:cubicBezTo>
                  <a:pt x="5689600" y="1343168"/>
                  <a:pt x="5661168" y="1371600"/>
                  <a:pt x="5626095" y="1371600"/>
                </a:cubicBezTo>
                <a:lnTo>
                  <a:pt x="63505" y="1371600"/>
                </a:lnTo>
                <a:cubicBezTo>
                  <a:pt x="28432" y="1371600"/>
                  <a:pt x="0" y="1343168"/>
                  <a:pt x="0" y="13080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C6A84E">
              <a:alpha val="10196"/>
            </a:srgbClr>
          </a:solidFill>
          <a:ln w="10160">
            <a:solidFill>
              <a:srgbClr val="C6A84E">
                <a:alpha val="30196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16662" y="5292723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82" name="Text 80"/>
          <p:cNvSpPr/>
          <p:nvPr/>
        </p:nvSpPr>
        <p:spPr>
          <a:xfrm>
            <a:off x="6562725" y="5245098"/>
            <a:ext cx="72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C528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308725" y="5530848"/>
            <a:ext cx="54927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 projet a permis de </a:t>
            </a:r>
            <a:r>
              <a:rPr lang="en-US" sz="1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mettre en pratique les concepts théoriques fondamentaux</a:t>
            </a:r>
            <a:r>
              <a:rPr lang="en-US" sz="10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 bases de données relationnelles. La maîtrise de ces concepts est essentielle pour tout ingénieur en informatique, car les bases de données constituent le </a:t>
            </a:r>
            <a:r>
              <a:rPr lang="en-US" sz="1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socle de la plupart des systèmes d'information modernes</a:t>
            </a:r>
            <a:r>
              <a:rPr lang="en-US" sz="10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scoffier.edu/18a34206b48723dcb29d3b9be877251173d13b64.jpe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2C5282">
                  <a:alpha val="85000"/>
                </a:srgbClr>
              </a:gs>
              <a:gs pos="100000">
                <a:srgbClr val="1A202C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86241" y="21716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5" name="Text 2"/>
          <p:cNvSpPr/>
          <p:nvPr/>
        </p:nvSpPr>
        <p:spPr>
          <a:xfrm>
            <a:off x="3846036" y="560068"/>
            <a:ext cx="449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Merci de votre</a:t>
            </a:r>
            <a:endParaRPr lang="en-US" sz="1600" dirty="0"/>
          </a:p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9F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241" y="2160277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6A84E"/>
          </a:solidFill>
          <a:ln/>
        </p:spPr>
      </p:sp>
      <p:sp>
        <p:nvSpPr>
          <p:cNvPr id="7" name="Text 4"/>
          <p:cNvSpPr/>
          <p:nvPr/>
        </p:nvSpPr>
        <p:spPr>
          <a:xfrm>
            <a:off x="3946049" y="2503177"/>
            <a:ext cx="429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8F9FA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63228" y="3611887"/>
            <a:ext cx="6265545" cy="3027045"/>
          </a:xfrm>
          <a:custGeom>
            <a:avLst/>
            <a:gdLst/>
            <a:ahLst/>
            <a:cxnLst/>
            <a:rect l="l" t="t" r="r" b="b"/>
            <a:pathLst>
              <a:path w="6265545" h="3027045">
                <a:moveTo>
                  <a:pt x="76191" y="0"/>
                </a:moveTo>
                <a:lnTo>
                  <a:pt x="6189354" y="0"/>
                </a:lnTo>
                <a:cubicBezTo>
                  <a:pt x="6231433" y="0"/>
                  <a:pt x="6265545" y="34112"/>
                  <a:pt x="6265545" y="76191"/>
                </a:cubicBezTo>
                <a:lnTo>
                  <a:pt x="6265545" y="2950854"/>
                </a:lnTo>
                <a:cubicBezTo>
                  <a:pt x="6265545" y="2992933"/>
                  <a:pt x="6231433" y="3027045"/>
                  <a:pt x="6189354" y="3027045"/>
                </a:cubicBezTo>
                <a:lnTo>
                  <a:pt x="76191" y="3027045"/>
                </a:lnTo>
                <a:cubicBezTo>
                  <a:pt x="34140" y="3027045"/>
                  <a:pt x="0" y="2992905"/>
                  <a:pt x="0" y="295085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C6A84E">
                <a:alpha val="3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71838" y="3920486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EXPOSANTS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71838" y="4263386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itchFamily="34" charset="0"/>
                <a:ea typeface="Liter" pitchFamily="34" charset="-122"/>
                <a:cs typeface="Liter" pitchFamily="34" charset="-120"/>
              </a:rPr>
              <a:t>SAKAM KAMGANG</a:t>
            </a:r>
            <a:endParaRPr lang="en-US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 8"/>
          <p:cNvSpPr/>
          <p:nvPr/>
        </p:nvSpPr>
        <p:spPr>
          <a:xfrm>
            <a:off x="3271838" y="4530086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itchFamily="34" charset="0"/>
                <a:ea typeface="Liter" pitchFamily="34" charset="-122"/>
                <a:cs typeface="Liter" pitchFamily="34" charset="-120"/>
              </a:rPr>
              <a:t>SAMIRA AOUDOU</a:t>
            </a:r>
            <a:endParaRPr lang="en-US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 9"/>
          <p:cNvSpPr/>
          <p:nvPr/>
        </p:nvSpPr>
        <p:spPr>
          <a:xfrm>
            <a:off x="3271838" y="4796786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itchFamily="34" charset="0"/>
                <a:ea typeface="Liter" pitchFamily="34" charset="-122"/>
                <a:cs typeface="Liter" pitchFamily="34" charset="-120"/>
              </a:rPr>
              <a:t>NEGUIM MAXIM</a:t>
            </a:r>
            <a:endParaRPr lang="en-US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71838" y="5063486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ter" pitchFamily="34" charset="0"/>
                <a:ea typeface="Liter" pitchFamily="34" charset="-122"/>
                <a:cs typeface="Liter" pitchFamily="34" charset="-120"/>
              </a:rPr>
              <a:t>MINYEMMECK</a:t>
            </a:r>
            <a:endParaRPr lang="en-US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48400" y="3920486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6A8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RESSOURCES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72213" y="43071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233" y="133075"/>
                </a:moveTo>
                <a:cubicBezTo>
                  <a:pt x="58233" y="133744"/>
                  <a:pt x="57463" y="134280"/>
                  <a:pt x="56491" y="134280"/>
                </a:cubicBezTo>
                <a:cubicBezTo>
                  <a:pt x="55386" y="134381"/>
                  <a:pt x="54616" y="133845"/>
                  <a:pt x="54616" y="133075"/>
                </a:cubicBezTo>
                <a:cubicBezTo>
                  <a:pt x="54616" y="132405"/>
                  <a:pt x="55386" y="131869"/>
                  <a:pt x="56357" y="131869"/>
                </a:cubicBezTo>
                <a:cubicBezTo>
                  <a:pt x="57362" y="131769"/>
                  <a:pt x="58233" y="132304"/>
                  <a:pt x="58233" y="133075"/>
                </a:cubicBezTo>
                <a:close/>
                <a:moveTo>
                  <a:pt x="47818" y="131568"/>
                </a:moveTo>
                <a:cubicBezTo>
                  <a:pt x="47584" y="132238"/>
                  <a:pt x="48254" y="133008"/>
                  <a:pt x="49258" y="133209"/>
                </a:cubicBezTo>
                <a:cubicBezTo>
                  <a:pt x="50129" y="133543"/>
                  <a:pt x="51134" y="133209"/>
                  <a:pt x="51335" y="132539"/>
                </a:cubicBezTo>
                <a:cubicBezTo>
                  <a:pt x="51535" y="131869"/>
                  <a:pt x="50899" y="131099"/>
                  <a:pt x="49895" y="130798"/>
                </a:cubicBezTo>
                <a:cubicBezTo>
                  <a:pt x="49024" y="130563"/>
                  <a:pt x="48053" y="130898"/>
                  <a:pt x="47818" y="131568"/>
                </a:cubicBezTo>
                <a:close/>
                <a:moveTo>
                  <a:pt x="62619" y="130999"/>
                </a:moveTo>
                <a:cubicBezTo>
                  <a:pt x="61648" y="131233"/>
                  <a:pt x="60979" y="131869"/>
                  <a:pt x="61079" y="132639"/>
                </a:cubicBezTo>
                <a:cubicBezTo>
                  <a:pt x="61180" y="133309"/>
                  <a:pt x="62050" y="133744"/>
                  <a:pt x="63055" y="133510"/>
                </a:cubicBezTo>
                <a:cubicBezTo>
                  <a:pt x="64026" y="133276"/>
                  <a:pt x="64696" y="132639"/>
                  <a:pt x="64595" y="131970"/>
                </a:cubicBezTo>
                <a:cubicBezTo>
                  <a:pt x="64495" y="131333"/>
                  <a:pt x="63591" y="130898"/>
                  <a:pt x="62619" y="130999"/>
                </a:cubicBezTo>
                <a:close/>
                <a:moveTo>
                  <a:pt x="84653" y="2679"/>
                </a:moveTo>
                <a:cubicBezTo>
                  <a:pt x="38208" y="2679"/>
                  <a:pt x="2679" y="37940"/>
                  <a:pt x="2679" y="84386"/>
                </a:cubicBezTo>
                <a:cubicBezTo>
                  <a:pt x="2679" y="121522"/>
                  <a:pt x="26052" y="153300"/>
                  <a:pt x="59438" y="164485"/>
                </a:cubicBezTo>
                <a:cubicBezTo>
                  <a:pt x="63724" y="165255"/>
                  <a:pt x="65231" y="162610"/>
                  <a:pt x="65231" y="160433"/>
                </a:cubicBezTo>
                <a:cubicBezTo>
                  <a:pt x="65231" y="158357"/>
                  <a:pt x="65131" y="146905"/>
                  <a:pt x="65131" y="139872"/>
                </a:cubicBezTo>
                <a:cubicBezTo>
                  <a:pt x="65131" y="139872"/>
                  <a:pt x="41690" y="144895"/>
                  <a:pt x="36768" y="129893"/>
                </a:cubicBezTo>
                <a:cubicBezTo>
                  <a:pt x="36768" y="129893"/>
                  <a:pt x="32951" y="120149"/>
                  <a:pt x="27459" y="117637"/>
                </a:cubicBezTo>
                <a:cubicBezTo>
                  <a:pt x="27459" y="117637"/>
                  <a:pt x="19790" y="112380"/>
                  <a:pt x="27995" y="112481"/>
                </a:cubicBezTo>
                <a:cubicBezTo>
                  <a:pt x="27995" y="112481"/>
                  <a:pt x="36333" y="113150"/>
                  <a:pt x="40920" y="121120"/>
                </a:cubicBezTo>
                <a:cubicBezTo>
                  <a:pt x="48254" y="134046"/>
                  <a:pt x="60543" y="130329"/>
                  <a:pt x="65332" y="128119"/>
                </a:cubicBezTo>
                <a:cubicBezTo>
                  <a:pt x="66102" y="122761"/>
                  <a:pt x="68279" y="119044"/>
                  <a:pt x="70690" y="116834"/>
                </a:cubicBezTo>
                <a:cubicBezTo>
                  <a:pt x="51971" y="114758"/>
                  <a:pt x="33084" y="112045"/>
                  <a:pt x="33084" y="79831"/>
                </a:cubicBezTo>
                <a:cubicBezTo>
                  <a:pt x="33084" y="70623"/>
                  <a:pt x="35629" y="66002"/>
                  <a:pt x="40987" y="60108"/>
                </a:cubicBezTo>
                <a:cubicBezTo>
                  <a:pt x="40117" y="57931"/>
                  <a:pt x="37270" y="48957"/>
                  <a:pt x="41858" y="37371"/>
                </a:cubicBezTo>
                <a:cubicBezTo>
                  <a:pt x="48857" y="35194"/>
                  <a:pt x="64963" y="46412"/>
                  <a:pt x="64963" y="46412"/>
                </a:cubicBezTo>
                <a:cubicBezTo>
                  <a:pt x="71661" y="44537"/>
                  <a:pt x="78860" y="43566"/>
                  <a:pt x="85993" y="43566"/>
                </a:cubicBezTo>
                <a:cubicBezTo>
                  <a:pt x="93125" y="43566"/>
                  <a:pt x="100325" y="44537"/>
                  <a:pt x="107022" y="46412"/>
                </a:cubicBezTo>
                <a:cubicBezTo>
                  <a:pt x="107022" y="46412"/>
                  <a:pt x="123129" y="35161"/>
                  <a:pt x="130128" y="37371"/>
                </a:cubicBezTo>
                <a:cubicBezTo>
                  <a:pt x="134715" y="48990"/>
                  <a:pt x="131869" y="57931"/>
                  <a:pt x="130999" y="60108"/>
                </a:cubicBezTo>
                <a:cubicBezTo>
                  <a:pt x="136356" y="66035"/>
                  <a:pt x="139638" y="70656"/>
                  <a:pt x="139638" y="79831"/>
                </a:cubicBezTo>
                <a:cubicBezTo>
                  <a:pt x="139638" y="112146"/>
                  <a:pt x="119915" y="114724"/>
                  <a:pt x="101196" y="116834"/>
                </a:cubicBezTo>
                <a:cubicBezTo>
                  <a:pt x="104276" y="119479"/>
                  <a:pt x="106888" y="124502"/>
                  <a:pt x="106888" y="132371"/>
                </a:cubicBezTo>
                <a:cubicBezTo>
                  <a:pt x="106888" y="143656"/>
                  <a:pt x="106788" y="157620"/>
                  <a:pt x="106788" y="160366"/>
                </a:cubicBezTo>
                <a:cubicBezTo>
                  <a:pt x="106788" y="162543"/>
                  <a:pt x="108328" y="165188"/>
                  <a:pt x="112581" y="164418"/>
                </a:cubicBezTo>
                <a:cubicBezTo>
                  <a:pt x="146067" y="153300"/>
                  <a:pt x="168771" y="121522"/>
                  <a:pt x="168771" y="84386"/>
                </a:cubicBezTo>
                <a:cubicBezTo>
                  <a:pt x="168771" y="37940"/>
                  <a:pt x="131099" y="2679"/>
                  <a:pt x="84653" y="2679"/>
                </a:cubicBezTo>
                <a:close/>
                <a:moveTo>
                  <a:pt x="35228" y="118173"/>
                </a:moveTo>
                <a:cubicBezTo>
                  <a:pt x="34792" y="118508"/>
                  <a:pt x="34893" y="119278"/>
                  <a:pt x="35462" y="119915"/>
                </a:cubicBezTo>
                <a:cubicBezTo>
                  <a:pt x="35998" y="120450"/>
                  <a:pt x="36768" y="120685"/>
                  <a:pt x="37203" y="120249"/>
                </a:cubicBezTo>
                <a:cubicBezTo>
                  <a:pt x="37639" y="119915"/>
                  <a:pt x="37538" y="119144"/>
                  <a:pt x="36969" y="118508"/>
                </a:cubicBezTo>
                <a:cubicBezTo>
                  <a:pt x="36433" y="117972"/>
                  <a:pt x="35663" y="117738"/>
                  <a:pt x="35228" y="118173"/>
                </a:cubicBezTo>
                <a:close/>
                <a:moveTo>
                  <a:pt x="31611" y="115461"/>
                </a:moveTo>
                <a:cubicBezTo>
                  <a:pt x="31377" y="115896"/>
                  <a:pt x="31712" y="116432"/>
                  <a:pt x="32381" y="116767"/>
                </a:cubicBezTo>
                <a:cubicBezTo>
                  <a:pt x="32917" y="117102"/>
                  <a:pt x="33587" y="117001"/>
                  <a:pt x="33821" y="116532"/>
                </a:cubicBezTo>
                <a:cubicBezTo>
                  <a:pt x="34056" y="116097"/>
                  <a:pt x="33721" y="115561"/>
                  <a:pt x="33051" y="115226"/>
                </a:cubicBezTo>
                <a:cubicBezTo>
                  <a:pt x="32381" y="115026"/>
                  <a:pt x="31845" y="115126"/>
                  <a:pt x="31611" y="115461"/>
                </a:cubicBezTo>
                <a:close/>
                <a:moveTo>
                  <a:pt x="42461" y="127382"/>
                </a:moveTo>
                <a:cubicBezTo>
                  <a:pt x="41925" y="127817"/>
                  <a:pt x="42126" y="128822"/>
                  <a:pt x="42896" y="129458"/>
                </a:cubicBezTo>
                <a:cubicBezTo>
                  <a:pt x="43666" y="130228"/>
                  <a:pt x="44637" y="130329"/>
                  <a:pt x="45073" y="129793"/>
                </a:cubicBezTo>
                <a:cubicBezTo>
                  <a:pt x="45508" y="129358"/>
                  <a:pt x="45307" y="128353"/>
                  <a:pt x="44637" y="127717"/>
                </a:cubicBezTo>
                <a:cubicBezTo>
                  <a:pt x="43901" y="126947"/>
                  <a:pt x="42896" y="126846"/>
                  <a:pt x="42461" y="127382"/>
                </a:cubicBezTo>
                <a:close/>
                <a:moveTo>
                  <a:pt x="38643" y="122460"/>
                </a:moveTo>
                <a:cubicBezTo>
                  <a:pt x="38107" y="122794"/>
                  <a:pt x="38107" y="123665"/>
                  <a:pt x="38643" y="124435"/>
                </a:cubicBezTo>
                <a:cubicBezTo>
                  <a:pt x="39179" y="125205"/>
                  <a:pt x="40083" y="125540"/>
                  <a:pt x="40518" y="125205"/>
                </a:cubicBezTo>
                <a:cubicBezTo>
                  <a:pt x="41054" y="124770"/>
                  <a:pt x="41054" y="123899"/>
                  <a:pt x="40518" y="123129"/>
                </a:cubicBezTo>
                <a:cubicBezTo>
                  <a:pt x="40050" y="122359"/>
                  <a:pt x="39179" y="122024"/>
                  <a:pt x="38643" y="12246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Text 13"/>
          <p:cNvSpPr/>
          <p:nvPr/>
        </p:nvSpPr>
        <p:spPr>
          <a:xfrm>
            <a:off x="6524625" y="4263386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Dépôt GitHub :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48400" y="4606286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6A84E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github.com/devoirbdiai2025-arch/DEVOIR_BD.git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71838" y="5562596"/>
            <a:ext cx="5648325" cy="7620"/>
          </a:xfrm>
          <a:custGeom>
            <a:avLst/>
            <a:gdLst/>
            <a:ahLst/>
            <a:cxnLst/>
            <a:rect l="l" t="t" r="r" b="b"/>
            <a:pathLst>
              <a:path w="5648325" h="7620">
                <a:moveTo>
                  <a:pt x="0" y="0"/>
                </a:moveTo>
                <a:lnTo>
                  <a:pt x="5648325" y="0"/>
                </a:lnTo>
                <a:lnTo>
                  <a:pt x="56483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6A84E">
              <a:alpha val="3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3607594" y="582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481388" y="5795014"/>
            <a:ext cx="547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IAI-Cameroun • Exposé d'Initiation aux Bases de Données • 2025-2026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846479" y="61341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28575"/>
                </a:moveTo>
                <a:cubicBezTo>
                  <a:pt x="38100" y="18068"/>
                  <a:pt x="46643" y="9525"/>
                  <a:pt x="57150" y="9525"/>
                </a:cubicBezTo>
                <a:lnTo>
                  <a:pt x="161925" y="9525"/>
                </a:lnTo>
                <a:cubicBezTo>
                  <a:pt x="172432" y="9525"/>
                  <a:pt x="180975" y="18068"/>
                  <a:pt x="180975" y="28575"/>
                </a:cubicBezTo>
                <a:lnTo>
                  <a:pt x="180975" y="100013"/>
                </a:lnTo>
                <a:lnTo>
                  <a:pt x="152400" y="100013"/>
                </a:lnTo>
                <a:lnTo>
                  <a:pt x="152400" y="95250"/>
                </a:lnTo>
                <a:cubicBezTo>
                  <a:pt x="152400" y="89981"/>
                  <a:pt x="148144" y="85725"/>
                  <a:pt x="142875" y="85725"/>
                </a:cubicBezTo>
                <a:lnTo>
                  <a:pt x="123825" y="85725"/>
                </a:lnTo>
                <a:cubicBezTo>
                  <a:pt x="118556" y="85725"/>
                  <a:pt x="114300" y="89981"/>
                  <a:pt x="114300" y="95250"/>
                </a:cubicBezTo>
                <a:lnTo>
                  <a:pt x="114300" y="100013"/>
                </a:lnTo>
                <a:lnTo>
                  <a:pt x="75873" y="100013"/>
                </a:lnTo>
                <a:cubicBezTo>
                  <a:pt x="79117" y="94417"/>
                  <a:pt x="80962" y="87898"/>
                  <a:pt x="80962" y="80962"/>
                </a:cubicBezTo>
                <a:cubicBezTo>
                  <a:pt x="80962" y="59918"/>
                  <a:pt x="63907" y="42863"/>
                  <a:pt x="42863" y="42863"/>
                </a:cubicBezTo>
                <a:cubicBezTo>
                  <a:pt x="41255" y="42863"/>
                  <a:pt x="39648" y="42952"/>
                  <a:pt x="38100" y="43160"/>
                </a:cubicBezTo>
                <a:lnTo>
                  <a:pt x="38100" y="28575"/>
                </a:lnTo>
                <a:close/>
                <a:moveTo>
                  <a:pt x="99120" y="133350"/>
                </a:moveTo>
                <a:cubicBezTo>
                  <a:pt x="97601" y="126147"/>
                  <a:pt x="94268" y="119628"/>
                  <a:pt x="89565" y="114300"/>
                </a:cubicBezTo>
                <a:lnTo>
                  <a:pt x="180975" y="114300"/>
                </a:lnTo>
                <a:cubicBezTo>
                  <a:pt x="180975" y="124807"/>
                  <a:pt x="172432" y="133350"/>
                  <a:pt x="161925" y="133350"/>
                </a:cubicBezTo>
                <a:lnTo>
                  <a:pt x="99120" y="133350"/>
                </a:lnTo>
                <a:close/>
                <a:moveTo>
                  <a:pt x="19050" y="80962"/>
                </a:moveTo>
                <a:cubicBezTo>
                  <a:pt x="19050" y="67820"/>
                  <a:pt x="29720" y="57150"/>
                  <a:pt x="42862" y="57150"/>
                </a:cubicBezTo>
                <a:cubicBezTo>
                  <a:pt x="56005" y="57150"/>
                  <a:pt x="66675" y="67820"/>
                  <a:pt x="66675" y="80962"/>
                </a:cubicBezTo>
                <a:cubicBezTo>
                  <a:pt x="66675" y="94105"/>
                  <a:pt x="56005" y="104775"/>
                  <a:pt x="42863" y="104775"/>
                </a:cubicBezTo>
                <a:cubicBezTo>
                  <a:pt x="29720" y="104775"/>
                  <a:pt x="19050" y="94105"/>
                  <a:pt x="19050" y="80962"/>
                </a:cubicBezTo>
                <a:close/>
                <a:moveTo>
                  <a:pt x="0" y="142875"/>
                </a:moveTo>
                <a:cubicBezTo>
                  <a:pt x="0" y="127099"/>
                  <a:pt x="12799" y="114300"/>
                  <a:pt x="28575" y="114300"/>
                </a:cubicBezTo>
                <a:lnTo>
                  <a:pt x="57150" y="114300"/>
                </a:lnTo>
                <a:cubicBezTo>
                  <a:pt x="72926" y="114300"/>
                  <a:pt x="85725" y="127099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lose/>
              </a:path>
            </a:pathLst>
          </a:custGeom>
          <a:solidFill>
            <a:srgbClr val="F8F9FA">
              <a:alpha val="7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481388" y="6099814"/>
            <a:ext cx="547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Examinateur : Monsieur Membou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2799</Words>
  <Application>Microsoft Office PowerPoint</Application>
  <PresentationFormat>Grand écran</PresentationFormat>
  <Paragraphs>552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Calibri</vt:lpstr>
      <vt:lpstr>Oranienbaum</vt:lpstr>
      <vt:lpstr>Jersey 15</vt:lpstr>
      <vt:lpstr>Liter</vt:lpstr>
      <vt:lpstr>Arial</vt:lpstr>
      <vt:lpstr>微软雅黑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Base de Données Cuisine Professionnelle</dc:title>
  <dc:subject>Conception Base de Données Cuisine Professionnelle</dc:subject>
  <dc:creator>Kimi</dc:creator>
  <cp:lastModifiedBy>PC</cp:lastModifiedBy>
  <cp:revision>2</cp:revision>
  <dcterms:created xsi:type="dcterms:W3CDTF">2026-04-17T22:48:36Z</dcterms:created>
  <dcterms:modified xsi:type="dcterms:W3CDTF">2026-04-17T23:00:27Z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{"Label":"Conception Base de Données Cuisine Professionnelle","ContentProducer":"001191110108MACG2KBH8F10000","ProduceID":"19d9d9c0-c002-8d11-8000-00002d416c4f","ReservedCode1":"","ContentPropagator":"001191110108MACG2KBH8F20000","PropagateID":"19d9d9c0-c</vt:lpwstr>
  </property>
</Properties>
</file>